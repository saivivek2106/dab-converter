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sldIdLst>
    <p:sldId id="272" r:id="rId2"/>
    <p:sldId id="277" r:id="rId3"/>
    <p:sldId id="259" r:id="rId4"/>
    <p:sldId id="285" r:id="rId5"/>
    <p:sldId id="261" r:id="rId6"/>
    <p:sldId id="262" r:id="rId7"/>
    <p:sldId id="280" r:id="rId8"/>
    <p:sldId id="263" r:id="rId9"/>
    <p:sldId id="266" r:id="rId10"/>
    <p:sldId id="269" r:id="rId11"/>
    <p:sldId id="282" r:id="rId12"/>
    <p:sldId id="271" r:id="rId13"/>
    <p:sldId id="283" r:id="rId14"/>
    <p:sldId id="274" r:id="rId15"/>
    <p:sldId id="27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E0EA4"/>
    <a:srgbClr val="402E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56FA17-B852-4A89-A7CB-A87BC4C89058}" type="datetimeFigureOut">
              <a:rPr lang="en-IN" smtClean="0"/>
              <a:t>14-10-2025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FF58A3-CDC0-4B02-9685-C917F97DD90B}" type="slidenum">
              <a:rPr lang="en-IN" smtClean="0"/>
              <a:t>‹#›</a:t>
            </a:fld>
            <a:endParaRPr lang="en-IN"/>
          </a:p>
        </p:txBody>
      </p:sp>
    </p:spTree>
    <p:extLst>
      <p:ext uri="{BB962C8B-B14F-4D97-AF65-F5344CB8AC3E}">
        <p14:creationId xmlns:p14="http://schemas.microsoft.com/office/powerpoint/2010/main" val="3143563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7FF58A3-CDC0-4B02-9685-C917F97DD90B}" type="slidenum">
              <a:rPr lang="en-IN" smtClean="0"/>
              <a:t>4</a:t>
            </a:fld>
            <a:endParaRPr lang="en-IN"/>
          </a:p>
        </p:txBody>
      </p:sp>
    </p:spTree>
    <p:extLst>
      <p:ext uri="{BB962C8B-B14F-4D97-AF65-F5344CB8AC3E}">
        <p14:creationId xmlns:p14="http://schemas.microsoft.com/office/powerpoint/2010/main" val="1577894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B086ACC-596C-4F69-950E-407DDC383760}" type="slidenum">
              <a:rPr lang="en-IN" smtClean="0"/>
              <a:t>8</a:t>
            </a:fld>
            <a:endParaRPr lang="en-IN"/>
          </a:p>
        </p:txBody>
      </p:sp>
    </p:spTree>
    <p:extLst>
      <p:ext uri="{BB962C8B-B14F-4D97-AF65-F5344CB8AC3E}">
        <p14:creationId xmlns:p14="http://schemas.microsoft.com/office/powerpoint/2010/main" val="161982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4CBD2A5-3D47-4AF0-968F-9D504FC36F0D}" type="datetime1">
              <a:rPr lang="en-IN" smtClean="0"/>
              <a:t>14-10-2025</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9273601" y="6553516"/>
            <a:ext cx="2743200" cy="365125"/>
          </a:xfrm>
          <a:prstGeom prst="rect">
            <a:avLst/>
          </a:prstGeom>
        </p:spPr>
        <p:txBody>
          <a:bodyPr/>
          <a:lstStyle/>
          <a:p>
            <a:fld id="{2C8E578E-6DBE-49DC-A640-F36F11261DCA}" type="slidenum">
              <a:rPr lang="en-IN" smtClean="0"/>
              <a:t>‹#›</a:t>
            </a:fld>
            <a:endParaRPr lang="en-IN"/>
          </a:p>
        </p:txBody>
      </p:sp>
    </p:spTree>
    <p:extLst>
      <p:ext uri="{BB962C8B-B14F-4D97-AF65-F5344CB8AC3E}">
        <p14:creationId xmlns:p14="http://schemas.microsoft.com/office/powerpoint/2010/main" val="3742554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10B5C2A-F2A6-49B1-8A78-0FB1AD43DA6F}" type="datetime1">
              <a:rPr lang="en-IN" smtClean="0"/>
              <a:t>14-10-2025</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9273601" y="6553516"/>
            <a:ext cx="2743200" cy="365125"/>
          </a:xfrm>
          <a:prstGeom prst="rect">
            <a:avLst/>
          </a:prstGeom>
        </p:spPr>
        <p:txBody>
          <a:bodyPr/>
          <a:lstStyle/>
          <a:p>
            <a:fld id="{2C8E578E-6DBE-49DC-A640-F36F11261DCA}" type="slidenum">
              <a:rPr lang="en-IN" smtClean="0"/>
              <a:t>‹#›</a:t>
            </a:fld>
            <a:endParaRPr lang="en-IN"/>
          </a:p>
        </p:txBody>
      </p:sp>
    </p:spTree>
    <p:extLst>
      <p:ext uri="{BB962C8B-B14F-4D97-AF65-F5344CB8AC3E}">
        <p14:creationId xmlns:p14="http://schemas.microsoft.com/office/powerpoint/2010/main" val="1610619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077D9EDE-5821-42E5-98D0-C7E79F5B19D7}" type="datetime1">
              <a:rPr lang="en-IN" smtClean="0"/>
              <a:t>14-10-2025</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9273601" y="6553516"/>
            <a:ext cx="2743200" cy="365125"/>
          </a:xfrm>
          <a:prstGeom prst="rect">
            <a:avLst/>
          </a:prstGeom>
        </p:spPr>
        <p:txBody>
          <a:bodyPr/>
          <a:lstStyle/>
          <a:p>
            <a:fld id="{2C8E578E-6DBE-49DC-A640-F36F11261DCA}" type="slidenum">
              <a:rPr lang="en-IN" smtClean="0"/>
              <a:t>‹#›</a:t>
            </a:fld>
            <a:endParaRPr lang="en-IN"/>
          </a:p>
        </p:txBody>
      </p:sp>
    </p:spTree>
    <p:extLst>
      <p:ext uri="{BB962C8B-B14F-4D97-AF65-F5344CB8AC3E}">
        <p14:creationId xmlns:p14="http://schemas.microsoft.com/office/powerpoint/2010/main" val="2318176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230A8D4-B119-4325-A480-4C0185020B97}" type="datetime1">
              <a:rPr lang="en-IN" smtClean="0"/>
              <a:t>14-10-2025</a:t>
            </a:fld>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9273601" y="6553516"/>
            <a:ext cx="2743200" cy="365125"/>
          </a:xfrm>
          <a:prstGeom prst="rect">
            <a:avLst/>
          </a:prstGeom>
        </p:spPr>
        <p:txBody>
          <a:bodyPr/>
          <a:lstStyle/>
          <a:p>
            <a:fld id="{2C8E578E-6DBE-49DC-A640-F36F11261DCA}" type="slidenum">
              <a:rPr lang="en-IN" smtClean="0"/>
              <a:t>‹#›</a:t>
            </a:fld>
            <a:endParaRPr lang="en-IN"/>
          </a:p>
        </p:txBody>
      </p:sp>
    </p:spTree>
    <p:extLst>
      <p:ext uri="{BB962C8B-B14F-4D97-AF65-F5344CB8AC3E}">
        <p14:creationId xmlns:p14="http://schemas.microsoft.com/office/powerpoint/2010/main" val="1990244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0E20648-0DC9-4FA3-8E80-C918732F2597}" type="datetime1">
              <a:rPr lang="en-IN" smtClean="0"/>
              <a:t>14-10-2025</a:t>
            </a:fld>
            <a:endParaRPr lang="en-IN"/>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9273601" y="6553516"/>
            <a:ext cx="2743200" cy="365125"/>
          </a:xfrm>
          <a:prstGeom prst="rect">
            <a:avLst/>
          </a:prstGeom>
        </p:spPr>
        <p:txBody>
          <a:bodyPr/>
          <a:lstStyle/>
          <a:p>
            <a:fld id="{2C8E578E-6DBE-49DC-A640-F36F11261DCA}" type="slidenum">
              <a:rPr lang="en-IN" smtClean="0"/>
              <a:t>‹#›</a:t>
            </a:fld>
            <a:endParaRPr lang="en-IN"/>
          </a:p>
        </p:txBody>
      </p:sp>
    </p:spTree>
    <p:extLst>
      <p:ext uri="{BB962C8B-B14F-4D97-AF65-F5344CB8AC3E}">
        <p14:creationId xmlns:p14="http://schemas.microsoft.com/office/powerpoint/2010/main" val="1974365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0DBBA5BC-5218-4EE2-B950-25BCE14BA4D1}" type="datetime1">
              <a:rPr lang="en-IN" smtClean="0"/>
              <a:t>14-10-2025</a:t>
            </a:fld>
            <a:endParaRPr lang="en-IN"/>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9273601" y="6553516"/>
            <a:ext cx="2743200" cy="365125"/>
          </a:xfrm>
          <a:prstGeom prst="rect">
            <a:avLst/>
          </a:prstGeom>
        </p:spPr>
        <p:txBody>
          <a:bodyPr/>
          <a:lstStyle/>
          <a:p>
            <a:fld id="{2C8E578E-6DBE-49DC-A640-F36F11261DCA}" type="slidenum">
              <a:rPr lang="en-IN" smtClean="0"/>
              <a:t>‹#›</a:t>
            </a:fld>
            <a:endParaRPr lang="en-IN"/>
          </a:p>
        </p:txBody>
      </p:sp>
    </p:spTree>
    <p:extLst>
      <p:ext uri="{BB962C8B-B14F-4D97-AF65-F5344CB8AC3E}">
        <p14:creationId xmlns:p14="http://schemas.microsoft.com/office/powerpoint/2010/main" val="2074633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107AE57-DF21-458D-B62B-B3FD9F95ED2A}" type="datetime1">
              <a:rPr lang="en-IN" smtClean="0"/>
              <a:t>14-10-2025</a:t>
            </a:fld>
            <a:endParaRPr lang="en-IN"/>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9273601" y="6553516"/>
            <a:ext cx="2743200" cy="365125"/>
          </a:xfrm>
          <a:prstGeom prst="rect">
            <a:avLst/>
          </a:prstGeom>
        </p:spPr>
        <p:txBody>
          <a:bodyPr/>
          <a:lstStyle/>
          <a:p>
            <a:fld id="{2C8E578E-6DBE-49DC-A640-F36F11261DCA}" type="slidenum">
              <a:rPr lang="en-IN" smtClean="0"/>
              <a:t>‹#›</a:t>
            </a:fld>
            <a:endParaRPr lang="en-IN"/>
          </a:p>
        </p:txBody>
      </p:sp>
    </p:spTree>
    <p:extLst>
      <p:ext uri="{BB962C8B-B14F-4D97-AF65-F5344CB8AC3E}">
        <p14:creationId xmlns:p14="http://schemas.microsoft.com/office/powerpoint/2010/main" val="3520298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6D23B484-4147-4A38-91B2-C1CED0B6F869}" type="datetime1">
              <a:rPr lang="en-IN" smtClean="0"/>
              <a:t>14-10-2025</a:t>
            </a:fld>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9273601" y="6553516"/>
            <a:ext cx="2743200" cy="365125"/>
          </a:xfrm>
          <a:prstGeom prst="rect">
            <a:avLst/>
          </a:prstGeom>
        </p:spPr>
        <p:txBody>
          <a:bodyPr/>
          <a:lstStyle/>
          <a:p>
            <a:fld id="{2C8E578E-6DBE-49DC-A640-F36F11261DCA}" type="slidenum">
              <a:rPr lang="en-IN" smtClean="0"/>
              <a:t>‹#›</a:t>
            </a:fld>
            <a:endParaRPr lang="en-IN"/>
          </a:p>
        </p:txBody>
      </p:sp>
    </p:spTree>
    <p:extLst>
      <p:ext uri="{BB962C8B-B14F-4D97-AF65-F5344CB8AC3E}">
        <p14:creationId xmlns:p14="http://schemas.microsoft.com/office/powerpoint/2010/main" val="2103995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E2919B7-95C7-4F0E-82E2-EA376201BE07}" type="datetime1">
              <a:rPr lang="en-IN" smtClean="0"/>
              <a:t>14-10-2025</a:t>
            </a:fld>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9273601" y="6553516"/>
            <a:ext cx="2743200" cy="365125"/>
          </a:xfrm>
          <a:prstGeom prst="rect">
            <a:avLst/>
          </a:prstGeom>
        </p:spPr>
        <p:txBody>
          <a:bodyPr/>
          <a:lstStyle/>
          <a:p>
            <a:fld id="{2C8E578E-6DBE-49DC-A640-F36F11261DCA}" type="slidenum">
              <a:rPr lang="en-IN" smtClean="0"/>
              <a:t>‹#›</a:t>
            </a:fld>
            <a:endParaRPr lang="en-IN"/>
          </a:p>
        </p:txBody>
      </p:sp>
    </p:spTree>
    <p:extLst>
      <p:ext uri="{BB962C8B-B14F-4D97-AF65-F5344CB8AC3E}">
        <p14:creationId xmlns:p14="http://schemas.microsoft.com/office/powerpoint/2010/main" val="106827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8A70AE9-515E-4405-ABAD-49B958467DCD}" type="datetime1">
              <a:rPr lang="en-IN" smtClean="0"/>
              <a:t>14-10-2025</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9273601" y="6553516"/>
            <a:ext cx="2743200" cy="365125"/>
          </a:xfrm>
          <a:prstGeom prst="rect">
            <a:avLst/>
          </a:prstGeom>
        </p:spPr>
        <p:txBody>
          <a:bodyPr/>
          <a:lstStyle/>
          <a:p>
            <a:fld id="{2C8E578E-6DBE-49DC-A640-F36F11261DCA}" type="slidenum">
              <a:rPr lang="en-IN" smtClean="0"/>
              <a:t>‹#›</a:t>
            </a:fld>
            <a:endParaRPr lang="en-IN"/>
          </a:p>
        </p:txBody>
      </p:sp>
    </p:spTree>
    <p:extLst>
      <p:ext uri="{BB962C8B-B14F-4D97-AF65-F5344CB8AC3E}">
        <p14:creationId xmlns:p14="http://schemas.microsoft.com/office/powerpoint/2010/main" val="1416149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4A12C1D-426A-4424-9FCD-DD17F84B4398}" type="datetime1">
              <a:rPr lang="en-IN" smtClean="0"/>
              <a:t>14-10-2025</a:t>
            </a:fld>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9273601" y="6553516"/>
            <a:ext cx="2743200" cy="365125"/>
          </a:xfrm>
          <a:prstGeom prst="rect">
            <a:avLst/>
          </a:prstGeom>
        </p:spPr>
        <p:txBody>
          <a:bodyPr/>
          <a:lstStyle/>
          <a:p>
            <a:fld id="{2C8E578E-6DBE-49DC-A640-F36F11261DCA}" type="slidenum">
              <a:rPr lang="en-IN" smtClean="0"/>
              <a:t>‹#›</a:t>
            </a:fld>
            <a:endParaRPr lang="en-IN"/>
          </a:p>
        </p:txBody>
      </p:sp>
    </p:spTree>
    <p:extLst>
      <p:ext uri="{BB962C8B-B14F-4D97-AF65-F5344CB8AC3E}">
        <p14:creationId xmlns:p14="http://schemas.microsoft.com/office/powerpoint/2010/main" val="3056289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grpSp>
        <p:nvGrpSpPr>
          <p:cNvPr id="4" name="Group 3">
            <a:extLst>
              <a:ext uri="{FF2B5EF4-FFF2-40B4-BE49-F238E27FC236}">
                <a16:creationId xmlns:a16="http://schemas.microsoft.com/office/drawing/2014/main" id="{CF1A9F14-FA5C-63D6-5CCD-E528BEBD234B}"/>
              </a:ext>
            </a:extLst>
          </p:cNvPr>
          <p:cNvGrpSpPr/>
          <p:nvPr userDrawn="1"/>
        </p:nvGrpSpPr>
        <p:grpSpPr>
          <a:xfrm>
            <a:off x="1" y="6614160"/>
            <a:ext cx="12192000" cy="243840"/>
            <a:chOff x="1" y="6614160"/>
            <a:chExt cx="12192000" cy="243840"/>
          </a:xfrm>
        </p:grpSpPr>
        <p:grpSp>
          <p:nvGrpSpPr>
            <p:cNvPr id="8" name="Group 2"/>
            <p:cNvGrpSpPr/>
            <p:nvPr userDrawn="1"/>
          </p:nvGrpSpPr>
          <p:grpSpPr>
            <a:xfrm>
              <a:off x="1" y="6647251"/>
              <a:ext cx="4060464" cy="210749"/>
              <a:chOff x="0" y="0"/>
              <a:chExt cx="4819101" cy="363974"/>
            </a:xfrm>
            <a:solidFill>
              <a:schemeClr val="bg1">
                <a:lumMod val="50000"/>
              </a:schemeClr>
            </a:solidFill>
          </p:grpSpPr>
          <p:sp>
            <p:nvSpPr>
              <p:cNvPr id="15" name="Freeform 3"/>
              <p:cNvSpPr/>
              <p:nvPr/>
            </p:nvSpPr>
            <p:spPr>
              <a:xfrm>
                <a:off x="0" y="0"/>
                <a:ext cx="4819101" cy="363974"/>
              </a:xfrm>
              <a:custGeom>
                <a:avLst/>
                <a:gdLst/>
                <a:ahLst/>
                <a:cxnLst/>
                <a:rect l="l" t="t" r="r" b="b"/>
                <a:pathLst>
                  <a:path w="4819101" h="363974">
                    <a:moveTo>
                      <a:pt x="0" y="0"/>
                    </a:moveTo>
                    <a:lnTo>
                      <a:pt x="4819101" y="0"/>
                    </a:lnTo>
                    <a:lnTo>
                      <a:pt x="4819101" y="363974"/>
                    </a:lnTo>
                    <a:lnTo>
                      <a:pt x="0" y="363974"/>
                    </a:lnTo>
                    <a:close/>
                  </a:path>
                </a:pathLst>
              </a:custGeom>
              <a:grpFill/>
            </p:spPr>
            <p:txBody>
              <a:bodyPr/>
              <a:lstStyle/>
              <a:p>
                <a:endParaRPr lang="en-IN"/>
              </a:p>
            </p:txBody>
          </p:sp>
          <p:sp>
            <p:nvSpPr>
              <p:cNvPr id="16" name="TextBox 4"/>
              <p:cNvSpPr txBox="1"/>
              <p:nvPr/>
            </p:nvSpPr>
            <p:spPr>
              <a:xfrm>
                <a:off x="0" y="-57150"/>
                <a:ext cx="4819101" cy="421124"/>
              </a:xfrm>
              <a:prstGeom prst="rect">
                <a:avLst/>
              </a:prstGeom>
              <a:solidFill>
                <a:schemeClr val="tx1"/>
              </a:solidFill>
            </p:spPr>
            <p:txBody>
              <a:bodyPr lIns="50800" tIns="50800" rIns="50800" bIns="50800" rtlCol="0" anchor="ctr"/>
              <a:lstStyle/>
              <a:p>
                <a:pPr algn="r">
                  <a:lnSpc>
                    <a:spcPts val="1994"/>
                  </a:lnSpc>
                </a:pPr>
                <a:endParaRPr sz="381"/>
              </a:p>
            </p:txBody>
          </p:sp>
        </p:grpSp>
        <p:grpSp>
          <p:nvGrpSpPr>
            <p:cNvPr id="9" name="Group 2"/>
            <p:cNvGrpSpPr/>
            <p:nvPr userDrawn="1"/>
          </p:nvGrpSpPr>
          <p:grpSpPr>
            <a:xfrm>
              <a:off x="8131537" y="6647251"/>
              <a:ext cx="4060464" cy="210749"/>
              <a:chOff x="0" y="0"/>
              <a:chExt cx="4819101" cy="363974"/>
            </a:xfrm>
            <a:solidFill>
              <a:schemeClr val="bg1">
                <a:lumMod val="85000"/>
              </a:schemeClr>
            </a:solidFill>
          </p:grpSpPr>
          <p:sp>
            <p:nvSpPr>
              <p:cNvPr id="13" name="Freeform 3"/>
              <p:cNvSpPr/>
              <p:nvPr/>
            </p:nvSpPr>
            <p:spPr>
              <a:xfrm>
                <a:off x="0" y="0"/>
                <a:ext cx="4819101" cy="363974"/>
              </a:xfrm>
              <a:custGeom>
                <a:avLst/>
                <a:gdLst/>
                <a:ahLst/>
                <a:cxnLst/>
                <a:rect l="l" t="t" r="r" b="b"/>
                <a:pathLst>
                  <a:path w="4819101" h="363974">
                    <a:moveTo>
                      <a:pt x="0" y="0"/>
                    </a:moveTo>
                    <a:lnTo>
                      <a:pt x="4819101" y="0"/>
                    </a:lnTo>
                    <a:lnTo>
                      <a:pt x="4819101" y="363974"/>
                    </a:lnTo>
                    <a:lnTo>
                      <a:pt x="0" y="363974"/>
                    </a:lnTo>
                    <a:close/>
                  </a:path>
                </a:pathLst>
              </a:custGeom>
              <a:grpFill/>
            </p:spPr>
            <p:txBody>
              <a:bodyPr/>
              <a:lstStyle/>
              <a:p>
                <a:endParaRPr lang="en-IN"/>
              </a:p>
            </p:txBody>
          </p:sp>
          <p:sp>
            <p:nvSpPr>
              <p:cNvPr id="14" name="TextBox 4"/>
              <p:cNvSpPr txBox="1"/>
              <p:nvPr/>
            </p:nvSpPr>
            <p:spPr>
              <a:xfrm>
                <a:off x="0" y="-57150"/>
                <a:ext cx="4819101" cy="421124"/>
              </a:xfrm>
              <a:prstGeom prst="rect">
                <a:avLst/>
              </a:prstGeom>
              <a:solidFill>
                <a:srgbClr val="0000FF"/>
              </a:solidFill>
            </p:spPr>
            <p:txBody>
              <a:bodyPr lIns="50800" tIns="50800" rIns="50800" bIns="50800" rtlCol="0" anchor="ctr"/>
              <a:lstStyle/>
              <a:p>
                <a:pPr algn="r">
                  <a:lnSpc>
                    <a:spcPts val="1994"/>
                  </a:lnSpc>
                </a:pPr>
                <a:endParaRPr sz="381">
                  <a:solidFill>
                    <a:schemeClr val="bg1"/>
                  </a:solidFill>
                </a:endParaRPr>
              </a:p>
            </p:txBody>
          </p:sp>
        </p:grpSp>
        <p:grpSp>
          <p:nvGrpSpPr>
            <p:cNvPr id="10" name="Group 2"/>
            <p:cNvGrpSpPr/>
            <p:nvPr userDrawn="1"/>
          </p:nvGrpSpPr>
          <p:grpSpPr>
            <a:xfrm>
              <a:off x="4049857" y="6614160"/>
              <a:ext cx="4081680" cy="243840"/>
              <a:chOff x="0" y="-57150"/>
              <a:chExt cx="4819101" cy="421124"/>
            </a:xfrm>
            <a:solidFill>
              <a:schemeClr val="bg1">
                <a:lumMod val="65000"/>
              </a:schemeClr>
            </a:solidFill>
          </p:grpSpPr>
          <p:sp>
            <p:nvSpPr>
              <p:cNvPr id="11" name="Freeform 3"/>
              <p:cNvSpPr/>
              <p:nvPr/>
            </p:nvSpPr>
            <p:spPr>
              <a:xfrm>
                <a:off x="0" y="0"/>
                <a:ext cx="4819101" cy="363974"/>
              </a:xfrm>
              <a:custGeom>
                <a:avLst/>
                <a:gdLst/>
                <a:ahLst/>
                <a:cxnLst/>
                <a:rect l="l" t="t" r="r" b="b"/>
                <a:pathLst>
                  <a:path w="4819101" h="363974">
                    <a:moveTo>
                      <a:pt x="0" y="0"/>
                    </a:moveTo>
                    <a:lnTo>
                      <a:pt x="4819101" y="0"/>
                    </a:lnTo>
                    <a:lnTo>
                      <a:pt x="4819101" y="363974"/>
                    </a:lnTo>
                    <a:lnTo>
                      <a:pt x="0" y="363974"/>
                    </a:lnTo>
                    <a:close/>
                  </a:path>
                </a:pathLst>
              </a:custGeom>
              <a:grpFill/>
            </p:spPr>
            <p:txBody>
              <a:bodyPr/>
              <a:lstStyle/>
              <a:p>
                <a:endParaRPr lang="en-IN"/>
              </a:p>
            </p:txBody>
          </p:sp>
          <p:sp>
            <p:nvSpPr>
              <p:cNvPr id="12" name="TextBox 4"/>
              <p:cNvSpPr txBox="1"/>
              <p:nvPr/>
            </p:nvSpPr>
            <p:spPr>
              <a:xfrm>
                <a:off x="0" y="-57150"/>
                <a:ext cx="4819101" cy="421124"/>
              </a:xfrm>
              <a:prstGeom prst="rect">
                <a:avLst/>
              </a:prstGeom>
              <a:solidFill>
                <a:srgbClr val="0E0EA4"/>
              </a:solidFill>
            </p:spPr>
            <p:txBody>
              <a:bodyPr lIns="50800" tIns="50800" rIns="50800" bIns="50800" rtlCol="0" anchor="ctr"/>
              <a:lstStyle/>
              <a:p>
                <a:pPr algn="r">
                  <a:lnSpc>
                    <a:spcPts val="1994"/>
                  </a:lnSpc>
                </a:pPr>
                <a:endParaRPr sz="381" dirty="0"/>
              </a:p>
            </p:txBody>
          </p:sp>
        </p:grpSp>
      </p:grpSp>
      <p:grpSp>
        <p:nvGrpSpPr>
          <p:cNvPr id="17" name="Group 2"/>
          <p:cNvGrpSpPr/>
          <p:nvPr userDrawn="1"/>
        </p:nvGrpSpPr>
        <p:grpSpPr>
          <a:xfrm>
            <a:off x="-10608" y="0"/>
            <a:ext cx="12202609" cy="503127"/>
            <a:chOff x="0" y="0"/>
            <a:chExt cx="4819101" cy="363974"/>
          </a:xfrm>
          <a:solidFill>
            <a:srgbClr val="402E84"/>
          </a:solidFill>
        </p:grpSpPr>
        <p:sp>
          <p:nvSpPr>
            <p:cNvPr id="18" name="Freeform 3"/>
            <p:cNvSpPr/>
            <p:nvPr/>
          </p:nvSpPr>
          <p:spPr>
            <a:xfrm>
              <a:off x="0" y="0"/>
              <a:ext cx="4819101" cy="363974"/>
            </a:xfrm>
            <a:custGeom>
              <a:avLst/>
              <a:gdLst/>
              <a:ahLst/>
              <a:cxnLst/>
              <a:rect l="l" t="t" r="r" b="b"/>
              <a:pathLst>
                <a:path w="4819101" h="363974">
                  <a:moveTo>
                    <a:pt x="0" y="0"/>
                  </a:moveTo>
                  <a:lnTo>
                    <a:pt x="4819101" y="0"/>
                  </a:lnTo>
                  <a:lnTo>
                    <a:pt x="4819101" y="363974"/>
                  </a:lnTo>
                  <a:lnTo>
                    <a:pt x="0" y="363974"/>
                  </a:lnTo>
                  <a:close/>
                </a:path>
              </a:pathLst>
            </a:custGeom>
            <a:grpFill/>
          </p:spPr>
          <p:txBody>
            <a:bodyPr/>
            <a:lstStyle/>
            <a:p>
              <a:endParaRPr lang="en-IN"/>
            </a:p>
          </p:txBody>
        </p:sp>
        <p:sp>
          <p:nvSpPr>
            <p:cNvPr id="19" name="TextBox 4"/>
            <p:cNvSpPr txBox="1"/>
            <p:nvPr/>
          </p:nvSpPr>
          <p:spPr>
            <a:xfrm>
              <a:off x="0" y="-57150"/>
              <a:ext cx="4819101" cy="421124"/>
            </a:xfrm>
            <a:prstGeom prst="rect">
              <a:avLst/>
            </a:prstGeom>
            <a:grpFill/>
          </p:spPr>
          <p:txBody>
            <a:bodyPr lIns="50800" tIns="50800" rIns="50800" bIns="50800" rtlCol="0" anchor="ctr"/>
            <a:lstStyle/>
            <a:p>
              <a:pPr algn="ctr">
                <a:lnSpc>
                  <a:spcPts val="1994"/>
                </a:lnSpc>
              </a:pPr>
              <a:endParaRPr sz="381"/>
            </a:p>
          </p:txBody>
        </p:sp>
      </p:grpSp>
      <p:sp>
        <p:nvSpPr>
          <p:cNvPr id="20" name="TextBox 19"/>
          <p:cNvSpPr txBox="1"/>
          <p:nvPr userDrawn="1"/>
        </p:nvSpPr>
        <p:spPr>
          <a:xfrm>
            <a:off x="9567567" y="6574495"/>
            <a:ext cx="1483360" cy="323165"/>
          </a:xfrm>
          <a:prstGeom prst="rect">
            <a:avLst/>
          </a:prstGeom>
          <a:noFill/>
        </p:spPr>
        <p:txBody>
          <a:bodyPr wrap="square" rtlCol="0">
            <a:spAutoFit/>
          </a:bodyPr>
          <a:lstStyle/>
          <a:p>
            <a:r>
              <a:rPr lang="en-IN" sz="1500" dirty="0">
                <a:solidFill>
                  <a:schemeClr val="bg1"/>
                </a:solidFill>
                <a:latin typeface="Times New Roman" panose="02020603050405020304" pitchFamily="18" charset="0"/>
                <a:cs typeface="Times New Roman" panose="02020603050405020304" pitchFamily="18" charset="0"/>
              </a:rPr>
              <a:t>Oct 10, 2025</a:t>
            </a:r>
          </a:p>
        </p:txBody>
      </p:sp>
      <p:sp>
        <p:nvSpPr>
          <p:cNvPr id="21" name="TextBox 20"/>
          <p:cNvSpPr txBox="1"/>
          <p:nvPr userDrawn="1"/>
        </p:nvSpPr>
        <p:spPr>
          <a:xfrm>
            <a:off x="5384735" y="6567885"/>
            <a:ext cx="1422530" cy="324908"/>
          </a:xfrm>
          <a:prstGeom prst="rect">
            <a:avLst/>
          </a:prstGeom>
          <a:noFill/>
        </p:spPr>
        <p:txBody>
          <a:bodyPr wrap="square" rtlCol="0">
            <a:spAutoFit/>
          </a:bodyPr>
          <a:lstStyle/>
          <a:p>
            <a:r>
              <a:rPr lang="en-IN" sz="1500" dirty="0">
                <a:solidFill>
                  <a:schemeClr val="bg1"/>
                </a:solidFill>
                <a:latin typeface="Times New Roman" panose="02020603050405020304" pitchFamily="18" charset="0"/>
                <a:cs typeface="Times New Roman" panose="02020603050405020304" pitchFamily="18" charset="0"/>
              </a:rPr>
              <a:t>Progress</a:t>
            </a:r>
            <a:r>
              <a:rPr lang="en-IN" sz="1500" baseline="0" dirty="0">
                <a:solidFill>
                  <a:schemeClr val="bg1"/>
                </a:solidFill>
                <a:latin typeface="Times New Roman" panose="02020603050405020304" pitchFamily="18" charset="0"/>
                <a:cs typeface="Times New Roman" panose="02020603050405020304" pitchFamily="18" charset="0"/>
              </a:rPr>
              <a:t> Report</a:t>
            </a:r>
            <a:endParaRPr lang="en-IN" sz="1500" dirty="0">
              <a:solidFill>
                <a:schemeClr val="bg1"/>
              </a:solidFill>
              <a:latin typeface="Times New Roman" panose="02020603050405020304" pitchFamily="18" charset="0"/>
              <a:cs typeface="Times New Roman" panose="02020603050405020304" pitchFamily="18" charset="0"/>
            </a:endParaRPr>
          </a:p>
        </p:txBody>
      </p:sp>
      <p:sp>
        <p:nvSpPr>
          <p:cNvPr id="22" name="TextBox 21"/>
          <p:cNvSpPr txBox="1"/>
          <p:nvPr userDrawn="1"/>
        </p:nvSpPr>
        <p:spPr>
          <a:xfrm>
            <a:off x="733426" y="6569628"/>
            <a:ext cx="2505074" cy="323165"/>
          </a:xfrm>
          <a:prstGeom prst="rect">
            <a:avLst/>
          </a:prstGeom>
          <a:noFill/>
        </p:spPr>
        <p:txBody>
          <a:bodyPr wrap="square" rtlCol="0">
            <a:spAutoFit/>
          </a:bodyPr>
          <a:lstStyle/>
          <a:p>
            <a:r>
              <a:rPr lang="en-IN" sz="1500" dirty="0">
                <a:solidFill>
                  <a:schemeClr val="bg1"/>
                </a:solidFill>
                <a:latin typeface="Times New Roman" panose="02020603050405020304" pitchFamily="18" charset="0"/>
                <a:cs typeface="Times New Roman" panose="02020603050405020304" pitchFamily="18" charset="0"/>
              </a:rPr>
              <a:t> M. Saivivek</a:t>
            </a:r>
          </a:p>
        </p:txBody>
      </p:sp>
    </p:spTree>
    <p:extLst>
      <p:ext uri="{BB962C8B-B14F-4D97-AF65-F5344CB8AC3E}">
        <p14:creationId xmlns:p14="http://schemas.microsoft.com/office/powerpoint/2010/main" val="1983519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CA300-1F73-7848-3120-652CAC42E9F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C92A3616-E476-296C-EDA7-2513322A0F7D}"/>
              </a:ext>
            </a:extLst>
          </p:cNvPr>
          <p:cNvGrpSpPr/>
          <p:nvPr/>
        </p:nvGrpSpPr>
        <p:grpSpPr>
          <a:xfrm>
            <a:off x="914702" y="1063123"/>
            <a:ext cx="10362596" cy="4731754"/>
            <a:chOff x="914702" y="1491245"/>
            <a:chExt cx="10362596" cy="4731754"/>
          </a:xfrm>
        </p:grpSpPr>
        <p:sp>
          <p:nvSpPr>
            <p:cNvPr id="22" name="TextBox 13"/>
            <p:cNvSpPr txBox="1"/>
            <p:nvPr/>
          </p:nvSpPr>
          <p:spPr>
            <a:xfrm>
              <a:off x="914702" y="1491245"/>
              <a:ext cx="10362596" cy="1661993"/>
            </a:xfrm>
            <a:prstGeom prst="rect">
              <a:avLst/>
            </a:prstGeom>
            <a:solidFill>
              <a:schemeClr val="bg1">
                <a:lumMod val="75000"/>
              </a:schemeClr>
            </a:solidFill>
            <a:ln>
              <a:solidFill>
                <a:schemeClr val="accent1">
                  <a:lumMod val="20000"/>
                  <a:lumOff val="80000"/>
                </a:schemeClr>
              </a:solidFill>
            </a:ln>
            <a:effectLst>
              <a:outerShdw blurRad="50800" dist="38100" dir="5400000" algn="t"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lIns="0" tIns="0" rIns="0" bIns="0" rtlCol="0" anchor="t">
              <a:spAutoFit/>
            </a:bodyPr>
            <a:lstStyle/>
            <a:p>
              <a:pPr algn="ctr">
                <a:spcBef>
                  <a:spcPct val="0"/>
                </a:spcBef>
              </a:pPr>
              <a:r>
                <a:rPr lang="en-US" sz="3600" dirty="0">
                  <a:solidFill>
                    <a:schemeClr val="tx1"/>
                  </a:solidFill>
                  <a:latin typeface="Times New Roman" panose="02020603050405020304" pitchFamily="18" charset="0"/>
                  <a:cs typeface="Times New Roman" panose="02020603050405020304" pitchFamily="18" charset="0"/>
                </a:rPr>
                <a:t>Closed-Loop Control of a High Efficiency </a:t>
              </a:r>
            </a:p>
            <a:p>
              <a:pPr algn="ctr">
                <a:spcBef>
                  <a:spcPct val="0"/>
                </a:spcBef>
              </a:pPr>
              <a:r>
                <a:rPr lang="en-US" sz="3600" dirty="0">
                  <a:solidFill>
                    <a:schemeClr val="tx1"/>
                  </a:solidFill>
                  <a:latin typeface="Times New Roman" panose="02020603050405020304" pitchFamily="18" charset="0"/>
                  <a:cs typeface="Times New Roman" panose="02020603050405020304" pitchFamily="18" charset="0"/>
                </a:rPr>
                <a:t>SiC-based Dual Active Bridge Converter </a:t>
              </a:r>
            </a:p>
            <a:p>
              <a:pPr algn="ctr">
                <a:spcBef>
                  <a:spcPct val="0"/>
                </a:spcBef>
              </a:pPr>
              <a:r>
                <a:rPr lang="en-US" sz="3600" dirty="0">
                  <a:solidFill>
                    <a:schemeClr val="tx1"/>
                  </a:solidFill>
                  <a:latin typeface="Times New Roman" panose="02020603050405020304" pitchFamily="18" charset="0"/>
                  <a:cs typeface="Times New Roman" panose="02020603050405020304" pitchFamily="18" charset="0"/>
                </a:rPr>
                <a:t>for EV Battery Charging</a:t>
              </a:r>
              <a:endParaRPr lang="en-US" sz="3334" dirty="0">
                <a:solidFill>
                  <a:schemeClr val="tx1"/>
                </a:solidFill>
                <a:latin typeface="Times New Roman" panose="02020603050405020304" pitchFamily="18" charset="0"/>
                <a:ea typeface="League Spartan"/>
                <a:cs typeface="Times New Roman" panose="02020603050405020304" pitchFamily="18" charset="0"/>
                <a:sym typeface="League Spartan"/>
              </a:endParaRPr>
            </a:p>
          </p:txBody>
        </p:sp>
        <p:grpSp>
          <p:nvGrpSpPr>
            <p:cNvPr id="12" name="Group 11">
              <a:extLst>
                <a:ext uri="{FF2B5EF4-FFF2-40B4-BE49-F238E27FC236}">
                  <a16:creationId xmlns:a16="http://schemas.microsoft.com/office/drawing/2014/main" id="{A37446E4-1785-E007-FAE7-739E845FC2A4}"/>
                </a:ext>
              </a:extLst>
            </p:cNvPr>
            <p:cNvGrpSpPr>
              <a:grpSpLocks noChangeAspect="1"/>
            </p:cNvGrpSpPr>
            <p:nvPr/>
          </p:nvGrpSpPr>
          <p:grpSpPr>
            <a:xfrm>
              <a:off x="3462326" y="5358999"/>
              <a:ext cx="5267349" cy="864000"/>
              <a:chOff x="4888957" y="7891145"/>
              <a:chExt cx="8642198" cy="1417574"/>
            </a:xfrm>
          </p:grpSpPr>
          <p:grpSp>
            <p:nvGrpSpPr>
              <p:cNvPr id="13" name="Group 12">
                <a:extLst>
                  <a:ext uri="{FF2B5EF4-FFF2-40B4-BE49-F238E27FC236}">
                    <a16:creationId xmlns:a16="http://schemas.microsoft.com/office/drawing/2014/main" id="{9ED60636-6D8E-B2C9-8776-696BD1391CF8}"/>
                  </a:ext>
                </a:extLst>
              </p:cNvPr>
              <p:cNvGrpSpPr/>
              <p:nvPr/>
            </p:nvGrpSpPr>
            <p:grpSpPr>
              <a:xfrm>
                <a:off x="4888957" y="7891145"/>
                <a:ext cx="8642198" cy="1417574"/>
                <a:chOff x="4888957" y="7891145"/>
                <a:chExt cx="8642198" cy="1417574"/>
              </a:xfrm>
            </p:grpSpPr>
            <p:sp>
              <p:nvSpPr>
                <p:cNvPr id="18" name="TextBox 9">
                  <a:extLst>
                    <a:ext uri="{FF2B5EF4-FFF2-40B4-BE49-F238E27FC236}">
                      <a16:creationId xmlns:a16="http://schemas.microsoft.com/office/drawing/2014/main" id="{805F876B-729F-BC3C-70EA-CBB4FB0FF732}"/>
                    </a:ext>
                  </a:extLst>
                </p:cNvPr>
                <p:cNvSpPr txBox="1"/>
                <p:nvPr/>
              </p:nvSpPr>
              <p:spPr>
                <a:xfrm>
                  <a:off x="6753962" y="7891806"/>
                  <a:ext cx="6777193" cy="1414238"/>
                </a:xfrm>
                <a:prstGeom prst="rect">
                  <a:avLst/>
                </a:prstGeom>
              </p:spPr>
              <p:txBody>
                <a:bodyPr wrap="square" lIns="0" tIns="0" rIns="0" bIns="0" rtlCol="0" anchor="t">
                  <a:spAutoFit/>
                </a:bodyPr>
                <a:lstStyle/>
                <a:p>
                  <a:r>
                    <a:rPr lang="en-US" sz="1867" dirty="0">
                      <a:solidFill>
                        <a:srgbClr val="0000FF"/>
                      </a:solidFill>
                      <a:latin typeface="Times New Roman" panose="02020603050405020304" pitchFamily="18" charset="0"/>
                      <a:ea typeface="Lato Bold"/>
                      <a:cs typeface="Times New Roman" panose="02020603050405020304" pitchFamily="18" charset="0"/>
                      <a:sym typeface="Lato Bold"/>
                    </a:rPr>
                    <a:t>Date: </a:t>
                  </a:r>
                  <a:r>
                    <a:rPr lang="en-US" sz="1867" dirty="0">
                      <a:solidFill>
                        <a:srgbClr val="000000"/>
                      </a:solidFill>
                      <a:latin typeface="Times New Roman" panose="02020603050405020304" pitchFamily="18" charset="0"/>
                      <a:ea typeface="Lato Bold"/>
                      <a:cs typeface="Times New Roman" panose="02020603050405020304" pitchFamily="18" charset="0"/>
                      <a:sym typeface="Lato Bold"/>
                    </a:rPr>
                    <a:t>10/10/25</a:t>
                  </a:r>
                </a:p>
                <a:p>
                  <a:r>
                    <a:rPr lang="en-US" sz="1867" dirty="0">
                      <a:solidFill>
                        <a:srgbClr val="000000"/>
                      </a:solidFill>
                      <a:latin typeface="Times New Roman" panose="02020603050405020304" pitchFamily="18" charset="0"/>
                      <a:ea typeface="Lato Bold"/>
                      <a:cs typeface="Times New Roman" panose="02020603050405020304" pitchFamily="18" charset="0"/>
                      <a:sym typeface="Lato Bold"/>
                    </a:rPr>
                    <a:t>Department of Electrical Engineering</a:t>
                  </a:r>
                </a:p>
                <a:p>
                  <a:r>
                    <a:rPr lang="en-US" sz="1867" dirty="0">
                      <a:solidFill>
                        <a:srgbClr val="000000"/>
                      </a:solidFill>
                      <a:latin typeface="Times New Roman" panose="02020603050405020304" pitchFamily="18" charset="0"/>
                      <a:ea typeface="Lato Bold"/>
                      <a:cs typeface="Times New Roman" panose="02020603050405020304" pitchFamily="18" charset="0"/>
                      <a:sym typeface="Lato Bold"/>
                    </a:rPr>
                    <a:t>National Institute of Technology, Rourkela</a:t>
                  </a:r>
                </a:p>
              </p:txBody>
            </p:sp>
            <p:pic>
              <p:nvPicPr>
                <p:cNvPr id="20" name="Picture 19">
                  <a:extLst>
                    <a:ext uri="{FF2B5EF4-FFF2-40B4-BE49-F238E27FC236}">
                      <a16:creationId xmlns:a16="http://schemas.microsoft.com/office/drawing/2014/main" id="{B3DBD1DA-5A99-D9A0-8E47-EE8E0F47FF85}"/>
                    </a:ext>
                  </a:extLst>
                </p:cNvPr>
                <p:cNvPicPr>
                  <a:picLocks noChangeAspect="1"/>
                </p:cNvPicPr>
                <p:nvPr/>
              </p:nvPicPr>
              <p:blipFill>
                <a:blip r:embed="rId2" cstate="print">
                  <a:extLst>
                    <a:ext uri="{28A0092B-C50C-407E-A947-70E740481C1C}">
                      <a14:useLocalDpi xmlns:a14="http://schemas.microsoft.com/office/drawing/2010/main" val="0"/>
                    </a:ext>
                  </a:extLst>
                </a:blip>
                <a:srcRect b="3828"/>
                <a:stretch/>
              </p:blipFill>
              <p:spPr>
                <a:xfrm>
                  <a:off x="4888957" y="7891145"/>
                  <a:ext cx="1461655" cy="1417574"/>
                </a:xfrm>
                <a:prstGeom prst="rect">
                  <a:avLst/>
                </a:prstGeom>
              </p:spPr>
            </p:pic>
          </p:grpSp>
          <p:cxnSp>
            <p:nvCxnSpPr>
              <p:cNvPr id="14" name="Straight Connector 13">
                <a:extLst>
                  <a:ext uri="{FF2B5EF4-FFF2-40B4-BE49-F238E27FC236}">
                    <a16:creationId xmlns:a16="http://schemas.microsoft.com/office/drawing/2014/main" id="{BE1F5EFC-B47B-0DB4-5B1B-B79C094957EC}"/>
                  </a:ext>
                </a:extLst>
              </p:cNvPr>
              <p:cNvCxnSpPr>
                <a:cxnSpLocks/>
              </p:cNvCxnSpPr>
              <p:nvPr/>
            </p:nvCxnSpPr>
            <p:spPr>
              <a:xfrm>
                <a:off x="6529917" y="7891145"/>
                <a:ext cx="0" cy="1417574"/>
              </a:xfrm>
              <a:prstGeom prst="line">
                <a:avLst/>
              </a:prstGeom>
              <a:ln w="38100"/>
            </p:spPr>
            <p:style>
              <a:lnRef idx="1">
                <a:schemeClr val="dk1"/>
              </a:lnRef>
              <a:fillRef idx="0">
                <a:schemeClr val="dk1"/>
              </a:fillRef>
              <a:effectRef idx="0">
                <a:schemeClr val="dk1"/>
              </a:effectRef>
              <a:fontRef idx="minor">
                <a:schemeClr val="tx1"/>
              </a:fontRef>
            </p:style>
          </p:cxnSp>
        </p:grpSp>
        <p:sp>
          <p:nvSpPr>
            <p:cNvPr id="21" name="TextBox 9">
              <a:extLst>
                <a:ext uri="{FF2B5EF4-FFF2-40B4-BE49-F238E27FC236}">
                  <a16:creationId xmlns:a16="http://schemas.microsoft.com/office/drawing/2014/main" id="{805F876B-729F-BC3C-70EA-CBB4FB0FF732}"/>
                </a:ext>
              </a:extLst>
            </p:cNvPr>
            <p:cNvSpPr txBox="1"/>
            <p:nvPr/>
          </p:nvSpPr>
          <p:spPr>
            <a:xfrm>
              <a:off x="3760352" y="3626068"/>
              <a:ext cx="4400972" cy="1241494"/>
            </a:xfrm>
            <a:prstGeom prst="rect">
              <a:avLst/>
            </a:prstGeom>
          </p:spPr>
          <p:txBody>
            <a:bodyPr wrap="square" lIns="0" tIns="0" rIns="0" bIns="0" rtlCol="0" anchor="t">
              <a:spAutoFit/>
            </a:bodyPr>
            <a:lstStyle/>
            <a:p>
              <a:pPr algn="ctr">
                <a:lnSpc>
                  <a:spcPct val="150000"/>
                </a:lnSpc>
              </a:pPr>
              <a:r>
                <a:rPr lang="en-US" sz="1867" dirty="0">
                  <a:solidFill>
                    <a:srgbClr val="0000FF"/>
                  </a:solidFill>
                  <a:latin typeface="Times New Roman" panose="02020603050405020304" pitchFamily="18" charset="0"/>
                  <a:ea typeface="Lato Bold"/>
                  <a:cs typeface="Times New Roman" panose="02020603050405020304" pitchFamily="18" charset="0"/>
                  <a:sym typeface="Lato Bold"/>
                </a:rPr>
                <a:t>Name:</a:t>
              </a:r>
              <a:r>
                <a:rPr lang="en-US" sz="1867" dirty="0">
                  <a:solidFill>
                    <a:srgbClr val="000000"/>
                  </a:solidFill>
                  <a:latin typeface="Times New Roman" panose="02020603050405020304" pitchFamily="18" charset="0"/>
                  <a:ea typeface="Lato Bold"/>
                  <a:cs typeface="Times New Roman" panose="02020603050405020304" pitchFamily="18" charset="0"/>
                  <a:sym typeface="Lato Bold"/>
                </a:rPr>
                <a:t> Medipally Saivivek</a:t>
              </a:r>
            </a:p>
            <a:p>
              <a:pPr algn="ctr">
                <a:lnSpc>
                  <a:spcPct val="150000"/>
                </a:lnSpc>
              </a:pPr>
              <a:r>
                <a:rPr lang="en-US" sz="1867" dirty="0">
                  <a:solidFill>
                    <a:srgbClr val="0000FF"/>
                  </a:solidFill>
                  <a:latin typeface="Times New Roman" panose="02020603050405020304" pitchFamily="18" charset="0"/>
                  <a:ea typeface="Lato Bold"/>
                  <a:cs typeface="Times New Roman" panose="02020603050405020304" pitchFamily="18" charset="0"/>
                  <a:sym typeface="Lato Bold"/>
                </a:rPr>
                <a:t>Roll No:- </a:t>
              </a:r>
              <a:r>
                <a:rPr lang="en-US" sz="1867" dirty="0">
                  <a:solidFill>
                    <a:schemeClr val="tx1">
                      <a:lumMod val="95000"/>
                      <a:lumOff val="5000"/>
                    </a:schemeClr>
                  </a:solidFill>
                  <a:latin typeface="Times New Roman" panose="02020603050405020304" pitchFamily="18" charset="0"/>
                  <a:ea typeface="Lato Bold"/>
                  <a:cs typeface="Times New Roman" panose="02020603050405020304" pitchFamily="18" charset="0"/>
                  <a:sym typeface="Lato Bold"/>
                </a:rPr>
                <a:t>122EE0378</a:t>
              </a:r>
            </a:p>
            <a:p>
              <a:pPr algn="ctr">
                <a:lnSpc>
                  <a:spcPct val="150000"/>
                </a:lnSpc>
              </a:pPr>
              <a:r>
                <a:rPr lang="en-US" sz="1867" dirty="0">
                  <a:solidFill>
                    <a:srgbClr val="0000FF"/>
                  </a:solidFill>
                  <a:latin typeface="Times New Roman" panose="02020603050405020304" pitchFamily="18" charset="0"/>
                  <a:ea typeface="Lato Bold"/>
                  <a:cs typeface="Times New Roman" panose="02020603050405020304" pitchFamily="18" charset="0"/>
                  <a:sym typeface="Lato Bold"/>
                </a:rPr>
                <a:t>Project Supervisor: </a:t>
              </a:r>
              <a:r>
                <a:rPr lang="en-US" sz="1867" dirty="0">
                  <a:solidFill>
                    <a:srgbClr val="000000"/>
                  </a:solidFill>
                  <a:latin typeface="Times New Roman" panose="02020603050405020304" pitchFamily="18" charset="0"/>
                  <a:ea typeface="Lato Bold"/>
                  <a:cs typeface="Times New Roman" panose="02020603050405020304" pitchFamily="18" charset="0"/>
                  <a:sym typeface="Lato Bold"/>
                </a:rPr>
                <a:t>Prof. Monalisa Pattnaik</a:t>
              </a:r>
            </a:p>
          </p:txBody>
        </p:sp>
      </p:grpSp>
    </p:spTree>
    <p:extLst>
      <p:ext uri="{BB962C8B-B14F-4D97-AF65-F5344CB8AC3E}">
        <p14:creationId xmlns:p14="http://schemas.microsoft.com/office/powerpoint/2010/main" val="2401553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4D2B3-8F7C-2AAF-6725-483A190EF474}"/>
            </a:ext>
          </a:extLst>
        </p:cNvPr>
        <p:cNvGrpSpPr/>
        <p:nvPr/>
      </p:nvGrpSpPr>
      <p:grpSpPr>
        <a:xfrm>
          <a:off x="0" y="0"/>
          <a:ext cx="0" cy="0"/>
          <a:chOff x="0" y="0"/>
          <a:chExt cx="0" cy="0"/>
        </a:xfrm>
      </p:grpSpPr>
      <p:sp>
        <p:nvSpPr>
          <p:cNvPr id="5" name="TextBox 14">
            <a:extLst>
              <a:ext uri="{FF2B5EF4-FFF2-40B4-BE49-F238E27FC236}">
                <a16:creationId xmlns:a16="http://schemas.microsoft.com/office/drawing/2014/main" id="{0FC66C7C-1BDA-A796-2CCE-152E576ED647}"/>
              </a:ext>
            </a:extLst>
          </p:cNvPr>
          <p:cNvSpPr txBox="1"/>
          <p:nvPr/>
        </p:nvSpPr>
        <p:spPr>
          <a:xfrm>
            <a:off x="3684566" y="103586"/>
            <a:ext cx="4822870" cy="320601"/>
          </a:xfrm>
          <a:prstGeom prst="rect">
            <a:avLst/>
          </a:prstGeom>
        </p:spPr>
        <p:txBody>
          <a:bodyPr lIns="0" tIns="0" rIns="0" bIns="0" rtlCol="0" anchor="t">
            <a:spAutoFit/>
          </a:bodyPr>
          <a:lstStyle/>
          <a:p>
            <a:pPr algn="ctr">
              <a:lnSpc>
                <a:spcPts val="2451"/>
              </a:lnSpc>
              <a:spcBef>
                <a:spcPct val="0"/>
              </a:spcBef>
            </a:pPr>
            <a:r>
              <a:rPr lang="en-US" sz="2333" dirty="0">
                <a:solidFill>
                  <a:srgbClr val="FFFFFF"/>
                </a:solidFill>
                <a:latin typeface="Times New Roman" panose="02020603050405020304" pitchFamily="18" charset="0"/>
                <a:ea typeface="League Spartan"/>
                <a:cs typeface="Times New Roman" panose="02020603050405020304" pitchFamily="18" charset="0"/>
                <a:sym typeface="League Spartan"/>
              </a:rPr>
              <a:t>Overview</a:t>
            </a:r>
          </a:p>
        </p:txBody>
      </p:sp>
      <p:graphicFrame>
        <p:nvGraphicFramePr>
          <p:cNvPr id="2" name="Table 1">
            <a:extLst>
              <a:ext uri="{FF2B5EF4-FFF2-40B4-BE49-F238E27FC236}">
                <a16:creationId xmlns:a16="http://schemas.microsoft.com/office/drawing/2014/main" id="{FD7E78FD-EF5D-E214-E031-B8DE180B96B9}"/>
              </a:ext>
            </a:extLst>
          </p:cNvPr>
          <p:cNvGraphicFramePr>
            <a:graphicFrameLocks noGrp="1"/>
          </p:cNvGraphicFramePr>
          <p:nvPr>
            <p:extLst>
              <p:ext uri="{D42A27DB-BD31-4B8C-83A1-F6EECF244321}">
                <p14:modId xmlns:p14="http://schemas.microsoft.com/office/powerpoint/2010/main" val="4263873928"/>
              </p:ext>
            </p:extLst>
          </p:nvPr>
        </p:nvGraphicFramePr>
        <p:xfrm>
          <a:off x="682732" y="729000"/>
          <a:ext cx="10826536" cy="5400000"/>
        </p:xfrm>
        <a:graphic>
          <a:graphicData uri="http://schemas.openxmlformats.org/drawingml/2006/table">
            <a:tbl>
              <a:tblPr firstRow="1" bandRow="1">
                <a:tableStyleId>{5C22544A-7EE6-4342-B048-85BDC9FD1C3A}</a:tableStyleId>
              </a:tblPr>
              <a:tblGrid>
                <a:gridCol w="687220">
                  <a:extLst>
                    <a:ext uri="{9D8B030D-6E8A-4147-A177-3AD203B41FA5}">
                      <a16:colId xmlns:a16="http://schemas.microsoft.com/office/drawing/2014/main" val="2888785475"/>
                    </a:ext>
                  </a:extLst>
                </a:gridCol>
                <a:gridCol w="7459156">
                  <a:extLst>
                    <a:ext uri="{9D8B030D-6E8A-4147-A177-3AD203B41FA5}">
                      <a16:colId xmlns:a16="http://schemas.microsoft.com/office/drawing/2014/main" val="1745883661"/>
                    </a:ext>
                  </a:extLst>
                </a:gridCol>
                <a:gridCol w="2680160">
                  <a:extLst>
                    <a:ext uri="{9D8B030D-6E8A-4147-A177-3AD203B41FA5}">
                      <a16:colId xmlns:a16="http://schemas.microsoft.com/office/drawing/2014/main" val="3561128065"/>
                    </a:ext>
                  </a:extLst>
                </a:gridCol>
              </a:tblGrid>
              <a:tr h="540000">
                <a:tc>
                  <a:txBody>
                    <a:bodyPr/>
                    <a:lstStyle/>
                    <a:p>
                      <a:pP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1.</a:t>
                      </a:r>
                    </a:p>
                  </a:txBody>
                  <a:tcPr/>
                </a:tc>
                <a:tc>
                  <a:txBody>
                    <a:bodyPr/>
                    <a:lstStyle/>
                    <a:p>
                      <a:pPr>
                        <a:lnSpc>
                          <a:spcPct val="100000"/>
                        </a:lnSpc>
                      </a:pPr>
                      <a:r>
                        <a:rPr lang="en-US" sz="2000" b="0" dirty="0">
                          <a:solidFill>
                            <a:schemeClr val="tx1">
                              <a:lumMod val="95000"/>
                              <a:lumOff val="5000"/>
                            </a:schemeClr>
                          </a:solidFill>
                          <a:latin typeface="Times New Roman" panose="02020603050405020304" pitchFamily="18" charset="0"/>
                          <a:cs typeface="Times New Roman" panose="02020603050405020304" pitchFamily="18" charset="0"/>
                        </a:rPr>
                        <a:t>Introduction</a:t>
                      </a:r>
                    </a:p>
                  </a:txBody>
                  <a:tcPr marL="45721" marR="45721" marT="22859" marB="22859" anchor="ctr"/>
                </a:tc>
                <a:tc>
                  <a:txBody>
                    <a:bodyPr/>
                    <a:lstStyle/>
                    <a:p>
                      <a:pPr algn="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Pg. 1</a:t>
                      </a:r>
                    </a:p>
                  </a:txBody>
                  <a:tcPr marL="45721" marR="45721" marT="22859" marB="22859" anchor="ctr"/>
                </a:tc>
                <a:extLst>
                  <a:ext uri="{0D108BD9-81ED-4DB2-BD59-A6C34878D82A}">
                    <a16:rowId xmlns:a16="http://schemas.microsoft.com/office/drawing/2014/main" val="442482589"/>
                  </a:ext>
                </a:extLst>
              </a:tr>
              <a:tr h="540000">
                <a:tc>
                  <a:txBody>
                    <a:bodyPr/>
                    <a:lstStyle/>
                    <a:p>
                      <a:pP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2.</a:t>
                      </a:r>
                    </a:p>
                  </a:txBody>
                  <a:tcPr/>
                </a:tc>
                <a:tc>
                  <a:txBody>
                    <a:bodyPr/>
                    <a:lstStyle/>
                    <a:p>
                      <a:pP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Literature review</a:t>
                      </a:r>
                    </a:p>
                  </a:txBody>
                  <a:tcPr marL="45721" marR="45721" marT="22859" marB="22859" anchor="ctr"/>
                </a:tc>
                <a:tc>
                  <a:txBody>
                    <a:bodyPr/>
                    <a:lstStyle/>
                    <a:p>
                      <a:pPr algn="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Pg.2</a:t>
                      </a:r>
                    </a:p>
                  </a:txBody>
                  <a:tcPr marL="45721" marR="45721" marT="22859" marB="22859" anchor="ctr"/>
                </a:tc>
                <a:extLst>
                  <a:ext uri="{0D108BD9-81ED-4DB2-BD59-A6C34878D82A}">
                    <a16:rowId xmlns:a16="http://schemas.microsoft.com/office/drawing/2014/main" val="2721887224"/>
                  </a:ext>
                </a:extLst>
              </a:tr>
              <a:tr h="540000">
                <a:tc>
                  <a:txBody>
                    <a:bodyPr/>
                    <a:lstStyle/>
                    <a:p>
                      <a:pP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3.</a:t>
                      </a:r>
                    </a:p>
                  </a:txBody>
                  <a:tcPr/>
                </a:tc>
                <a:tc>
                  <a:txBody>
                    <a:bodyPr/>
                    <a:lstStyle/>
                    <a:p>
                      <a:pP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Motivation and Objective</a:t>
                      </a:r>
                    </a:p>
                  </a:txBody>
                  <a:tcPr marL="45721" marR="45721" marT="22859" marB="22859" anchor="ctr"/>
                </a:tc>
                <a:tc>
                  <a:txBody>
                    <a:bodyPr/>
                    <a:lstStyle/>
                    <a:p>
                      <a:pPr algn="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Pg. 3 </a:t>
                      </a:r>
                    </a:p>
                  </a:txBody>
                  <a:tcPr marL="45721" marR="45721" marT="22859" marB="22859" anchor="ctr"/>
                </a:tc>
                <a:extLst>
                  <a:ext uri="{0D108BD9-81ED-4DB2-BD59-A6C34878D82A}">
                    <a16:rowId xmlns:a16="http://schemas.microsoft.com/office/drawing/2014/main" val="3612358184"/>
                  </a:ext>
                </a:extLst>
              </a:tr>
              <a:tr h="540000">
                <a:tc>
                  <a:txBody>
                    <a:bodyPr/>
                    <a:lstStyle/>
                    <a:p>
                      <a:pP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4.</a:t>
                      </a:r>
                    </a:p>
                  </a:txBody>
                  <a:tcPr/>
                </a:tc>
                <a:tc>
                  <a:txBody>
                    <a:bodyPr/>
                    <a:lstStyle/>
                    <a:p>
                      <a:pP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DAB Converter for Battery Charging</a:t>
                      </a:r>
                    </a:p>
                  </a:txBody>
                  <a:tcPr marL="45721" marR="45721" marT="22859" marB="22859" anchor="ctr"/>
                </a:tc>
                <a:tc>
                  <a:txBody>
                    <a:bodyPr/>
                    <a:lstStyle/>
                    <a:p>
                      <a:pPr algn="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Pg. 4</a:t>
                      </a:r>
                    </a:p>
                  </a:txBody>
                  <a:tcPr marL="45721" marR="45721" marT="22859" marB="22859" anchor="ctr"/>
                </a:tc>
                <a:extLst>
                  <a:ext uri="{0D108BD9-81ED-4DB2-BD59-A6C34878D82A}">
                    <a16:rowId xmlns:a16="http://schemas.microsoft.com/office/drawing/2014/main" val="931728073"/>
                  </a:ext>
                </a:extLst>
              </a:tr>
              <a:tr h="540000">
                <a:tc>
                  <a:txBody>
                    <a:bodyPr/>
                    <a:lstStyle/>
                    <a:p>
                      <a:pP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5.</a:t>
                      </a:r>
                    </a:p>
                  </a:txBody>
                  <a:tcPr/>
                </a:tc>
                <a:tc>
                  <a:txBody>
                    <a:bodyPr/>
                    <a:lstStyle/>
                    <a:p>
                      <a:pP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SPS Control Strategy</a:t>
                      </a:r>
                    </a:p>
                  </a:txBody>
                  <a:tcPr marL="45721" marR="45721" marT="22859" marB="22859" anchor="ctr"/>
                </a:tc>
                <a:tc>
                  <a:txBody>
                    <a:bodyPr/>
                    <a:lstStyle/>
                    <a:p>
                      <a:pPr algn="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Pg. 5 </a:t>
                      </a:r>
                    </a:p>
                  </a:txBody>
                  <a:tcPr marL="45721" marR="45721" marT="22859" marB="22859" anchor="ctr"/>
                </a:tc>
                <a:extLst>
                  <a:ext uri="{0D108BD9-81ED-4DB2-BD59-A6C34878D82A}">
                    <a16:rowId xmlns:a16="http://schemas.microsoft.com/office/drawing/2014/main" val="3013807750"/>
                  </a:ext>
                </a:extLst>
              </a:tr>
              <a:tr h="540000">
                <a:tc>
                  <a:txBody>
                    <a:bodyPr/>
                    <a:lstStyle/>
                    <a:p>
                      <a:pP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6.</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System Configuration</a:t>
                      </a:r>
                    </a:p>
                  </a:txBody>
                  <a:tcPr marL="45721" marR="45721" marT="22859" marB="22859" anchor="ctr"/>
                </a:tc>
                <a:tc>
                  <a:txBody>
                    <a:bodyPr/>
                    <a:lstStyle/>
                    <a:p>
                      <a:pPr algn="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Pg. 6</a:t>
                      </a:r>
                    </a:p>
                  </a:txBody>
                  <a:tcPr marL="45721" marR="45721" marT="22859" marB="22859" anchor="ctr"/>
                </a:tc>
                <a:extLst>
                  <a:ext uri="{0D108BD9-81ED-4DB2-BD59-A6C34878D82A}">
                    <a16:rowId xmlns:a16="http://schemas.microsoft.com/office/drawing/2014/main" val="3338095495"/>
                  </a:ext>
                </a:extLst>
              </a:tr>
              <a:tr h="540000">
                <a:tc>
                  <a:txBody>
                    <a:bodyPr/>
                    <a:lstStyle/>
                    <a:p>
                      <a:pP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7.</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Converter Design</a:t>
                      </a:r>
                    </a:p>
                  </a:txBody>
                  <a:tcPr marL="45721" marR="45721" marT="22859" marB="22859" anchor="ctr"/>
                </a:tc>
                <a:tc>
                  <a:txBody>
                    <a:bodyPr/>
                    <a:lstStyle/>
                    <a:p>
                      <a:pPr algn="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Pg. 7</a:t>
                      </a:r>
                    </a:p>
                  </a:txBody>
                  <a:tcPr marL="45721" marR="45721" marT="22859" marB="22859" anchor="ctr"/>
                </a:tc>
                <a:extLst>
                  <a:ext uri="{0D108BD9-81ED-4DB2-BD59-A6C34878D82A}">
                    <a16:rowId xmlns:a16="http://schemas.microsoft.com/office/drawing/2014/main" val="4198741161"/>
                  </a:ext>
                </a:extLst>
              </a:tr>
              <a:tr h="540000">
                <a:tc>
                  <a:txBody>
                    <a:bodyPr/>
                    <a:lstStyle/>
                    <a:p>
                      <a:pP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Simulation Results</a:t>
                      </a:r>
                    </a:p>
                  </a:txBody>
                  <a:tcPr marL="45721" marR="45721" marT="22859" marB="22859" anchor="ctr"/>
                </a:tc>
                <a:tc>
                  <a:txBody>
                    <a:bodyPr/>
                    <a:lstStyle/>
                    <a:p>
                      <a:pPr algn="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Pg. 8-10</a:t>
                      </a:r>
                    </a:p>
                  </a:txBody>
                  <a:tcPr marL="45721" marR="45721" marT="22859" marB="22859" anchor="ctr"/>
                </a:tc>
                <a:extLst>
                  <a:ext uri="{0D108BD9-81ED-4DB2-BD59-A6C34878D82A}">
                    <a16:rowId xmlns:a16="http://schemas.microsoft.com/office/drawing/2014/main" val="54715883"/>
                  </a:ext>
                </a:extLst>
              </a:tr>
              <a:tr h="540000">
                <a:tc>
                  <a:txBody>
                    <a:bodyPr/>
                    <a:lstStyle/>
                    <a:p>
                      <a:pP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Conclusion</a:t>
                      </a:r>
                    </a:p>
                  </a:txBody>
                  <a:tcPr marL="45721" marR="45721" marT="22859" marB="22859" anchor="ctr"/>
                </a:tc>
                <a:tc>
                  <a:txBody>
                    <a:bodyPr/>
                    <a:lstStyle/>
                    <a:p>
                      <a:pPr algn="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Pg. 11</a:t>
                      </a:r>
                    </a:p>
                  </a:txBody>
                  <a:tcPr marL="45721" marR="45721" marT="22859" marB="22859" anchor="ctr"/>
                </a:tc>
                <a:extLst>
                  <a:ext uri="{0D108BD9-81ED-4DB2-BD59-A6C34878D82A}">
                    <a16:rowId xmlns:a16="http://schemas.microsoft.com/office/drawing/2014/main" val="3449760184"/>
                  </a:ext>
                </a:extLst>
              </a:tr>
              <a:tr h="540000">
                <a:tc>
                  <a:txBody>
                    <a:bodyPr/>
                    <a:lstStyle/>
                    <a:p>
                      <a:pP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Future Plan</a:t>
                      </a:r>
                    </a:p>
                  </a:txBody>
                  <a:tcPr marL="45721" marR="45721" marT="22859" marB="22859" anchor="ctr"/>
                </a:tc>
                <a:tc>
                  <a:txBody>
                    <a:bodyPr/>
                    <a:lstStyle/>
                    <a:p>
                      <a:pPr algn="r">
                        <a:lnSpc>
                          <a:spcPct val="100000"/>
                        </a:lnSpc>
                      </a:pPr>
                      <a:r>
                        <a:rPr lang="en-IN" sz="2000" b="0" dirty="0">
                          <a:solidFill>
                            <a:schemeClr val="tx1">
                              <a:lumMod val="95000"/>
                              <a:lumOff val="5000"/>
                            </a:schemeClr>
                          </a:solidFill>
                          <a:latin typeface="Times New Roman" panose="02020603050405020304" pitchFamily="18" charset="0"/>
                          <a:cs typeface="Times New Roman" panose="02020603050405020304" pitchFamily="18" charset="0"/>
                        </a:rPr>
                        <a:t>Pg. 12</a:t>
                      </a:r>
                    </a:p>
                  </a:txBody>
                  <a:tcPr marL="45721" marR="45721" marT="22859" marB="22859" anchor="ctr"/>
                </a:tc>
                <a:extLst>
                  <a:ext uri="{0D108BD9-81ED-4DB2-BD59-A6C34878D82A}">
                    <a16:rowId xmlns:a16="http://schemas.microsoft.com/office/drawing/2014/main" val="4052590945"/>
                  </a:ext>
                </a:extLst>
              </a:tr>
            </a:tbl>
          </a:graphicData>
        </a:graphic>
      </p:graphicFrame>
    </p:spTree>
    <p:extLst>
      <p:ext uri="{BB962C8B-B14F-4D97-AF65-F5344CB8AC3E}">
        <p14:creationId xmlns:p14="http://schemas.microsoft.com/office/powerpoint/2010/main" val="1591522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1624146" y="6584221"/>
            <a:ext cx="532490" cy="323165"/>
          </a:xfrm>
          <a:prstGeom prst="rect">
            <a:avLst/>
          </a:prstGeom>
          <a:noFill/>
        </p:spPr>
        <p:txBody>
          <a:bodyPr wrap="square" rtlCol="0">
            <a:spAutoFit/>
          </a:bodyPr>
          <a:lstStyle/>
          <a:p>
            <a:r>
              <a:rPr lang="en-IN" sz="1500" dirty="0">
                <a:solidFill>
                  <a:schemeClr val="bg1"/>
                </a:solidFill>
                <a:latin typeface="Times New Roman" panose="02020603050405020304" pitchFamily="18" charset="0"/>
                <a:cs typeface="Times New Roman" panose="02020603050405020304" pitchFamily="18" charset="0"/>
              </a:rPr>
              <a:t>1/12</a:t>
            </a:r>
          </a:p>
        </p:txBody>
      </p:sp>
      <p:sp>
        <p:nvSpPr>
          <p:cNvPr id="6" name="TextBox 14"/>
          <p:cNvSpPr txBox="1"/>
          <p:nvPr/>
        </p:nvSpPr>
        <p:spPr>
          <a:xfrm>
            <a:off x="3684566" y="103586"/>
            <a:ext cx="4822870" cy="320601"/>
          </a:xfrm>
          <a:prstGeom prst="rect">
            <a:avLst/>
          </a:prstGeom>
        </p:spPr>
        <p:txBody>
          <a:bodyPr lIns="0" tIns="0" rIns="0" bIns="0" rtlCol="0" anchor="t">
            <a:spAutoFit/>
          </a:bodyPr>
          <a:lstStyle/>
          <a:p>
            <a:pPr algn="ctr">
              <a:lnSpc>
                <a:spcPts val="2451"/>
              </a:lnSpc>
              <a:spcBef>
                <a:spcPct val="0"/>
              </a:spcBef>
            </a:pPr>
            <a:r>
              <a:rPr lang="en-US" sz="2333" dirty="0">
                <a:solidFill>
                  <a:srgbClr val="FFFFFF"/>
                </a:solidFill>
                <a:latin typeface="Book Antiqua" panose="02040602050305030304" pitchFamily="18" charset="0"/>
                <a:ea typeface="League Spartan"/>
                <a:cs typeface="Times New Roman" panose="02020603050405020304" pitchFamily="18" charset="0"/>
                <a:sym typeface="League Spartan"/>
              </a:rPr>
              <a:t>Introduction</a:t>
            </a:r>
          </a:p>
        </p:txBody>
      </p:sp>
      <p:sp>
        <p:nvSpPr>
          <p:cNvPr id="4" name="TextBox 13"/>
          <p:cNvSpPr txBox="1"/>
          <p:nvPr/>
        </p:nvSpPr>
        <p:spPr>
          <a:xfrm>
            <a:off x="75310" y="705627"/>
            <a:ext cx="11548836" cy="5446747"/>
          </a:xfrm>
          <a:prstGeom prst="rect">
            <a:avLst/>
          </a:prstGeom>
          <a:noFill/>
          <a:ln>
            <a:noFill/>
          </a:ln>
          <a:effectLst/>
        </p:spPr>
        <p:style>
          <a:lnRef idx="2">
            <a:schemeClr val="accent5">
              <a:shade val="15000"/>
            </a:schemeClr>
          </a:lnRef>
          <a:fillRef idx="1">
            <a:schemeClr val="accent5"/>
          </a:fillRef>
          <a:effectRef idx="0">
            <a:schemeClr val="accent5"/>
          </a:effectRef>
          <a:fontRef idx="minor">
            <a:schemeClr val="lt1"/>
          </a:fontRef>
        </p:style>
        <p:txBody>
          <a:bodyPr wrap="square" lIns="0" tIns="0" rIns="0" bIns="0" rtlCol="0" anchor="t">
            <a:spAutoFit/>
          </a:bodyPr>
          <a:lstStyle/>
          <a:p>
            <a:pPr marL="377845" lvl="1" indent="-188923" algn="just">
              <a:lnSpc>
                <a:spcPct val="150000"/>
              </a:lnSpc>
              <a:buClr>
                <a:srgbClr val="0000FF"/>
              </a:buClr>
              <a:buFont typeface="Arial"/>
              <a:buChar char="•"/>
            </a:pPr>
            <a:r>
              <a:rPr lang="en-US" sz="1700" spc="73" dirty="0">
                <a:solidFill>
                  <a:schemeClr val="tx1"/>
                </a:solidFill>
                <a:latin typeface="Times New Roman" panose="02020603050405020304" pitchFamily="18" charset="0"/>
                <a:ea typeface="Times New Roman"/>
                <a:cs typeface="Times New Roman" panose="02020603050405020304" pitchFamily="18" charset="0"/>
                <a:sym typeface="Times New Roman"/>
              </a:rPr>
              <a:t>The Dual Active Bridge Converter(DAB) is a galvanically isolated bidirectional converter that regulates power transfer through phase-shift control between its two active bridges.</a:t>
            </a:r>
          </a:p>
          <a:p>
            <a:pPr marL="377845" lvl="1" indent="-188923" algn="just">
              <a:lnSpc>
                <a:spcPct val="150000"/>
              </a:lnSpc>
              <a:buClr>
                <a:srgbClr val="0000FF"/>
              </a:buClr>
              <a:buFont typeface="Arial"/>
              <a:buChar char="•"/>
            </a:pPr>
            <a:r>
              <a:rPr lang="en-US" sz="1700" dirty="0">
                <a:solidFill>
                  <a:schemeClr val="tx1"/>
                </a:solidFill>
                <a:latin typeface="Times New Roman" panose="02020603050405020304" pitchFamily="18" charset="0"/>
                <a:cs typeface="Times New Roman" panose="02020603050405020304" pitchFamily="18" charset="0"/>
              </a:rPr>
              <a:t>IGBT-based converters have certain drawbacks such as low switching frequency, longer turn-off time, and high conduction and switching losses, leading to reduced efficiency and larger size.</a:t>
            </a:r>
            <a:endParaRPr lang="en-US" sz="1700" spc="73"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377845" lvl="1" indent="-188923" algn="just">
              <a:lnSpc>
                <a:spcPct val="150000"/>
              </a:lnSpc>
              <a:buClr>
                <a:srgbClr val="0000FF"/>
              </a:buClr>
              <a:buFont typeface="Arial"/>
              <a:buChar char="•"/>
            </a:pPr>
            <a:r>
              <a:rPr lang="en-US" sz="1700" dirty="0">
                <a:solidFill>
                  <a:schemeClr val="tx1"/>
                </a:solidFill>
                <a:latin typeface="Times New Roman" panose="02020603050405020304" pitchFamily="18" charset="0"/>
                <a:cs typeface="Times New Roman" panose="02020603050405020304" pitchFamily="18" charset="0"/>
              </a:rPr>
              <a:t>Adoption of wide-bandgap devices, especially Silicon Carbide (SiC) MOSFETs, has revolutionized converter performance by enabling higher switching frequencies, lower ON-state resistance.</a:t>
            </a:r>
            <a:endParaRPr lang="en-US" sz="1700" spc="73"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377845" lvl="1" indent="-188923" algn="just">
              <a:lnSpc>
                <a:spcPct val="150000"/>
              </a:lnSpc>
              <a:buClr>
                <a:srgbClr val="0000FF"/>
              </a:buClr>
              <a:buFont typeface="Arial"/>
              <a:buChar char="•"/>
            </a:pPr>
            <a:r>
              <a:rPr lang="en-US" sz="1700" spc="73" dirty="0">
                <a:solidFill>
                  <a:schemeClr val="tx1"/>
                </a:solidFill>
                <a:latin typeface="Times New Roman" panose="02020603050405020304" pitchFamily="18" charset="0"/>
                <a:ea typeface="Times New Roman"/>
                <a:cs typeface="Times New Roman" panose="02020603050405020304" pitchFamily="18" charset="0"/>
                <a:sym typeface="Times New Roman"/>
              </a:rPr>
              <a:t>As a result , SiC-based DAB converters enable the use of smaller passive components, reduce power losses, and significantly enhance overall system efficiency.</a:t>
            </a:r>
          </a:p>
          <a:p>
            <a:pPr marL="377845" lvl="1" indent="-188923" algn="just">
              <a:lnSpc>
                <a:spcPct val="150000"/>
              </a:lnSpc>
              <a:buClr>
                <a:srgbClr val="0000FF"/>
              </a:buClr>
              <a:buFont typeface="Arial"/>
              <a:buChar char="•"/>
            </a:pPr>
            <a:r>
              <a:rPr lang="en-US" sz="1700" spc="73" dirty="0">
                <a:solidFill>
                  <a:schemeClr val="tx1"/>
                </a:solidFill>
                <a:latin typeface="Times New Roman" panose="02020603050405020304" pitchFamily="18" charset="0"/>
                <a:ea typeface="Times New Roman"/>
                <a:cs typeface="Times New Roman" panose="02020603050405020304" pitchFamily="18" charset="0"/>
                <a:sym typeface="Times New Roman"/>
              </a:rPr>
              <a:t>Work done till date:</a:t>
            </a:r>
          </a:p>
          <a:p>
            <a:pPr marL="722324" lvl="2" indent="-228611" algn="just">
              <a:lnSpc>
                <a:spcPct val="150000"/>
              </a:lnSpc>
              <a:buClr>
                <a:srgbClr val="FF0000"/>
              </a:buClr>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Simulated a SiC-based Dual Active Bridge (DAB) converter in MATLAB/Simulink using the Single-Phase Shift (SPS) control strategy for EV battery charging.</a:t>
            </a:r>
            <a:endParaRPr lang="en-US" sz="1700" spc="73"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722324" lvl="2" indent="-228611" algn="just">
              <a:lnSpc>
                <a:spcPct val="150000"/>
              </a:lnSpc>
              <a:buClr>
                <a:srgbClr val="FF0000"/>
              </a:buClr>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Operated the system in open-loop mode to analyze power transfer characteristics between 400 V input and 60 V battery load.</a:t>
            </a:r>
            <a:endParaRPr lang="en-US" sz="1700" spc="73"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722324" lvl="2" indent="-228611" algn="just">
              <a:lnSpc>
                <a:spcPct val="150000"/>
              </a:lnSpc>
              <a:buClr>
                <a:srgbClr val="FF0000"/>
              </a:buClr>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Varied leakage inductance values to study their effect on output power, voltage, and efficiency.</a:t>
            </a:r>
            <a:endParaRPr lang="en-US" sz="1700" spc="73"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722324" lvl="2" indent="-228611" algn="just">
              <a:lnSpc>
                <a:spcPct val="150000"/>
              </a:lnSpc>
              <a:buClr>
                <a:srgbClr val="FF0000"/>
              </a:buClr>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Identified </a:t>
            </a:r>
            <a:r>
              <a:rPr lang="en-US" sz="1700" b="1" dirty="0">
                <a:solidFill>
                  <a:schemeClr val="tx1"/>
                </a:solidFill>
                <a:latin typeface="Times New Roman" panose="02020603050405020304" pitchFamily="18" charset="0"/>
                <a:cs typeface="Times New Roman" panose="02020603050405020304" pitchFamily="18" charset="0"/>
              </a:rPr>
              <a:t>the optimum inductance (95 µH) </a:t>
            </a:r>
            <a:r>
              <a:rPr lang="en-US" sz="1700" dirty="0">
                <a:solidFill>
                  <a:schemeClr val="tx1"/>
                </a:solidFill>
                <a:latin typeface="Times New Roman" panose="02020603050405020304" pitchFamily="18" charset="0"/>
                <a:cs typeface="Times New Roman" panose="02020603050405020304" pitchFamily="18" charset="0"/>
              </a:rPr>
              <a:t>achieving </a:t>
            </a:r>
            <a:r>
              <a:rPr lang="en-US" sz="1700" b="1" dirty="0">
                <a:solidFill>
                  <a:schemeClr val="tx1"/>
                </a:solidFill>
                <a:latin typeface="Times New Roman" panose="02020603050405020304" pitchFamily="18" charset="0"/>
                <a:cs typeface="Times New Roman" panose="02020603050405020304" pitchFamily="18" charset="0"/>
              </a:rPr>
              <a:t>96.78% efficiency</a:t>
            </a:r>
            <a:r>
              <a:rPr lang="en-US" sz="1700" dirty="0">
                <a:solidFill>
                  <a:schemeClr val="tx1"/>
                </a:solidFill>
                <a:latin typeface="Times New Roman" panose="02020603050405020304" pitchFamily="18" charset="0"/>
                <a:cs typeface="Times New Roman" panose="02020603050405020304" pitchFamily="18" charset="0"/>
              </a:rPr>
              <a:t> and </a:t>
            </a:r>
            <a:r>
              <a:rPr lang="en-US" sz="1700" b="1" dirty="0">
                <a:solidFill>
                  <a:schemeClr val="tx1"/>
                </a:solidFill>
                <a:latin typeface="Times New Roman" panose="02020603050405020304" pitchFamily="18" charset="0"/>
                <a:cs typeface="Times New Roman" panose="02020603050405020304" pitchFamily="18" charset="0"/>
              </a:rPr>
              <a:t>4.12 kW</a:t>
            </a:r>
            <a:r>
              <a:rPr lang="en-US" sz="1700" dirty="0">
                <a:solidFill>
                  <a:schemeClr val="tx1"/>
                </a:solidFill>
                <a:latin typeface="Times New Roman" panose="02020603050405020304" pitchFamily="18" charset="0"/>
                <a:cs typeface="Times New Roman" panose="02020603050405020304" pitchFamily="18" charset="0"/>
              </a:rPr>
              <a:t> output power.</a:t>
            </a:r>
          </a:p>
        </p:txBody>
      </p:sp>
    </p:spTree>
    <p:extLst>
      <p:ext uri="{BB962C8B-B14F-4D97-AF65-F5344CB8AC3E}">
        <p14:creationId xmlns:p14="http://schemas.microsoft.com/office/powerpoint/2010/main" val="491667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06CAF-A42D-0CD0-8EAA-B6FB21ACAD3C}"/>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B71EDE81-CB27-70FD-A0AC-B8FB03DF1362}"/>
              </a:ext>
            </a:extLst>
          </p:cNvPr>
          <p:cNvSpPr txBox="1"/>
          <p:nvPr/>
        </p:nvSpPr>
        <p:spPr>
          <a:xfrm>
            <a:off x="75309" y="1235130"/>
            <a:ext cx="11791343" cy="4661917"/>
          </a:xfrm>
          <a:prstGeom prst="rect">
            <a:avLst/>
          </a:prstGeom>
          <a:noFill/>
          <a:ln>
            <a:noFill/>
          </a:ln>
          <a:effectLst/>
        </p:spPr>
        <p:style>
          <a:lnRef idx="2">
            <a:schemeClr val="accent5">
              <a:shade val="15000"/>
            </a:schemeClr>
          </a:lnRef>
          <a:fillRef idx="1">
            <a:schemeClr val="accent5"/>
          </a:fillRef>
          <a:effectRef idx="0">
            <a:schemeClr val="accent5"/>
          </a:effectRef>
          <a:fontRef idx="minor">
            <a:schemeClr val="lt1"/>
          </a:fontRef>
        </p:style>
        <p:txBody>
          <a:bodyPr wrap="square" lIns="0" tIns="0" rIns="0" bIns="0" rtlCol="0" anchor="t">
            <a:spAutoFit/>
          </a:bodyPr>
          <a:lstStyle/>
          <a:p>
            <a:pPr marL="377845" lvl="1" indent="-188923" algn="just">
              <a:lnSpc>
                <a:spcPct val="150000"/>
              </a:lnSpc>
              <a:buClr>
                <a:srgbClr val="0000FF"/>
              </a:buClr>
              <a:buFont typeface="Arial"/>
              <a:buChar char="•"/>
            </a:pPr>
            <a:r>
              <a:rPr lang="en-US" sz="1700" spc="73" dirty="0">
                <a:solidFill>
                  <a:schemeClr val="tx1"/>
                </a:solidFill>
                <a:latin typeface="Times New Roman" panose="02020603050405020304" pitchFamily="18" charset="0"/>
                <a:ea typeface="Times New Roman"/>
                <a:cs typeface="Times New Roman" panose="02020603050405020304" pitchFamily="18" charset="0"/>
                <a:sym typeface="Times New Roman"/>
              </a:rPr>
              <a:t>Traditional IGBT modules are unsuitable for high power density, high-frequency applications. Hence, MOS devices using advanced materials like SiC are being preferred in current research on DAB. [1]</a:t>
            </a:r>
          </a:p>
          <a:p>
            <a:pPr marL="377845" lvl="1" indent="-188923" algn="just">
              <a:lnSpc>
                <a:spcPct val="150000"/>
              </a:lnSpc>
              <a:buClr>
                <a:srgbClr val="0000FF"/>
              </a:buClr>
              <a:buFont typeface="Arial"/>
              <a:buChar char="•"/>
            </a:pPr>
            <a:r>
              <a:rPr lang="en-US" sz="1700" spc="73" dirty="0">
                <a:solidFill>
                  <a:schemeClr val="tx1"/>
                </a:solidFill>
                <a:latin typeface="Times New Roman" panose="02020603050405020304" pitchFamily="18" charset="0"/>
                <a:ea typeface="Times New Roman"/>
                <a:cs typeface="Times New Roman" panose="02020603050405020304" pitchFamily="18" charset="0"/>
                <a:sym typeface="Times New Roman"/>
              </a:rPr>
              <a:t>DAB has attractive features like high power density , Bidirectional flow, soft-switching capability, low sensitivity to system parasites . Leakage inductance is the main energy transfer element, so it must be properly considered. [1]</a:t>
            </a:r>
          </a:p>
          <a:p>
            <a:pPr marL="377845" lvl="1" indent="-188923" algn="just">
              <a:lnSpc>
                <a:spcPct val="150000"/>
              </a:lnSpc>
              <a:buClr>
                <a:srgbClr val="0000FF"/>
              </a:buClr>
              <a:buFont typeface="Arial"/>
              <a:buChar char="•"/>
            </a:pPr>
            <a:r>
              <a:rPr lang="en-US" sz="1700" spc="73" dirty="0">
                <a:solidFill>
                  <a:schemeClr val="tx1"/>
                </a:solidFill>
                <a:latin typeface="Times New Roman" panose="02020603050405020304" pitchFamily="18" charset="0"/>
                <a:ea typeface="Times New Roman"/>
                <a:cs typeface="Times New Roman" panose="02020603050405020304" pitchFamily="18" charset="0"/>
                <a:sym typeface="Times New Roman"/>
              </a:rPr>
              <a:t>DAB-IBDC is widely considered as the core circuit for next generation HFL PCSs due to its less transformer size and Galvanic isolation. [3]</a:t>
            </a:r>
          </a:p>
          <a:p>
            <a:pPr marL="377845" lvl="1" indent="-188923" algn="just">
              <a:lnSpc>
                <a:spcPct val="150000"/>
              </a:lnSpc>
              <a:buClr>
                <a:srgbClr val="0000FF"/>
              </a:buClr>
              <a:buFont typeface="Arial"/>
              <a:buChar char="•"/>
            </a:pPr>
            <a:r>
              <a:rPr lang="en-US" sz="1700" spc="73" dirty="0">
                <a:solidFill>
                  <a:schemeClr val="tx1"/>
                </a:solidFill>
                <a:latin typeface="Times New Roman" panose="02020603050405020304" pitchFamily="18" charset="0"/>
                <a:ea typeface="Times New Roman"/>
                <a:cs typeface="Times New Roman" panose="02020603050405020304" pitchFamily="18" charset="0"/>
                <a:sym typeface="Times New Roman"/>
              </a:rPr>
              <a:t>Research on DAB-IBDC focused on characterization, control strategies, soft-switching techniques, and hardware optimization. [3]</a:t>
            </a:r>
          </a:p>
          <a:p>
            <a:pPr marL="377845" lvl="1" indent="-188923" algn="just">
              <a:lnSpc>
                <a:spcPct val="150000"/>
              </a:lnSpc>
              <a:buClr>
                <a:srgbClr val="0000FF"/>
              </a:buClr>
              <a:buFont typeface="Arial"/>
              <a:buChar char="•"/>
            </a:pPr>
            <a:r>
              <a:rPr lang="en-US" sz="1700" spc="73" dirty="0">
                <a:solidFill>
                  <a:schemeClr val="tx1"/>
                </a:solidFill>
                <a:latin typeface="Times New Roman" panose="02020603050405020304" pitchFamily="18" charset="0"/>
                <a:ea typeface="Times New Roman"/>
                <a:cs typeface="Times New Roman" panose="02020603050405020304" pitchFamily="18" charset="0"/>
                <a:sym typeface="Times New Roman"/>
              </a:rPr>
              <a:t>The transmission power of an IBDC scales with the number of switches, giving DAB-IBDC (8 switches) the highest power capacity. [3]</a:t>
            </a:r>
          </a:p>
          <a:p>
            <a:pPr marL="377845" lvl="1" indent="-188923" algn="just">
              <a:lnSpc>
                <a:spcPct val="150000"/>
              </a:lnSpc>
              <a:buClr>
                <a:srgbClr val="0000FF"/>
              </a:buClr>
              <a:buFont typeface="Arial"/>
              <a:buChar char="•"/>
            </a:pPr>
            <a:r>
              <a:rPr lang="en-US" sz="1700" spc="73" dirty="0">
                <a:solidFill>
                  <a:schemeClr val="tx1"/>
                </a:solidFill>
                <a:latin typeface="Times New Roman" panose="02020603050405020304" pitchFamily="18" charset="0"/>
                <a:ea typeface="Times New Roman"/>
                <a:cs typeface="Times New Roman" panose="02020603050405020304" pitchFamily="18" charset="0"/>
                <a:sym typeface="Times New Roman"/>
              </a:rPr>
              <a:t>Under SPS control, voltage mismatch across ports in a DAB causes high circulating power and limited zero-voltage switching. [4]</a:t>
            </a:r>
          </a:p>
        </p:txBody>
      </p:sp>
      <p:sp>
        <p:nvSpPr>
          <p:cNvPr id="5" name="TextBox 4">
            <a:extLst>
              <a:ext uri="{FF2B5EF4-FFF2-40B4-BE49-F238E27FC236}">
                <a16:creationId xmlns:a16="http://schemas.microsoft.com/office/drawing/2014/main" id="{CEC7AFC3-AAF3-88CF-6B59-5C456AE81F79}"/>
              </a:ext>
            </a:extLst>
          </p:cNvPr>
          <p:cNvSpPr txBox="1"/>
          <p:nvPr/>
        </p:nvSpPr>
        <p:spPr>
          <a:xfrm>
            <a:off x="11624146" y="6584221"/>
            <a:ext cx="532490" cy="323165"/>
          </a:xfrm>
          <a:prstGeom prst="rect">
            <a:avLst/>
          </a:prstGeom>
          <a:noFill/>
        </p:spPr>
        <p:txBody>
          <a:bodyPr wrap="square" rtlCol="0">
            <a:spAutoFit/>
          </a:bodyPr>
          <a:lstStyle/>
          <a:p>
            <a:r>
              <a:rPr lang="en-IN" sz="1500" dirty="0">
                <a:solidFill>
                  <a:schemeClr val="bg1"/>
                </a:solidFill>
                <a:latin typeface="Times New Roman" panose="02020603050405020304" pitchFamily="18" charset="0"/>
                <a:cs typeface="Times New Roman" panose="02020603050405020304" pitchFamily="18" charset="0"/>
              </a:rPr>
              <a:t>2/12</a:t>
            </a:r>
          </a:p>
        </p:txBody>
      </p:sp>
      <p:sp>
        <p:nvSpPr>
          <p:cNvPr id="6" name="TextBox 14">
            <a:extLst>
              <a:ext uri="{FF2B5EF4-FFF2-40B4-BE49-F238E27FC236}">
                <a16:creationId xmlns:a16="http://schemas.microsoft.com/office/drawing/2014/main" id="{86404CE3-0A18-FE0F-BADD-9D2FB0F7837B}"/>
              </a:ext>
            </a:extLst>
          </p:cNvPr>
          <p:cNvSpPr txBox="1"/>
          <p:nvPr/>
        </p:nvSpPr>
        <p:spPr>
          <a:xfrm>
            <a:off x="3684566" y="103586"/>
            <a:ext cx="4822870" cy="320601"/>
          </a:xfrm>
          <a:prstGeom prst="rect">
            <a:avLst/>
          </a:prstGeom>
        </p:spPr>
        <p:txBody>
          <a:bodyPr lIns="0" tIns="0" rIns="0" bIns="0" rtlCol="0" anchor="t">
            <a:spAutoFit/>
          </a:bodyPr>
          <a:lstStyle/>
          <a:p>
            <a:pPr algn="ctr">
              <a:lnSpc>
                <a:spcPts val="2451"/>
              </a:lnSpc>
              <a:spcBef>
                <a:spcPct val="0"/>
              </a:spcBef>
            </a:pPr>
            <a:r>
              <a:rPr lang="en-US" sz="2333" dirty="0">
                <a:solidFill>
                  <a:srgbClr val="FFFFFF"/>
                </a:solidFill>
                <a:latin typeface="Book Antiqua" panose="02040602050305030304" pitchFamily="18" charset="0"/>
                <a:ea typeface="League Spartan"/>
                <a:cs typeface="Times New Roman" panose="02020603050405020304" pitchFamily="18" charset="0"/>
                <a:sym typeface="League Spartan"/>
              </a:rPr>
              <a:t>Literature review</a:t>
            </a:r>
          </a:p>
        </p:txBody>
      </p:sp>
    </p:spTree>
    <p:extLst>
      <p:ext uri="{BB962C8B-B14F-4D97-AF65-F5344CB8AC3E}">
        <p14:creationId xmlns:p14="http://schemas.microsoft.com/office/powerpoint/2010/main" val="3597526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3295007282"/>
              </p:ext>
            </p:extLst>
          </p:nvPr>
        </p:nvGraphicFramePr>
        <p:xfrm>
          <a:off x="152400" y="562991"/>
          <a:ext cx="11887200" cy="3238295"/>
        </p:xfrm>
        <a:graphic>
          <a:graphicData uri="http://schemas.openxmlformats.org/drawingml/2006/table">
            <a:tbl>
              <a:tblPr firstRow="1" bandRow="1">
                <a:effectLst>
                  <a:outerShdw blurRad="50800" dist="38100" dir="5400000" algn="t" rotWithShape="0">
                    <a:prstClr val="black">
                      <a:alpha val="40000"/>
                    </a:prstClr>
                  </a:outerShdw>
                </a:effectLst>
                <a:tableStyleId>{2D5ABB26-0587-4C30-8999-92F81FD0307C}</a:tableStyleId>
              </a:tblPr>
              <a:tblGrid>
                <a:gridCol w="11887200">
                  <a:extLst>
                    <a:ext uri="{9D8B030D-6E8A-4147-A177-3AD203B41FA5}">
                      <a16:colId xmlns:a16="http://schemas.microsoft.com/office/drawing/2014/main" val="1988344849"/>
                    </a:ext>
                  </a:extLst>
                </a:gridCol>
              </a:tblGrid>
              <a:tr h="518846">
                <a:tc>
                  <a:txBody>
                    <a:bodyPr/>
                    <a:lstStyle/>
                    <a:p>
                      <a:pPr marL="283369" marR="0" lvl="1" indent="0" algn="just" defTabSz="914327" rtl="0" eaLnBrk="1" fontAlgn="auto" latinLnBrk="0" hangingPunct="1">
                        <a:lnSpc>
                          <a:spcPct val="150000"/>
                        </a:lnSpc>
                        <a:spcBef>
                          <a:spcPts val="0"/>
                        </a:spcBef>
                        <a:spcAft>
                          <a:spcPts val="0"/>
                        </a:spcAft>
                        <a:buClrTx/>
                        <a:buSzTx/>
                        <a:buFont typeface="Arial"/>
                        <a:buNone/>
                        <a:tabLst/>
                        <a:defRPr/>
                      </a:pPr>
                      <a:r>
                        <a:rPr kumimoji="0" lang="en-US" sz="1700" b="0" i="0" u="none" strike="noStrike" kern="1200" cap="none" spc="110" normalizeH="0" baseline="0" noProof="0" dirty="0">
                          <a:ln>
                            <a:noFill/>
                          </a:ln>
                          <a:solidFill>
                            <a:srgbClr val="000000"/>
                          </a:solidFill>
                          <a:effectLst/>
                          <a:uLnTx/>
                          <a:uFillTx/>
                          <a:latin typeface="Times New Roman" panose="02020603050405020304" pitchFamily="18" charset="0"/>
                          <a:ea typeface="Times New Roman"/>
                          <a:cs typeface="Times New Roman" panose="02020603050405020304" pitchFamily="18" charset="0"/>
                          <a:sym typeface="Times New Roman"/>
                        </a:rPr>
                        <a:t>Motivation:</a:t>
                      </a: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072934682"/>
                  </a:ext>
                </a:extLst>
              </a:tr>
              <a:tr h="2670668">
                <a:tc>
                  <a:txBody>
                    <a:bodyPr/>
                    <a:lstStyle/>
                    <a:p>
                      <a:pPr marL="566739" lvl="1" indent="-283370" algn="just">
                        <a:lnSpc>
                          <a:spcPct val="150000"/>
                        </a:lnSpc>
                        <a:buClr>
                          <a:srgbClr val="0000FF"/>
                        </a:buClr>
                        <a:buFont typeface="Arial"/>
                        <a:buChar char="•"/>
                      </a:pPr>
                      <a:r>
                        <a:rPr lang="en-US" sz="1700" b="1" dirty="0">
                          <a:latin typeface="Times New Roman" panose="02020603050405020304" pitchFamily="18" charset="0"/>
                          <a:cs typeface="Times New Roman" panose="02020603050405020304" pitchFamily="18" charset="0"/>
                        </a:rPr>
                        <a:t>Medium-voltage batteries (60 V)</a:t>
                      </a:r>
                      <a:r>
                        <a:rPr lang="en-US" sz="1700" dirty="0">
                          <a:latin typeface="Times New Roman" panose="02020603050405020304" pitchFamily="18" charset="0"/>
                          <a:cs typeface="Times New Roman" panose="02020603050405020304" pitchFamily="18" charset="0"/>
                        </a:rPr>
                        <a:t>, commonly used in </a:t>
                      </a:r>
                      <a:r>
                        <a:rPr lang="en-US" sz="1700" b="1" dirty="0">
                          <a:latin typeface="Times New Roman" panose="02020603050405020304" pitchFamily="18" charset="0"/>
                          <a:cs typeface="Times New Roman" panose="02020603050405020304" pitchFamily="18" charset="0"/>
                        </a:rPr>
                        <a:t>electric two-wheelers and light EVs</a:t>
                      </a:r>
                      <a:r>
                        <a:rPr lang="en-US" sz="1700" dirty="0">
                          <a:latin typeface="Times New Roman" panose="02020603050405020304" pitchFamily="18" charset="0"/>
                          <a:cs typeface="Times New Roman" panose="02020603050405020304" pitchFamily="18" charset="0"/>
                        </a:rPr>
                        <a:t>, require </a:t>
                      </a:r>
                      <a:r>
                        <a:rPr lang="en-US" sz="1700" b="1" dirty="0">
                          <a:latin typeface="Times New Roman" panose="02020603050405020304" pitchFamily="18" charset="0"/>
                          <a:cs typeface="Times New Roman" panose="02020603050405020304" pitchFamily="18" charset="0"/>
                        </a:rPr>
                        <a:t>high-efficiency converters</a:t>
                      </a:r>
                      <a:r>
                        <a:rPr lang="en-US" sz="1700" dirty="0">
                          <a:latin typeface="Times New Roman" panose="02020603050405020304" pitchFamily="18" charset="0"/>
                          <a:cs typeface="Times New Roman" panose="02020603050405020304" pitchFamily="18" charset="0"/>
                        </a:rPr>
                        <a:t> to maximize driving range and minimize charging losses.</a:t>
                      </a:r>
                      <a:endParaRPr lang="en-IN" sz="1700" spc="11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566739" marR="0" lvl="1" indent="-283370" algn="just" defTabSz="914400" rtl="0" eaLnBrk="1" fontAlgn="auto" latinLnBrk="0" hangingPunct="1">
                        <a:lnSpc>
                          <a:spcPct val="150000"/>
                        </a:lnSpc>
                        <a:spcBef>
                          <a:spcPts val="0"/>
                        </a:spcBef>
                        <a:spcAft>
                          <a:spcPts val="0"/>
                        </a:spcAft>
                        <a:buClr>
                          <a:srgbClr val="0000FF"/>
                        </a:buClr>
                        <a:buSzTx/>
                        <a:buFont typeface="Arial"/>
                        <a:buChar char="•"/>
                        <a:tabLst/>
                        <a:defRPr/>
                      </a:pPr>
                      <a:r>
                        <a:rPr lang="en-US" sz="1700" dirty="0">
                          <a:latin typeface="Times New Roman" panose="02020603050405020304" pitchFamily="18" charset="0"/>
                          <a:cs typeface="Times New Roman" panose="02020603050405020304" pitchFamily="18" charset="0"/>
                        </a:rPr>
                        <a:t>To achieve this, </a:t>
                      </a:r>
                      <a:r>
                        <a:rPr lang="en-US" sz="1700" b="1" dirty="0">
                          <a:latin typeface="Times New Roman" panose="02020603050405020304" pitchFamily="18" charset="0"/>
                          <a:cs typeface="Times New Roman" panose="02020603050405020304" pitchFamily="18" charset="0"/>
                        </a:rPr>
                        <a:t>wide-bandgap semiconductor devices</a:t>
                      </a:r>
                      <a:r>
                        <a:rPr lang="en-US" sz="1700" dirty="0">
                          <a:latin typeface="Times New Roman" panose="02020603050405020304" pitchFamily="18" charset="0"/>
                          <a:cs typeface="Times New Roman" panose="02020603050405020304" pitchFamily="18" charset="0"/>
                        </a:rPr>
                        <a:t>, especially </a:t>
                      </a:r>
                      <a:r>
                        <a:rPr lang="en-US" sz="1700" b="1" dirty="0">
                          <a:latin typeface="Times New Roman" panose="02020603050405020304" pitchFamily="18" charset="0"/>
                          <a:cs typeface="Times New Roman" panose="02020603050405020304" pitchFamily="18" charset="0"/>
                        </a:rPr>
                        <a:t>Silicon Carbide (SiC) MOSFETs</a:t>
                      </a:r>
                      <a:r>
                        <a:rPr lang="en-US" sz="1700" dirty="0">
                          <a:latin typeface="Times New Roman" panose="02020603050405020304" pitchFamily="18" charset="0"/>
                          <a:cs typeface="Times New Roman" panose="02020603050405020304" pitchFamily="18" charset="0"/>
                        </a:rPr>
                        <a:t>, are essential due to their </a:t>
                      </a:r>
                      <a:r>
                        <a:rPr lang="en-US" sz="1700" b="1" dirty="0">
                          <a:latin typeface="Times New Roman" panose="02020603050405020304" pitchFamily="18" charset="0"/>
                          <a:cs typeface="Times New Roman" panose="02020603050405020304" pitchFamily="18" charset="0"/>
                        </a:rPr>
                        <a:t>lower conduction losses</a:t>
                      </a:r>
                      <a:r>
                        <a:rPr lang="en-US" sz="1700" dirty="0">
                          <a:latin typeface="Times New Roman" panose="02020603050405020304" pitchFamily="18" charset="0"/>
                          <a:cs typeface="Times New Roman" panose="02020603050405020304" pitchFamily="18" charset="0"/>
                        </a:rPr>
                        <a:t> and </a:t>
                      </a:r>
                      <a:r>
                        <a:rPr lang="en-US" sz="1700" b="1" dirty="0">
                          <a:latin typeface="Times New Roman" panose="02020603050405020304" pitchFamily="18" charset="0"/>
                          <a:cs typeface="Times New Roman" panose="02020603050405020304" pitchFamily="18" charset="0"/>
                        </a:rPr>
                        <a:t>faster switching capability</a:t>
                      </a:r>
                      <a:r>
                        <a:rPr lang="en-US" sz="1700" dirty="0">
                          <a:latin typeface="Times New Roman" panose="02020603050405020304" pitchFamily="18" charset="0"/>
                          <a:cs typeface="Times New Roman" panose="02020603050405020304" pitchFamily="18" charset="0"/>
                        </a:rPr>
                        <a:t>.</a:t>
                      </a:r>
                      <a:endParaRPr lang="en-IN" sz="1700" spc="11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566739" marR="0" lvl="1" indent="-283370" algn="just" defTabSz="914400" rtl="0" eaLnBrk="1" fontAlgn="auto" latinLnBrk="0" hangingPunct="1">
                        <a:lnSpc>
                          <a:spcPct val="150000"/>
                        </a:lnSpc>
                        <a:spcBef>
                          <a:spcPts val="0"/>
                        </a:spcBef>
                        <a:spcAft>
                          <a:spcPts val="0"/>
                        </a:spcAft>
                        <a:buClr>
                          <a:srgbClr val="0000FF"/>
                        </a:buClr>
                        <a:buSzTx/>
                        <a:buFont typeface="Arial"/>
                        <a:buChar char="•"/>
                        <a:tabLst/>
                        <a:defRPr/>
                      </a:pPr>
                      <a:r>
                        <a:rPr lang="en-US" sz="1700" dirty="0">
                          <a:latin typeface="Times New Roman" panose="02020603050405020304" pitchFamily="18" charset="0"/>
                          <a:cs typeface="Times New Roman" panose="02020603050405020304" pitchFamily="18" charset="0"/>
                        </a:rPr>
                        <a:t>SiC devices enable </a:t>
                      </a:r>
                      <a:r>
                        <a:rPr lang="en-US" sz="1700" b="1" dirty="0">
                          <a:latin typeface="Times New Roman" panose="02020603050405020304" pitchFamily="18" charset="0"/>
                          <a:cs typeface="Times New Roman" panose="02020603050405020304" pitchFamily="18" charset="0"/>
                        </a:rPr>
                        <a:t>higher switching frequencies</a:t>
                      </a:r>
                      <a:r>
                        <a:rPr lang="en-US" sz="1700" dirty="0">
                          <a:latin typeface="Times New Roman" panose="02020603050405020304" pitchFamily="18" charset="0"/>
                          <a:cs typeface="Times New Roman" panose="02020603050405020304" pitchFamily="18" charset="0"/>
                        </a:rPr>
                        <a:t>, resulting in </a:t>
                      </a:r>
                      <a:r>
                        <a:rPr lang="en-US" sz="1700" b="1" dirty="0">
                          <a:latin typeface="Times New Roman" panose="02020603050405020304" pitchFamily="18" charset="0"/>
                          <a:cs typeface="Times New Roman" panose="02020603050405020304" pitchFamily="18" charset="0"/>
                        </a:rPr>
                        <a:t>smaller passive components</a:t>
                      </a:r>
                      <a:r>
                        <a:rPr lang="en-US" sz="1700" dirty="0">
                          <a:latin typeface="Times New Roman" panose="02020603050405020304" pitchFamily="18" charset="0"/>
                          <a:cs typeface="Times New Roman" panose="02020603050405020304" pitchFamily="18" charset="0"/>
                        </a:rPr>
                        <a:t> and </a:t>
                      </a:r>
                      <a:r>
                        <a:rPr lang="en-US" sz="1700" b="1" dirty="0">
                          <a:latin typeface="Times New Roman" panose="02020603050405020304" pitchFamily="18" charset="0"/>
                          <a:cs typeface="Times New Roman" panose="02020603050405020304" pitchFamily="18" charset="0"/>
                        </a:rPr>
                        <a:t>improved overall efficiency</a:t>
                      </a:r>
                      <a:r>
                        <a:rPr lang="en-US" sz="1700" dirty="0">
                          <a:latin typeface="Times New Roman" panose="02020603050405020304" pitchFamily="18" charset="0"/>
                          <a:cs typeface="Times New Roman" panose="02020603050405020304" pitchFamily="18" charset="0"/>
                        </a:rPr>
                        <a:t>.</a:t>
                      </a:r>
                      <a:endParaRPr lang="en-IN" sz="1700" spc="11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566739" marR="0" lvl="1" indent="-283370" algn="just" defTabSz="914400" rtl="0" eaLnBrk="1" fontAlgn="auto" latinLnBrk="0" hangingPunct="1">
                        <a:lnSpc>
                          <a:spcPct val="150000"/>
                        </a:lnSpc>
                        <a:spcBef>
                          <a:spcPts val="0"/>
                        </a:spcBef>
                        <a:spcAft>
                          <a:spcPts val="0"/>
                        </a:spcAft>
                        <a:buClr>
                          <a:srgbClr val="0000FF"/>
                        </a:buClr>
                        <a:buSzTx/>
                        <a:buFont typeface="Arial"/>
                        <a:buChar char="•"/>
                        <a:tabLst/>
                        <a:defRPr/>
                      </a:pPr>
                      <a:r>
                        <a:rPr lang="en-US" sz="1700" dirty="0">
                          <a:latin typeface="Times New Roman" panose="02020603050405020304" pitchFamily="18" charset="0"/>
                          <a:cs typeface="Times New Roman" panose="02020603050405020304" pitchFamily="18" charset="0"/>
                        </a:rPr>
                        <a:t>Therefore, this project focuses on the </a:t>
                      </a:r>
                      <a:r>
                        <a:rPr lang="en-US" sz="1700" b="1" dirty="0">
                          <a:latin typeface="Times New Roman" panose="02020603050405020304" pitchFamily="18" charset="0"/>
                          <a:cs typeface="Times New Roman" panose="02020603050405020304" pitchFamily="18" charset="0"/>
                        </a:rPr>
                        <a:t>design and development of a SiC-based Dual Active Bridge (DAB) converter</a:t>
                      </a:r>
                      <a:r>
                        <a:rPr lang="en-US" sz="1700" dirty="0">
                          <a:latin typeface="Times New Roman" panose="02020603050405020304" pitchFamily="18" charset="0"/>
                          <a:cs typeface="Times New Roman" panose="02020603050405020304" pitchFamily="18" charset="0"/>
                        </a:rPr>
                        <a:t> aimed at </a:t>
                      </a:r>
                      <a:r>
                        <a:rPr lang="en-US" sz="1700" b="1" dirty="0">
                          <a:latin typeface="Times New Roman" panose="02020603050405020304" pitchFamily="18" charset="0"/>
                          <a:cs typeface="Times New Roman" panose="02020603050405020304" pitchFamily="18" charset="0"/>
                        </a:rPr>
                        <a:t>high-efficiency EV battery charging applications</a:t>
                      </a:r>
                      <a:r>
                        <a:rPr lang="en-US" sz="1700" dirty="0">
                          <a:latin typeface="Times New Roman" panose="02020603050405020304" pitchFamily="18" charset="0"/>
                          <a:cs typeface="Times New Roman" panose="02020603050405020304" pitchFamily="18" charset="0"/>
                        </a:rPr>
                        <a:t>.</a:t>
                      </a:r>
                      <a:endParaRPr lang="en-IN" sz="1700" spc="11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8605795"/>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235993253"/>
              </p:ext>
            </p:extLst>
          </p:nvPr>
        </p:nvGraphicFramePr>
        <p:xfrm>
          <a:off x="152400" y="4006574"/>
          <a:ext cx="11887200" cy="2377438"/>
        </p:xfrm>
        <a:graphic>
          <a:graphicData uri="http://schemas.openxmlformats.org/drawingml/2006/table">
            <a:tbl>
              <a:tblPr firstRow="1" bandRow="1">
                <a:effectLst>
                  <a:outerShdw blurRad="50800" dist="38100" dir="5400000" algn="t" rotWithShape="0">
                    <a:prstClr val="black">
                      <a:alpha val="40000"/>
                    </a:prstClr>
                  </a:outerShdw>
                </a:effectLst>
                <a:tableStyleId>{2D5ABB26-0587-4C30-8999-92F81FD0307C}</a:tableStyleId>
              </a:tblPr>
              <a:tblGrid>
                <a:gridCol w="11887200">
                  <a:extLst>
                    <a:ext uri="{9D8B030D-6E8A-4147-A177-3AD203B41FA5}">
                      <a16:colId xmlns:a16="http://schemas.microsoft.com/office/drawing/2014/main" val="1988344849"/>
                    </a:ext>
                  </a:extLst>
                </a:gridCol>
              </a:tblGrid>
              <a:tr h="426719">
                <a:tc>
                  <a:txBody>
                    <a:bodyPr/>
                    <a:lstStyle/>
                    <a:p>
                      <a:pPr marL="283369" marR="0" lvl="1" indent="0" algn="just" defTabSz="914327" rtl="0" eaLnBrk="1" fontAlgn="auto" latinLnBrk="0" hangingPunct="1">
                        <a:lnSpc>
                          <a:spcPct val="150000"/>
                        </a:lnSpc>
                        <a:spcBef>
                          <a:spcPts val="0"/>
                        </a:spcBef>
                        <a:spcAft>
                          <a:spcPts val="0"/>
                        </a:spcAft>
                        <a:buClrTx/>
                        <a:buSzTx/>
                        <a:buFont typeface="Arial"/>
                        <a:buNone/>
                        <a:tabLst/>
                        <a:defRPr/>
                      </a:pPr>
                      <a:r>
                        <a:rPr kumimoji="0" lang="en-US" sz="1700" b="0" i="0" u="none" strike="noStrike" kern="1200" cap="none" spc="110" normalizeH="0" baseline="0" noProof="0" dirty="0">
                          <a:ln>
                            <a:noFill/>
                          </a:ln>
                          <a:solidFill>
                            <a:srgbClr val="000000"/>
                          </a:solidFill>
                          <a:effectLst/>
                          <a:uLnTx/>
                          <a:uFillTx/>
                          <a:latin typeface="Times New Roman" panose="02020603050405020304" pitchFamily="18" charset="0"/>
                          <a:ea typeface="Times New Roman"/>
                          <a:cs typeface="Times New Roman" panose="02020603050405020304" pitchFamily="18" charset="0"/>
                          <a:sym typeface="Times New Roman"/>
                        </a:rPr>
                        <a:t>Objectives:</a:t>
                      </a: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072934682"/>
                  </a:ext>
                </a:extLst>
              </a:tr>
              <a:tr h="1950719">
                <a:tc>
                  <a:txBody>
                    <a:bodyPr/>
                    <a:lstStyle/>
                    <a:p>
                      <a:pPr marL="566739" lvl="1" indent="-283370" algn="just">
                        <a:lnSpc>
                          <a:spcPct val="150000"/>
                        </a:lnSpc>
                        <a:buClr>
                          <a:srgbClr val="0000FF"/>
                        </a:buClr>
                        <a:buFont typeface="Arial"/>
                        <a:buChar char="•"/>
                      </a:pPr>
                      <a:r>
                        <a:rPr lang="en-US" sz="1700" dirty="0">
                          <a:latin typeface="Times New Roman" panose="02020603050405020304" pitchFamily="18" charset="0"/>
                          <a:cs typeface="Times New Roman" panose="02020603050405020304" pitchFamily="18" charset="0"/>
                        </a:rPr>
                        <a:t>To develop a </a:t>
                      </a:r>
                      <a:r>
                        <a:rPr lang="en-US" sz="1700" b="1" dirty="0">
                          <a:latin typeface="Times New Roman" panose="02020603050405020304" pitchFamily="18" charset="0"/>
                          <a:cs typeface="Times New Roman" panose="02020603050405020304" pitchFamily="18" charset="0"/>
                        </a:rPr>
                        <a:t>SiC-based DAB converter model</a:t>
                      </a:r>
                      <a:r>
                        <a:rPr lang="en-US" sz="1700" dirty="0">
                          <a:latin typeface="Times New Roman" panose="02020603050405020304" pitchFamily="18" charset="0"/>
                          <a:cs typeface="Times New Roman" panose="02020603050405020304" pitchFamily="18" charset="0"/>
                        </a:rPr>
                        <a:t> with </a:t>
                      </a:r>
                      <a:r>
                        <a:rPr lang="en-US" sz="1700" b="1" dirty="0">
                          <a:latin typeface="Times New Roman" panose="02020603050405020304" pitchFamily="18" charset="0"/>
                          <a:cs typeface="Times New Roman" panose="02020603050405020304" pitchFamily="18" charset="0"/>
                        </a:rPr>
                        <a:t>SPS control</a:t>
                      </a:r>
                      <a:r>
                        <a:rPr lang="en-US" sz="1700" dirty="0">
                          <a:latin typeface="Times New Roman" panose="02020603050405020304" pitchFamily="18" charset="0"/>
                          <a:cs typeface="Times New Roman" panose="02020603050405020304" pitchFamily="18" charset="0"/>
                        </a:rPr>
                        <a:t> for  battery load.</a:t>
                      </a:r>
                      <a:endParaRPr lang="en-IN" sz="1700" spc="11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566739" marR="0" lvl="1" indent="-283370" algn="just" defTabSz="914400" rtl="0" eaLnBrk="1" fontAlgn="auto" latinLnBrk="0" hangingPunct="1">
                        <a:lnSpc>
                          <a:spcPct val="150000"/>
                        </a:lnSpc>
                        <a:spcBef>
                          <a:spcPts val="0"/>
                        </a:spcBef>
                        <a:spcAft>
                          <a:spcPts val="0"/>
                        </a:spcAft>
                        <a:buClr>
                          <a:srgbClr val="0000FF"/>
                        </a:buClr>
                        <a:buSzTx/>
                        <a:buFont typeface="Arial"/>
                        <a:buChar char="•"/>
                        <a:tabLst/>
                        <a:defRPr/>
                      </a:pPr>
                      <a:r>
                        <a:rPr lang="en-US" sz="1700" b="1" dirty="0">
                          <a:latin typeface="Times New Roman" panose="02020603050405020304" pitchFamily="18" charset="0"/>
                          <a:cs typeface="Times New Roman" panose="02020603050405020304" pitchFamily="18" charset="0"/>
                        </a:rPr>
                        <a:t>To optimize performance</a:t>
                      </a:r>
                      <a:r>
                        <a:rPr lang="en-US" sz="1700" dirty="0">
                          <a:latin typeface="Times New Roman" panose="02020603050405020304" pitchFamily="18" charset="0"/>
                          <a:cs typeface="Times New Roman" panose="02020603050405020304" pitchFamily="18" charset="0"/>
                        </a:rPr>
                        <a:t> by analyzing the effect of </a:t>
                      </a:r>
                      <a:r>
                        <a:rPr lang="en-US" sz="1700" b="1" dirty="0">
                          <a:latin typeface="Times New Roman" panose="02020603050405020304" pitchFamily="18" charset="0"/>
                          <a:cs typeface="Times New Roman" panose="02020603050405020304" pitchFamily="18" charset="0"/>
                        </a:rPr>
                        <a:t>leakage inductance</a:t>
                      </a:r>
                      <a:r>
                        <a:rPr lang="en-US" sz="1700" dirty="0">
                          <a:latin typeface="Times New Roman" panose="02020603050405020304" pitchFamily="18" charset="0"/>
                          <a:cs typeface="Times New Roman" panose="02020603050405020304" pitchFamily="18" charset="0"/>
                        </a:rPr>
                        <a:t> and </a:t>
                      </a:r>
                      <a:r>
                        <a:rPr lang="en-US" sz="1700" b="1" dirty="0">
                          <a:latin typeface="Times New Roman" panose="02020603050405020304" pitchFamily="18" charset="0"/>
                          <a:cs typeface="Times New Roman" panose="02020603050405020304" pitchFamily="18" charset="0"/>
                        </a:rPr>
                        <a:t>phase shift</a:t>
                      </a:r>
                      <a:r>
                        <a:rPr lang="en-US" sz="1700" dirty="0">
                          <a:latin typeface="Times New Roman" panose="02020603050405020304" pitchFamily="18" charset="0"/>
                          <a:cs typeface="Times New Roman" panose="02020603050405020304" pitchFamily="18" charset="0"/>
                        </a:rPr>
                        <a:t> on efficiency and output power.</a:t>
                      </a:r>
                      <a:endParaRPr lang="en-IN" sz="1700" spc="11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566739" marR="0" lvl="1" indent="-283370" algn="just" defTabSz="914400" rtl="0" eaLnBrk="1" fontAlgn="auto" latinLnBrk="0" hangingPunct="1">
                        <a:lnSpc>
                          <a:spcPct val="150000"/>
                        </a:lnSpc>
                        <a:spcBef>
                          <a:spcPts val="0"/>
                        </a:spcBef>
                        <a:spcAft>
                          <a:spcPts val="0"/>
                        </a:spcAft>
                        <a:buClr>
                          <a:srgbClr val="0000FF"/>
                        </a:buClr>
                        <a:buSzTx/>
                        <a:buFont typeface="Arial"/>
                        <a:buChar char="•"/>
                        <a:tabLst/>
                        <a:defRPr/>
                      </a:pPr>
                      <a:r>
                        <a:rPr lang="en-US" sz="1700" dirty="0">
                          <a:latin typeface="Times New Roman" panose="02020603050405020304" pitchFamily="18" charset="0"/>
                          <a:cs typeface="Times New Roman" panose="02020603050405020304" pitchFamily="18" charset="0"/>
                        </a:rPr>
                        <a:t>To implement a </a:t>
                      </a:r>
                      <a:r>
                        <a:rPr lang="en-US" sz="1700" b="1" dirty="0">
                          <a:latin typeface="Times New Roman" panose="02020603050405020304" pitchFamily="18" charset="0"/>
                          <a:cs typeface="Times New Roman" panose="02020603050405020304" pitchFamily="18" charset="0"/>
                        </a:rPr>
                        <a:t>closed-loop SPS control</a:t>
                      </a:r>
                      <a:r>
                        <a:rPr lang="en-US" sz="1700" dirty="0">
                          <a:latin typeface="Times New Roman" panose="02020603050405020304" pitchFamily="18" charset="0"/>
                          <a:cs typeface="Times New Roman" panose="02020603050405020304" pitchFamily="18" charset="0"/>
                        </a:rPr>
                        <a:t> with </a:t>
                      </a:r>
                      <a:r>
                        <a:rPr lang="en-US" sz="1700" b="1" dirty="0">
                          <a:latin typeface="Times New Roman" panose="02020603050405020304" pitchFamily="18" charset="0"/>
                          <a:cs typeface="Times New Roman" panose="02020603050405020304" pitchFamily="18" charset="0"/>
                        </a:rPr>
                        <a:t>CC–CV charging algorithm</a:t>
                      </a:r>
                      <a:r>
                        <a:rPr lang="en-US" sz="1700" dirty="0">
                          <a:latin typeface="Times New Roman" panose="02020603050405020304" pitchFamily="18" charset="0"/>
                          <a:cs typeface="Times New Roman" panose="02020603050405020304" pitchFamily="18" charset="0"/>
                        </a:rPr>
                        <a:t> for precise regulation.</a:t>
                      </a:r>
                      <a:endParaRPr lang="en-IN" sz="1700" spc="11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566739" marR="0" lvl="1" indent="-283370" algn="just" defTabSz="914400" rtl="0" eaLnBrk="1" fontAlgn="auto" latinLnBrk="0" hangingPunct="1">
                        <a:lnSpc>
                          <a:spcPct val="150000"/>
                        </a:lnSpc>
                        <a:spcBef>
                          <a:spcPts val="0"/>
                        </a:spcBef>
                        <a:spcAft>
                          <a:spcPts val="0"/>
                        </a:spcAft>
                        <a:buClr>
                          <a:srgbClr val="0000FF"/>
                        </a:buClr>
                        <a:buSzTx/>
                        <a:buFont typeface="Arial"/>
                        <a:buChar char="•"/>
                        <a:tabLst/>
                        <a:defRPr/>
                      </a:pPr>
                      <a:r>
                        <a:rPr lang="en-US" sz="1700" b="1" dirty="0">
                          <a:latin typeface="Times New Roman" panose="02020603050405020304" pitchFamily="18" charset="0"/>
                          <a:cs typeface="Times New Roman" panose="02020603050405020304" pitchFamily="18" charset="0"/>
                        </a:rPr>
                        <a:t>To validate through hardware testing</a:t>
                      </a:r>
                      <a:r>
                        <a:rPr lang="en-US" sz="1700" dirty="0">
                          <a:latin typeface="Times New Roman" panose="02020603050405020304" pitchFamily="18" charset="0"/>
                          <a:cs typeface="Times New Roman" panose="02020603050405020304" pitchFamily="18" charset="0"/>
                        </a:rPr>
                        <a:t> to confirm simulation accuracy and high-efficiency operation.</a:t>
                      </a:r>
                      <a:endParaRPr lang="en-IN" sz="1700" spc="11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8605795"/>
                  </a:ext>
                </a:extLst>
              </a:tr>
            </a:tbl>
          </a:graphicData>
        </a:graphic>
      </p:graphicFrame>
      <p:sp>
        <p:nvSpPr>
          <p:cNvPr id="9" name="TextBox 8"/>
          <p:cNvSpPr txBox="1"/>
          <p:nvPr/>
        </p:nvSpPr>
        <p:spPr>
          <a:xfrm>
            <a:off x="11624146" y="6584221"/>
            <a:ext cx="532490" cy="323165"/>
          </a:xfrm>
          <a:prstGeom prst="rect">
            <a:avLst/>
          </a:prstGeom>
          <a:noFill/>
        </p:spPr>
        <p:txBody>
          <a:bodyPr wrap="square" rtlCol="0">
            <a:spAutoFit/>
          </a:bodyPr>
          <a:lstStyle/>
          <a:p>
            <a:r>
              <a:rPr lang="en-IN" sz="1500" dirty="0">
                <a:solidFill>
                  <a:schemeClr val="bg1"/>
                </a:solidFill>
                <a:latin typeface="Times New Roman" panose="02020603050405020304" pitchFamily="18" charset="0"/>
                <a:cs typeface="Times New Roman" panose="02020603050405020304" pitchFamily="18" charset="0"/>
              </a:rPr>
              <a:t>3/12</a:t>
            </a:r>
          </a:p>
        </p:txBody>
      </p:sp>
      <p:sp>
        <p:nvSpPr>
          <p:cNvPr id="10" name="TextBox 14"/>
          <p:cNvSpPr txBox="1"/>
          <p:nvPr/>
        </p:nvSpPr>
        <p:spPr>
          <a:xfrm>
            <a:off x="3684566" y="103586"/>
            <a:ext cx="4822870" cy="320601"/>
          </a:xfrm>
          <a:prstGeom prst="rect">
            <a:avLst/>
          </a:prstGeom>
        </p:spPr>
        <p:txBody>
          <a:bodyPr lIns="0" tIns="0" rIns="0" bIns="0" rtlCol="0" anchor="t">
            <a:spAutoFit/>
          </a:bodyPr>
          <a:lstStyle/>
          <a:p>
            <a:pPr algn="ctr">
              <a:lnSpc>
                <a:spcPts val="2451"/>
              </a:lnSpc>
              <a:spcBef>
                <a:spcPct val="0"/>
              </a:spcBef>
            </a:pPr>
            <a:r>
              <a:rPr lang="en-US" sz="2333" dirty="0">
                <a:solidFill>
                  <a:srgbClr val="FFFFFF"/>
                </a:solidFill>
                <a:latin typeface="Book Antiqua" panose="02040602050305030304" pitchFamily="18" charset="0"/>
                <a:ea typeface="League Spartan"/>
                <a:cs typeface="Times New Roman" panose="02020603050405020304" pitchFamily="18" charset="0"/>
                <a:sym typeface="League Spartan"/>
              </a:rPr>
              <a:t>Motivation and Objectives</a:t>
            </a:r>
          </a:p>
        </p:txBody>
      </p:sp>
    </p:spTree>
    <p:extLst>
      <p:ext uri="{BB962C8B-B14F-4D97-AF65-F5344CB8AC3E}">
        <p14:creationId xmlns:p14="http://schemas.microsoft.com/office/powerpoint/2010/main" val="2173049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TextBox 13"/>
              <p:cNvSpPr txBox="1"/>
              <p:nvPr/>
            </p:nvSpPr>
            <p:spPr>
              <a:xfrm>
                <a:off x="166477" y="1376387"/>
                <a:ext cx="11723914" cy="3279744"/>
              </a:xfrm>
              <a:prstGeom prst="rect">
                <a:avLst/>
              </a:prstGeom>
              <a:noFill/>
              <a:ln>
                <a:noFill/>
              </a:ln>
              <a:effectLst/>
            </p:spPr>
            <p:style>
              <a:lnRef idx="2">
                <a:schemeClr val="accent5">
                  <a:shade val="15000"/>
                </a:schemeClr>
              </a:lnRef>
              <a:fillRef idx="1">
                <a:schemeClr val="accent5"/>
              </a:fillRef>
              <a:effectRef idx="0">
                <a:schemeClr val="accent5"/>
              </a:effectRef>
              <a:fontRef idx="minor">
                <a:schemeClr val="lt1"/>
              </a:fontRef>
            </p:style>
            <p:txBody>
              <a:bodyPr wrap="square" lIns="0" tIns="0" rIns="0" bIns="0" rtlCol="0" anchor="t">
                <a:spAutoFit/>
              </a:bodyPr>
              <a:lstStyle/>
              <a:p>
                <a:pPr marL="377845" lvl="1" indent="-188923" algn="just">
                  <a:lnSpc>
                    <a:spcPct val="150000"/>
                  </a:lnSpc>
                  <a:buClr>
                    <a:srgbClr val="0000FF"/>
                  </a:buClr>
                  <a:buFont typeface="Arial"/>
                  <a:buChar char="•"/>
                </a:pPr>
                <a:r>
                  <a:rPr lang="en-US" sz="1600" dirty="0">
                    <a:solidFill>
                      <a:schemeClr val="tx1"/>
                    </a:solidFill>
                    <a:latin typeface="Times New Roman" panose="02020603050405020304" pitchFamily="18" charset="0"/>
                    <a:cs typeface="Times New Roman" panose="02020603050405020304" pitchFamily="18" charset="0"/>
                  </a:rPr>
                  <a:t>The Dual Active Bridge (DAB) converter operates based on the </a:t>
                </a:r>
                <a:r>
                  <a:rPr lang="en-US" sz="1600" b="1" dirty="0">
                    <a:solidFill>
                      <a:schemeClr val="tx1"/>
                    </a:solidFill>
                    <a:latin typeface="Times New Roman" panose="02020603050405020304" pitchFamily="18" charset="0"/>
                    <a:cs typeface="Times New Roman" panose="02020603050405020304" pitchFamily="18" charset="0"/>
                  </a:rPr>
                  <a:t>phase shift</a:t>
                </a:r>
                <a:r>
                  <a:rPr lang="en-US" sz="1600" dirty="0">
                    <a:solidFill>
                      <a:schemeClr val="tx1"/>
                    </a:solidFill>
                    <a:latin typeface="Times New Roman" panose="02020603050405020304" pitchFamily="18" charset="0"/>
                    <a:cs typeface="Times New Roman" panose="02020603050405020304" pitchFamily="18" charset="0"/>
                  </a:rPr>
                  <a:t> between the two active bridges.</a:t>
                </a:r>
              </a:p>
              <a:p>
                <a:pPr marL="377845" lvl="1" indent="-188923" algn="just">
                  <a:lnSpc>
                    <a:spcPct val="150000"/>
                  </a:lnSpc>
                  <a:buClr>
                    <a:srgbClr val="0000FF"/>
                  </a:buClr>
                  <a:buFont typeface="Arial"/>
                  <a:buChar char="•"/>
                </a:pPr>
                <a:r>
                  <a:rPr lang="en-US" sz="1600" dirty="0">
                    <a:solidFill>
                      <a:schemeClr val="tx1"/>
                    </a:solidFill>
                    <a:latin typeface="Times New Roman" panose="02020603050405020304" pitchFamily="18" charset="0"/>
                    <a:cs typeface="Times New Roman" panose="02020603050405020304" pitchFamily="18" charset="0"/>
                  </a:rPr>
                  <a:t>When the </a:t>
                </a:r>
                <a:r>
                  <a:rPr lang="en-US" sz="1600" b="1" dirty="0">
                    <a:solidFill>
                      <a:schemeClr val="tx1"/>
                    </a:solidFill>
                    <a:latin typeface="Times New Roman" panose="02020603050405020304" pitchFamily="18" charset="0"/>
                    <a:cs typeface="Times New Roman" panose="02020603050405020304" pitchFamily="18" charset="0"/>
                  </a:rPr>
                  <a:t>primary bridge (H1)</a:t>
                </a:r>
                <a:r>
                  <a:rPr lang="en-US" sz="1600" dirty="0">
                    <a:solidFill>
                      <a:schemeClr val="tx1"/>
                    </a:solidFill>
                    <a:latin typeface="Times New Roman" panose="02020603050405020304" pitchFamily="18" charset="0"/>
                    <a:cs typeface="Times New Roman" panose="02020603050405020304" pitchFamily="18" charset="0"/>
                  </a:rPr>
                  <a:t> is turned ON through switching action, it generates a </a:t>
                </a:r>
                <a:r>
                  <a:rPr lang="en-US" sz="1600" b="1" dirty="0">
                    <a:solidFill>
                      <a:schemeClr val="tx1"/>
                    </a:solidFill>
                    <a:latin typeface="Times New Roman" panose="02020603050405020304" pitchFamily="18" charset="0"/>
                    <a:cs typeface="Times New Roman" panose="02020603050405020304" pitchFamily="18" charset="0"/>
                  </a:rPr>
                  <a:t>pulsating square waveform (V₁)</a:t>
                </a:r>
                <a:r>
                  <a:rPr lang="en-US" sz="1600" dirty="0">
                    <a:solidFill>
                      <a:schemeClr val="tx1"/>
                    </a:solidFill>
                    <a:latin typeface="Times New Roman" panose="02020603050405020304" pitchFamily="18" charset="0"/>
                    <a:cs typeface="Times New Roman" panose="02020603050405020304" pitchFamily="18" charset="0"/>
                  </a:rPr>
                  <a:t> across the primary winding of the high-frequency transformer (HFT).</a:t>
                </a:r>
                <a:endParaRPr lang="en-IN" sz="1600" spc="73"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377845" lvl="1" indent="-188923" algn="just">
                  <a:lnSpc>
                    <a:spcPct val="150000"/>
                  </a:lnSpc>
                  <a:buClr>
                    <a:srgbClr val="0000FF"/>
                  </a:buClr>
                  <a:buFont typeface="Arial"/>
                  <a:buChar char="•"/>
                </a:pPr>
                <a:r>
                  <a:rPr lang="en-US" sz="1600" dirty="0">
                    <a:solidFill>
                      <a:schemeClr val="tx1"/>
                    </a:solidFill>
                    <a:latin typeface="Times New Roman" panose="02020603050405020304" pitchFamily="18" charset="0"/>
                    <a:cs typeface="Times New Roman" panose="02020603050405020304" pitchFamily="18" charset="0"/>
                  </a:rPr>
                  <a:t>Simultaneously, the </a:t>
                </a:r>
                <a:r>
                  <a:rPr lang="en-US" sz="1600" b="1" dirty="0">
                    <a:solidFill>
                      <a:schemeClr val="tx1"/>
                    </a:solidFill>
                    <a:latin typeface="Times New Roman" panose="02020603050405020304" pitchFamily="18" charset="0"/>
                    <a:cs typeface="Times New Roman" panose="02020603050405020304" pitchFamily="18" charset="0"/>
                  </a:rPr>
                  <a:t>secondary bridge (H2)</a:t>
                </a:r>
                <a:r>
                  <a:rPr lang="en-US" sz="1600" dirty="0">
                    <a:solidFill>
                      <a:schemeClr val="tx1"/>
                    </a:solidFill>
                    <a:latin typeface="Times New Roman" panose="02020603050405020304" pitchFamily="18" charset="0"/>
                    <a:cs typeface="Times New Roman" panose="02020603050405020304" pitchFamily="18" charset="0"/>
                  </a:rPr>
                  <a:t> is switched ON, producing another </a:t>
                </a:r>
                <a:r>
                  <a:rPr lang="en-US" sz="1600" b="1" dirty="0">
                    <a:solidFill>
                      <a:schemeClr val="tx1"/>
                    </a:solidFill>
                    <a:latin typeface="Times New Roman" panose="02020603050405020304" pitchFamily="18" charset="0"/>
                    <a:cs typeface="Times New Roman" panose="02020603050405020304" pitchFamily="18" charset="0"/>
                  </a:rPr>
                  <a:t>square waveform (V₂)</a:t>
                </a:r>
                <a:r>
                  <a:rPr lang="en-US" sz="1600" dirty="0">
                    <a:solidFill>
                      <a:schemeClr val="tx1"/>
                    </a:solidFill>
                    <a:latin typeface="Times New Roman" panose="02020603050405020304" pitchFamily="18" charset="0"/>
                    <a:cs typeface="Times New Roman" panose="02020603050405020304" pitchFamily="18" charset="0"/>
                  </a:rPr>
                  <a:t> across the secondary winding of the HFT.</a:t>
                </a:r>
              </a:p>
              <a:p>
                <a:pPr marL="377845" lvl="1" indent="-188923" algn="just">
                  <a:lnSpc>
                    <a:spcPct val="150000"/>
                  </a:lnSpc>
                  <a:buClr>
                    <a:srgbClr val="0000FF"/>
                  </a:buClr>
                  <a:buFont typeface="Arial"/>
                  <a:buChar char="•"/>
                </a:pPr>
                <a:r>
                  <a:rPr lang="en-US" sz="1600" dirty="0">
                    <a:solidFill>
                      <a:schemeClr val="tx1"/>
                    </a:solidFill>
                    <a:latin typeface="Times New Roman" panose="02020603050405020304" pitchFamily="18" charset="0"/>
                    <a:cs typeface="Times New Roman" panose="02020603050405020304" pitchFamily="18" charset="0"/>
                  </a:rPr>
                  <a:t>These two square waveforms (</a:t>
                </a:r>
                <a:r>
                  <a:rPr lang="en-US" sz="1600" b="1" dirty="0">
                    <a:solidFill>
                      <a:schemeClr val="tx1"/>
                    </a:solidFill>
                    <a:latin typeface="Times New Roman" panose="02020603050405020304" pitchFamily="18" charset="0"/>
                    <a:cs typeface="Times New Roman" panose="02020603050405020304" pitchFamily="18" charset="0"/>
                  </a:rPr>
                  <a:t>V₁ and V₂</a:t>
                </a:r>
                <a:r>
                  <a:rPr lang="en-US" sz="1600" dirty="0">
                    <a:solidFill>
                      <a:schemeClr val="tx1"/>
                    </a:solidFill>
                    <a:latin typeface="Times New Roman" panose="02020603050405020304" pitchFamily="18" charset="0"/>
                    <a:cs typeface="Times New Roman" panose="02020603050405020304" pitchFamily="18" charset="0"/>
                  </a:rPr>
                  <a:t>) are </a:t>
                </a:r>
                <a:r>
                  <a:rPr lang="en-US" sz="1600" b="1" dirty="0">
                    <a:solidFill>
                      <a:schemeClr val="tx1"/>
                    </a:solidFill>
                    <a:latin typeface="Times New Roman" panose="02020603050405020304" pitchFamily="18" charset="0"/>
                    <a:cs typeface="Times New Roman" panose="02020603050405020304" pitchFamily="18" charset="0"/>
                  </a:rPr>
                  <a:t>phase-shifted</a:t>
                </a:r>
                <a:r>
                  <a:rPr lang="en-US" sz="1600" dirty="0">
                    <a:solidFill>
                      <a:schemeClr val="tx1"/>
                    </a:solidFill>
                    <a:latin typeface="Times New Roman" panose="02020603050405020304" pitchFamily="18" charset="0"/>
                    <a:cs typeface="Times New Roman" panose="02020603050405020304" pitchFamily="18" charset="0"/>
                  </a:rPr>
                  <a:t> with respect to each other.</a:t>
                </a:r>
              </a:p>
              <a:p>
                <a:pPr marL="377845" lvl="1" indent="-188923" algn="just">
                  <a:lnSpc>
                    <a:spcPct val="150000"/>
                  </a:lnSpc>
                  <a:buClr>
                    <a:srgbClr val="0000FF"/>
                  </a:buClr>
                  <a:buFont typeface="Arial"/>
                  <a:buChar char="•"/>
                </a:pPr>
                <a:r>
                  <a:rPr lang="en-US" sz="1600" dirty="0">
                    <a:solidFill>
                      <a:schemeClr val="tx1"/>
                    </a:solidFill>
                    <a:latin typeface="Times New Roman" panose="02020603050405020304" pitchFamily="18" charset="0"/>
                    <a:cs typeface="Times New Roman" panose="02020603050405020304" pitchFamily="18" charset="0"/>
                  </a:rPr>
                  <a:t>The </a:t>
                </a:r>
                <a:r>
                  <a:rPr lang="en-US" sz="1600" b="1" dirty="0">
                    <a:solidFill>
                      <a:schemeClr val="tx1"/>
                    </a:solidFill>
                    <a:latin typeface="Times New Roman" panose="02020603050405020304" pitchFamily="18" charset="0"/>
                    <a:cs typeface="Times New Roman" panose="02020603050405020304" pitchFamily="18" charset="0"/>
                  </a:rPr>
                  <a:t>phase difference</a:t>
                </a:r>
                <a:r>
                  <a:rPr lang="en-US" sz="1600" dirty="0">
                    <a:solidFill>
                      <a:schemeClr val="tx1"/>
                    </a:solidFill>
                    <a:latin typeface="Times New Roman" panose="02020603050405020304" pitchFamily="18" charset="0"/>
                    <a:cs typeface="Times New Roman" panose="02020603050405020304" pitchFamily="18" charset="0"/>
                  </a:rPr>
                  <a:t> creates a </a:t>
                </a:r>
                <a:r>
                  <a:rPr lang="en-US" sz="1600" b="1" dirty="0">
                    <a:solidFill>
                      <a:schemeClr val="tx1"/>
                    </a:solidFill>
                    <a:latin typeface="Times New Roman" panose="02020603050405020304" pitchFamily="18" charset="0"/>
                    <a:cs typeface="Times New Roman" panose="02020603050405020304" pitchFamily="18" charset="0"/>
                  </a:rPr>
                  <a:t>net voltage</a:t>
                </a:r>
                <a:r>
                  <a:rPr lang="en-US" sz="1600" dirty="0">
                    <a:solidFill>
                      <a:schemeClr val="tx1"/>
                    </a:solidFill>
                    <a:latin typeface="Times New Roman" panose="02020603050405020304" pitchFamily="18" charset="0"/>
                    <a:cs typeface="Times New Roman" panose="02020603050405020304" pitchFamily="18" charset="0"/>
                  </a:rPr>
                  <a:t> across the </a:t>
                </a:r>
                <a:r>
                  <a:rPr lang="en-US" sz="1600" b="1" dirty="0">
                    <a:solidFill>
                      <a:schemeClr val="tx1"/>
                    </a:solidFill>
                    <a:latin typeface="Times New Roman" panose="02020603050405020304" pitchFamily="18" charset="0"/>
                    <a:cs typeface="Times New Roman" panose="02020603050405020304" pitchFamily="18" charset="0"/>
                  </a:rPr>
                  <a:t>leakage inductor (</a:t>
                </a:r>
                <a14:m>
                  <m:oMath xmlns:m="http://schemas.openxmlformats.org/officeDocument/2006/math">
                    <m:sSub>
                      <m:sSubPr>
                        <m:ctrlPr>
                          <a:rPr lang="en-US" sz="1600" b="1" i="1" dirty="0" smtClean="0">
                            <a:solidFill>
                              <a:schemeClr val="tx1"/>
                            </a:solidFill>
                            <a:latin typeface="Cambria Math" panose="02040503050406030204" pitchFamily="18" charset="0"/>
                            <a:cs typeface="Times New Roman" panose="02020603050405020304" pitchFamily="18" charset="0"/>
                          </a:rPr>
                        </m:ctrlPr>
                      </m:sSubPr>
                      <m:e>
                        <m:r>
                          <a:rPr lang="en-IN" sz="1600" b="1" i="1" dirty="0" smtClean="0">
                            <a:solidFill>
                              <a:schemeClr val="tx1"/>
                            </a:solidFill>
                            <a:latin typeface="Cambria Math" panose="02040503050406030204" pitchFamily="18" charset="0"/>
                            <a:cs typeface="Times New Roman" panose="02020603050405020304" pitchFamily="18" charset="0"/>
                          </a:rPr>
                          <m:t>𝑳</m:t>
                        </m:r>
                      </m:e>
                      <m:sub>
                        <m:r>
                          <a:rPr lang="en-IN" sz="1600" b="1" i="1" dirty="0" smtClean="0">
                            <a:solidFill>
                              <a:schemeClr val="tx1"/>
                            </a:solidFill>
                            <a:latin typeface="Cambria Math" panose="02040503050406030204" pitchFamily="18" charset="0"/>
                            <a:cs typeface="Times New Roman" panose="02020603050405020304" pitchFamily="18" charset="0"/>
                          </a:rPr>
                          <m:t>𝒍𝒌</m:t>
                        </m:r>
                      </m:sub>
                    </m:sSub>
                  </m:oMath>
                </a14:m>
                <a:r>
                  <a:rPr lang="en-US" sz="1600" b="1" dirty="0">
                    <a:solidFill>
                      <a:schemeClr val="tx1"/>
                    </a:solidFill>
                    <a:latin typeface="Times New Roman" panose="02020603050405020304" pitchFamily="18" charset="0"/>
                    <a:cs typeface="Times New Roman" panose="02020603050405020304" pitchFamily="18" charset="0"/>
                  </a:rPr>
                  <a:t>)</a:t>
                </a:r>
                <a:r>
                  <a:rPr lang="en-US" sz="1600" dirty="0">
                    <a:solidFill>
                      <a:schemeClr val="tx1"/>
                    </a:solidFill>
                    <a:latin typeface="Times New Roman" panose="02020603050405020304" pitchFamily="18" charset="0"/>
                    <a:cs typeface="Times New Roman" panose="02020603050405020304" pitchFamily="18" charset="0"/>
                  </a:rPr>
                  <a:t>.</a:t>
                </a:r>
              </a:p>
              <a:p>
                <a:pPr marL="377845" lvl="1" indent="-188923" algn="just">
                  <a:lnSpc>
                    <a:spcPct val="150000"/>
                  </a:lnSpc>
                  <a:buClr>
                    <a:srgbClr val="0000FF"/>
                  </a:buClr>
                  <a:buFont typeface="Arial"/>
                  <a:buChar char="•"/>
                </a:pPr>
                <a:r>
                  <a:rPr lang="en-US" sz="1600" dirty="0">
                    <a:solidFill>
                      <a:schemeClr val="tx1"/>
                    </a:solidFill>
                    <a:latin typeface="Times New Roman" panose="02020603050405020304" pitchFamily="18" charset="0"/>
                    <a:cs typeface="Times New Roman" panose="02020603050405020304" pitchFamily="18" charset="0"/>
                  </a:rPr>
                  <a:t>This voltage drives a </a:t>
                </a:r>
                <a:r>
                  <a:rPr lang="en-US" sz="1600" b="1" dirty="0">
                    <a:solidFill>
                      <a:schemeClr val="tx1"/>
                    </a:solidFill>
                    <a:latin typeface="Times New Roman" panose="02020603050405020304" pitchFamily="18" charset="0"/>
                    <a:cs typeface="Times New Roman" panose="02020603050405020304" pitchFamily="18" charset="0"/>
                  </a:rPr>
                  <a:t>current (</a:t>
                </a:r>
                <a14:m>
                  <m:oMath xmlns:m="http://schemas.openxmlformats.org/officeDocument/2006/math">
                    <m:sSub>
                      <m:sSubPr>
                        <m:ctrlPr>
                          <a:rPr lang="en-US" sz="1600" b="1" i="1" smtClean="0">
                            <a:solidFill>
                              <a:schemeClr val="tx1"/>
                            </a:solidFill>
                            <a:latin typeface="Cambria Math" panose="02040503050406030204" pitchFamily="18" charset="0"/>
                            <a:cs typeface="Times New Roman" panose="02020603050405020304" pitchFamily="18" charset="0"/>
                          </a:rPr>
                        </m:ctrlPr>
                      </m:sSubPr>
                      <m:e>
                        <m:r>
                          <a:rPr lang="en-IN" sz="1600" b="1" i="1" smtClean="0">
                            <a:solidFill>
                              <a:schemeClr val="tx1"/>
                            </a:solidFill>
                            <a:latin typeface="Cambria Math" panose="02040503050406030204" pitchFamily="18" charset="0"/>
                            <a:cs typeface="Times New Roman" panose="02020603050405020304" pitchFamily="18" charset="0"/>
                          </a:rPr>
                          <m:t>𝒊</m:t>
                        </m:r>
                      </m:e>
                      <m:sub>
                        <m:r>
                          <a:rPr lang="en-IN" sz="1600" b="1" i="1" smtClean="0">
                            <a:solidFill>
                              <a:schemeClr val="tx1"/>
                            </a:solidFill>
                            <a:latin typeface="Cambria Math" panose="02040503050406030204" pitchFamily="18" charset="0"/>
                            <a:cs typeface="Times New Roman" panose="02020603050405020304" pitchFamily="18" charset="0"/>
                          </a:rPr>
                          <m:t>𝒍𝒌</m:t>
                        </m:r>
                      </m:sub>
                    </m:sSub>
                  </m:oMath>
                </a14:m>
                <a:r>
                  <a:rPr lang="en-US" sz="1600" b="1" dirty="0">
                    <a:solidFill>
                      <a:schemeClr val="tx1"/>
                    </a:solidFill>
                    <a:latin typeface="Times New Roman" panose="02020603050405020304" pitchFamily="18" charset="0"/>
                    <a:cs typeface="Times New Roman" panose="02020603050405020304" pitchFamily="18" charset="0"/>
                  </a:rPr>
                  <a:t>)</a:t>
                </a:r>
                <a:r>
                  <a:rPr lang="en-US" sz="1600" dirty="0">
                    <a:solidFill>
                      <a:schemeClr val="tx1"/>
                    </a:solidFill>
                    <a:latin typeface="Times New Roman" panose="02020603050405020304" pitchFamily="18" charset="0"/>
                    <a:cs typeface="Times New Roman" panose="02020603050405020304" pitchFamily="18" charset="0"/>
                  </a:rPr>
                  <a:t> through the inductor, which is responsible for the </a:t>
                </a:r>
                <a:r>
                  <a:rPr lang="en-US" sz="1600" b="1" dirty="0">
                    <a:solidFill>
                      <a:schemeClr val="tx1"/>
                    </a:solidFill>
                    <a:latin typeface="Times New Roman" panose="02020603050405020304" pitchFamily="18" charset="0"/>
                    <a:cs typeface="Times New Roman" panose="02020603050405020304" pitchFamily="18" charset="0"/>
                  </a:rPr>
                  <a:t>transfer of active power</a:t>
                </a:r>
                <a:r>
                  <a:rPr lang="en-US" sz="1600" dirty="0">
                    <a:solidFill>
                      <a:schemeClr val="tx1"/>
                    </a:solidFill>
                    <a:latin typeface="Times New Roman" panose="02020603050405020304" pitchFamily="18" charset="0"/>
                    <a:cs typeface="Times New Roman" panose="02020603050405020304" pitchFamily="18" charset="0"/>
                  </a:rPr>
                  <a:t> between the two bridges.</a:t>
                </a:r>
              </a:p>
              <a:p>
                <a:pPr marL="377845" lvl="1" indent="-188923" algn="just">
                  <a:lnSpc>
                    <a:spcPct val="150000"/>
                  </a:lnSpc>
                  <a:buClr>
                    <a:srgbClr val="0000FF"/>
                  </a:buClr>
                  <a:buFont typeface="Arial"/>
                  <a:buChar char="•"/>
                </a:pPr>
                <a:endParaRPr lang="en-US" sz="1600" spc="73"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mc:Choice>
        <mc:Fallback xmlns="">
          <p:sp>
            <p:nvSpPr>
              <p:cNvPr id="13" name="TextBox 13"/>
              <p:cNvSpPr txBox="1">
                <a:spLocks noRot="1" noChangeAspect="1" noMove="1" noResize="1" noEditPoints="1" noAdjustHandles="1" noChangeArrowheads="1" noChangeShapeType="1" noTextEdit="1"/>
              </p:cNvSpPr>
              <p:nvPr/>
            </p:nvSpPr>
            <p:spPr>
              <a:xfrm>
                <a:off x="166477" y="1376387"/>
                <a:ext cx="11723914" cy="3279744"/>
              </a:xfrm>
              <a:prstGeom prst="rect">
                <a:avLst/>
              </a:prstGeom>
              <a:blipFill>
                <a:blip r:embed="rId2"/>
                <a:stretch>
                  <a:fillRect r="-1040"/>
                </a:stretch>
              </a:blipFill>
              <a:ln>
                <a:noFill/>
              </a:ln>
              <a:effectLst/>
            </p:spPr>
            <p:txBody>
              <a:bodyPr/>
              <a:lstStyle/>
              <a:p>
                <a:r>
                  <a:rPr lang="en-IN">
                    <a:noFill/>
                  </a:rPr>
                  <a:t> </a:t>
                </a:r>
              </a:p>
            </p:txBody>
          </p:sp>
        </mc:Fallback>
      </mc:AlternateContent>
      <p:sp>
        <p:nvSpPr>
          <p:cNvPr id="12" name="TextBox 11"/>
          <p:cNvSpPr txBox="1"/>
          <p:nvPr/>
        </p:nvSpPr>
        <p:spPr>
          <a:xfrm>
            <a:off x="11624146" y="6584221"/>
            <a:ext cx="532490" cy="323165"/>
          </a:xfrm>
          <a:prstGeom prst="rect">
            <a:avLst/>
          </a:prstGeom>
          <a:noFill/>
        </p:spPr>
        <p:txBody>
          <a:bodyPr wrap="square" rtlCol="0">
            <a:spAutoFit/>
          </a:bodyPr>
          <a:lstStyle/>
          <a:p>
            <a:r>
              <a:rPr lang="en-IN" sz="1500" dirty="0">
                <a:solidFill>
                  <a:schemeClr val="bg1"/>
                </a:solidFill>
                <a:latin typeface="Times New Roman" panose="02020603050405020304" pitchFamily="18" charset="0"/>
                <a:cs typeface="Times New Roman" panose="02020603050405020304" pitchFamily="18" charset="0"/>
              </a:rPr>
              <a:t>4/12</a:t>
            </a:r>
          </a:p>
        </p:txBody>
      </p:sp>
      <p:sp>
        <p:nvSpPr>
          <p:cNvPr id="14" name="TextBox 14"/>
          <p:cNvSpPr txBox="1"/>
          <p:nvPr/>
        </p:nvSpPr>
        <p:spPr>
          <a:xfrm>
            <a:off x="3684565" y="103586"/>
            <a:ext cx="5274377" cy="322011"/>
          </a:xfrm>
          <a:prstGeom prst="rect">
            <a:avLst/>
          </a:prstGeom>
        </p:spPr>
        <p:txBody>
          <a:bodyPr wrap="square" lIns="0" tIns="0" rIns="0" bIns="0" rtlCol="0" anchor="t">
            <a:spAutoFit/>
          </a:bodyPr>
          <a:lstStyle/>
          <a:p>
            <a:pPr algn="ctr">
              <a:lnSpc>
                <a:spcPts val="2451"/>
              </a:lnSpc>
              <a:spcBef>
                <a:spcPct val="0"/>
              </a:spcBef>
            </a:pPr>
            <a:r>
              <a:rPr lang="en-US" sz="2333" dirty="0">
                <a:solidFill>
                  <a:srgbClr val="FFFFFF"/>
                </a:solidFill>
                <a:latin typeface="Book Antiqua" panose="02040602050305030304" pitchFamily="18" charset="0"/>
                <a:ea typeface="League Spartan"/>
                <a:cs typeface="Times New Roman" panose="02020603050405020304" pitchFamily="18" charset="0"/>
                <a:sym typeface="League Spartan"/>
              </a:rPr>
              <a:t>DAB Converter For Battery Charging</a:t>
            </a:r>
          </a:p>
        </p:txBody>
      </p:sp>
    </p:spTree>
    <p:extLst>
      <p:ext uri="{BB962C8B-B14F-4D97-AF65-F5344CB8AC3E}">
        <p14:creationId xmlns:p14="http://schemas.microsoft.com/office/powerpoint/2010/main" val="3953554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71AF2-82B7-49D1-F285-2EE35540A170}"/>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F2EFE6EB-E464-38CA-DD08-7FB08CFE5446}"/>
              </a:ext>
            </a:extLst>
          </p:cNvPr>
          <p:cNvGraphicFramePr>
            <a:graphicFrameLocks noGrp="1"/>
          </p:cNvGraphicFramePr>
          <p:nvPr>
            <p:extLst>
              <p:ext uri="{D42A27DB-BD31-4B8C-83A1-F6EECF244321}">
                <p14:modId xmlns:p14="http://schemas.microsoft.com/office/powerpoint/2010/main" val="106016073"/>
              </p:ext>
            </p:extLst>
          </p:nvPr>
        </p:nvGraphicFramePr>
        <p:xfrm>
          <a:off x="76200" y="625238"/>
          <a:ext cx="12039600" cy="3113440"/>
        </p:xfrm>
        <a:graphic>
          <a:graphicData uri="http://schemas.openxmlformats.org/drawingml/2006/table">
            <a:tbl>
              <a:tblPr firstRow="1" bandRow="1">
                <a:effectLst>
                  <a:outerShdw blurRad="50800" dist="38100" dir="5400000" algn="t" rotWithShape="0">
                    <a:prstClr val="black">
                      <a:alpha val="40000"/>
                    </a:prstClr>
                  </a:outerShdw>
                </a:effectLst>
                <a:tableStyleId>{2D5ABB26-0587-4C30-8999-92F81FD0307C}</a:tableStyleId>
              </a:tblPr>
              <a:tblGrid>
                <a:gridCol w="12039600">
                  <a:extLst>
                    <a:ext uri="{9D8B030D-6E8A-4147-A177-3AD203B41FA5}">
                      <a16:colId xmlns:a16="http://schemas.microsoft.com/office/drawing/2014/main" val="1988344849"/>
                    </a:ext>
                  </a:extLst>
                </a:gridCol>
              </a:tblGrid>
              <a:tr h="468023">
                <a:tc>
                  <a:txBody>
                    <a:bodyPr/>
                    <a:lstStyle/>
                    <a:p>
                      <a:pPr marL="283369" marR="0" lvl="1" indent="0" algn="just" defTabSz="914327" rtl="0" eaLnBrk="1" fontAlgn="auto" latinLnBrk="0" hangingPunct="1">
                        <a:lnSpc>
                          <a:spcPct val="150000"/>
                        </a:lnSpc>
                        <a:spcBef>
                          <a:spcPts val="0"/>
                        </a:spcBef>
                        <a:spcAft>
                          <a:spcPts val="0"/>
                        </a:spcAft>
                        <a:buClrTx/>
                        <a:buSzTx/>
                        <a:buFont typeface="Arial"/>
                        <a:buNone/>
                        <a:tabLst/>
                        <a:defRPr/>
                      </a:pPr>
                      <a:r>
                        <a:rPr kumimoji="0" lang="en-US" sz="1550" b="0" i="0" u="none" strike="noStrike" kern="1200" cap="none" spc="110" normalizeH="0" baseline="0" noProof="0" dirty="0">
                          <a:ln>
                            <a:noFill/>
                          </a:ln>
                          <a:solidFill>
                            <a:srgbClr val="000000"/>
                          </a:solidFill>
                          <a:effectLst/>
                          <a:uLnTx/>
                          <a:uFillTx/>
                          <a:latin typeface="Times New Roman" panose="02020603050405020304" pitchFamily="18" charset="0"/>
                          <a:ea typeface="Times New Roman"/>
                          <a:cs typeface="Times New Roman" panose="02020603050405020304" pitchFamily="18" charset="0"/>
                          <a:sym typeface="Times New Roman"/>
                        </a:rPr>
                        <a:t>SPS Control Strategy:</a:t>
                      </a: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072934682"/>
                  </a:ext>
                </a:extLst>
              </a:tr>
              <a:tr h="2645417">
                <a:tc>
                  <a:txBody>
                    <a:bodyPr/>
                    <a:lstStyle/>
                    <a:p>
                      <a:pPr marL="566739" marR="0" lvl="1" indent="-283370" algn="just" defTabSz="914400" rtl="0" eaLnBrk="1" fontAlgn="auto" latinLnBrk="0" hangingPunct="1">
                        <a:lnSpc>
                          <a:spcPct val="150000"/>
                        </a:lnSpc>
                        <a:spcBef>
                          <a:spcPts val="0"/>
                        </a:spcBef>
                        <a:spcAft>
                          <a:spcPts val="0"/>
                        </a:spcAft>
                        <a:buClr>
                          <a:srgbClr val="0000FF"/>
                        </a:buClr>
                        <a:buSzTx/>
                        <a:buFont typeface="Arial"/>
                        <a:buChar char="•"/>
                        <a:tabLst/>
                        <a:defRPr/>
                      </a:pPr>
                      <a:r>
                        <a:rPr lang="en-US" sz="1550" b="1" dirty="0">
                          <a:latin typeface="Times New Roman" panose="02020603050405020304" pitchFamily="18" charset="0"/>
                          <a:cs typeface="Times New Roman" panose="02020603050405020304" pitchFamily="18" charset="0"/>
                        </a:rPr>
                        <a:t>SPS (Single Phase Shift)</a:t>
                      </a:r>
                      <a:r>
                        <a:rPr lang="en-US" sz="1550" dirty="0">
                          <a:latin typeface="Times New Roman" panose="02020603050405020304" pitchFamily="18" charset="0"/>
                          <a:cs typeface="Times New Roman" panose="02020603050405020304" pitchFamily="18" charset="0"/>
                        </a:rPr>
                        <a:t> is the most widely used modulation technique for DAB converters due to its </a:t>
                      </a:r>
                      <a:r>
                        <a:rPr lang="en-US" sz="1550" b="1" dirty="0">
                          <a:latin typeface="Times New Roman" panose="02020603050405020304" pitchFamily="18" charset="0"/>
                          <a:cs typeface="Times New Roman" panose="02020603050405020304" pitchFamily="18" charset="0"/>
                        </a:rPr>
                        <a:t>simplicity and reliable performance</a:t>
                      </a:r>
                      <a:r>
                        <a:rPr lang="en-US" sz="1550" dirty="0">
                          <a:latin typeface="Times New Roman" panose="02020603050405020304" pitchFamily="18" charset="0"/>
                          <a:cs typeface="Times New Roman" panose="02020603050405020304" pitchFamily="18" charset="0"/>
                        </a:rPr>
                        <a:t>.</a:t>
                      </a:r>
                    </a:p>
                    <a:p>
                      <a:pPr marL="566739" marR="0" lvl="1" indent="-283370" algn="just" defTabSz="914400" rtl="0" eaLnBrk="1" fontAlgn="auto" latinLnBrk="0" hangingPunct="1">
                        <a:lnSpc>
                          <a:spcPct val="150000"/>
                        </a:lnSpc>
                        <a:spcBef>
                          <a:spcPts val="0"/>
                        </a:spcBef>
                        <a:spcAft>
                          <a:spcPts val="0"/>
                        </a:spcAft>
                        <a:buClr>
                          <a:srgbClr val="0000FF"/>
                        </a:buClr>
                        <a:buSzTx/>
                        <a:buFont typeface="Arial"/>
                        <a:buChar char="•"/>
                        <a:tabLst/>
                        <a:defRPr/>
                      </a:pPr>
                      <a:r>
                        <a:rPr lang="en-US" sz="1550" dirty="0">
                          <a:latin typeface="Times New Roman" panose="02020603050405020304" pitchFamily="18" charset="0"/>
                          <a:cs typeface="Times New Roman" panose="02020603050405020304" pitchFamily="18" charset="0"/>
                        </a:rPr>
                        <a:t>Each bridge’s </a:t>
                      </a:r>
                      <a:r>
                        <a:rPr lang="en-US" sz="1550" b="1" dirty="0">
                          <a:latin typeface="Times New Roman" panose="02020603050405020304" pitchFamily="18" charset="0"/>
                          <a:cs typeface="Times New Roman" panose="02020603050405020304" pitchFamily="18" charset="0"/>
                        </a:rPr>
                        <a:t>diagonal switches</a:t>
                      </a:r>
                      <a:r>
                        <a:rPr lang="en-US" sz="1550" dirty="0">
                          <a:latin typeface="Times New Roman" panose="02020603050405020304" pitchFamily="18" charset="0"/>
                          <a:cs typeface="Times New Roman" panose="02020603050405020304" pitchFamily="18" charset="0"/>
                        </a:rPr>
                        <a:t> operate with a </a:t>
                      </a:r>
                      <a:r>
                        <a:rPr lang="en-US" sz="1550" b="1" dirty="0">
                          <a:latin typeface="Times New Roman" panose="02020603050405020304" pitchFamily="18" charset="0"/>
                          <a:cs typeface="Times New Roman" panose="02020603050405020304" pitchFamily="18" charset="0"/>
                        </a:rPr>
                        <a:t>50% duty cycle</a:t>
                      </a:r>
                      <a:r>
                        <a:rPr lang="en-US" sz="1550" dirty="0">
                          <a:latin typeface="Times New Roman" panose="02020603050405020304" pitchFamily="18" charset="0"/>
                          <a:cs typeface="Times New Roman" panose="02020603050405020304" pitchFamily="18" charset="0"/>
                        </a:rPr>
                        <a:t>, creating phase-shifted square waves.</a:t>
                      </a:r>
                    </a:p>
                    <a:p>
                      <a:pPr marL="566739" marR="0" lvl="1" indent="-283370" algn="just" defTabSz="914400" rtl="0" eaLnBrk="1" fontAlgn="auto" latinLnBrk="0" hangingPunct="1">
                        <a:lnSpc>
                          <a:spcPct val="150000"/>
                        </a:lnSpc>
                        <a:spcBef>
                          <a:spcPts val="0"/>
                        </a:spcBef>
                        <a:spcAft>
                          <a:spcPts val="0"/>
                        </a:spcAft>
                        <a:buClr>
                          <a:srgbClr val="0000FF"/>
                        </a:buClr>
                        <a:buSzTx/>
                        <a:buFont typeface="Arial"/>
                        <a:buChar char="•"/>
                        <a:tabLst/>
                        <a:defRPr/>
                      </a:pPr>
                      <a:r>
                        <a:rPr lang="en-US" sz="1550" dirty="0">
                          <a:latin typeface="Times New Roman" panose="02020603050405020304" pitchFamily="18" charset="0"/>
                          <a:cs typeface="Times New Roman" panose="02020603050405020304" pitchFamily="18" charset="0"/>
                        </a:rPr>
                        <a:t>The </a:t>
                      </a:r>
                      <a:r>
                        <a:rPr lang="en-US" sz="1550" b="1" dirty="0">
                          <a:latin typeface="Times New Roman" panose="02020603050405020304" pitchFamily="18" charset="0"/>
                          <a:cs typeface="Times New Roman" panose="02020603050405020304" pitchFamily="18" charset="0"/>
                        </a:rPr>
                        <a:t>phase shift</a:t>
                      </a:r>
                      <a:r>
                        <a:rPr lang="en-US" sz="1550" dirty="0">
                          <a:latin typeface="Times New Roman" panose="02020603050405020304" pitchFamily="18" charset="0"/>
                          <a:cs typeface="Times New Roman" panose="02020603050405020304" pitchFamily="18" charset="0"/>
                        </a:rPr>
                        <a:t> produces a </a:t>
                      </a:r>
                      <a:r>
                        <a:rPr lang="en-US" sz="1550" b="1" dirty="0">
                          <a:latin typeface="Times New Roman" panose="02020603050405020304" pitchFamily="18" charset="0"/>
                          <a:cs typeface="Times New Roman" panose="02020603050405020304" pitchFamily="18" charset="0"/>
                        </a:rPr>
                        <a:t>voltage difference</a:t>
                      </a:r>
                      <a:r>
                        <a:rPr lang="en-US" sz="1550" dirty="0">
                          <a:latin typeface="Times New Roman" panose="02020603050405020304" pitchFamily="18" charset="0"/>
                          <a:cs typeface="Times New Roman" panose="02020603050405020304" pitchFamily="18" charset="0"/>
                        </a:rPr>
                        <a:t> across the leakage inductance, generating a </a:t>
                      </a:r>
                      <a:r>
                        <a:rPr lang="en-US" sz="1550" b="1" dirty="0">
                          <a:latin typeface="Times New Roman" panose="02020603050405020304" pitchFamily="18" charset="0"/>
                          <a:cs typeface="Times New Roman" panose="02020603050405020304" pitchFamily="18" charset="0"/>
                        </a:rPr>
                        <a:t>trapezoidal inductor current</a:t>
                      </a:r>
                      <a:r>
                        <a:rPr lang="en-US" sz="1550" dirty="0">
                          <a:latin typeface="Times New Roman" panose="02020603050405020304" pitchFamily="18" charset="0"/>
                          <a:cs typeface="Times New Roman" panose="02020603050405020304" pitchFamily="18" charset="0"/>
                        </a:rPr>
                        <a:t>.</a:t>
                      </a:r>
                    </a:p>
                    <a:p>
                      <a:pPr marL="566739" marR="0" lvl="1" indent="-283370" algn="just" defTabSz="914400" rtl="0" eaLnBrk="1" fontAlgn="auto" latinLnBrk="0" hangingPunct="1">
                        <a:lnSpc>
                          <a:spcPct val="150000"/>
                        </a:lnSpc>
                        <a:spcBef>
                          <a:spcPts val="0"/>
                        </a:spcBef>
                        <a:spcAft>
                          <a:spcPts val="0"/>
                        </a:spcAft>
                        <a:buClr>
                          <a:srgbClr val="0000FF"/>
                        </a:buClr>
                        <a:buSzTx/>
                        <a:buFont typeface="Arial"/>
                        <a:buChar char="•"/>
                        <a:tabLst/>
                        <a:defRPr/>
                      </a:pPr>
                      <a:r>
                        <a:rPr lang="en-US" sz="1550" dirty="0">
                          <a:latin typeface="Times New Roman" panose="02020603050405020304" pitchFamily="18" charset="0"/>
                          <a:cs typeface="Times New Roman" panose="02020603050405020304" pitchFamily="18" charset="0"/>
                        </a:rPr>
                        <a:t>The </a:t>
                      </a:r>
                      <a:r>
                        <a:rPr lang="en-US" sz="1550" b="1" dirty="0">
                          <a:latin typeface="Times New Roman" panose="02020603050405020304" pitchFamily="18" charset="0"/>
                          <a:cs typeface="Times New Roman" panose="02020603050405020304" pitchFamily="18" charset="0"/>
                        </a:rPr>
                        <a:t>average inductor current</a:t>
                      </a:r>
                      <a:r>
                        <a:rPr lang="en-US" sz="1550" dirty="0">
                          <a:latin typeface="Times New Roman" panose="02020603050405020304" pitchFamily="18" charset="0"/>
                          <a:cs typeface="Times New Roman" panose="02020603050405020304" pitchFamily="18" charset="0"/>
                        </a:rPr>
                        <a:t> determines the </a:t>
                      </a:r>
                      <a:r>
                        <a:rPr lang="en-US" sz="1550" b="1" dirty="0">
                          <a:latin typeface="Times New Roman" panose="02020603050405020304" pitchFamily="18" charset="0"/>
                          <a:cs typeface="Times New Roman" panose="02020603050405020304" pitchFamily="18" charset="0"/>
                        </a:rPr>
                        <a:t>transferred power</a:t>
                      </a:r>
                      <a:r>
                        <a:rPr lang="en-US" sz="1550" dirty="0">
                          <a:latin typeface="Times New Roman" panose="02020603050405020304" pitchFamily="18" charset="0"/>
                          <a:cs typeface="Times New Roman" panose="02020603050405020304" pitchFamily="18" charset="0"/>
                        </a:rPr>
                        <a:t>, which is proportional to input and output voltages and phase shift, and inversely to inductance and switching frequency.</a:t>
                      </a:r>
                    </a:p>
                    <a:p>
                      <a:pPr marL="566739" marR="0" lvl="1" indent="-283370" algn="just" defTabSz="914400" rtl="0" eaLnBrk="1" fontAlgn="auto" latinLnBrk="0" hangingPunct="1">
                        <a:lnSpc>
                          <a:spcPct val="150000"/>
                        </a:lnSpc>
                        <a:spcBef>
                          <a:spcPts val="0"/>
                        </a:spcBef>
                        <a:spcAft>
                          <a:spcPts val="0"/>
                        </a:spcAft>
                        <a:buClr>
                          <a:srgbClr val="0000FF"/>
                        </a:buClr>
                        <a:buSzTx/>
                        <a:buFont typeface="Arial"/>
                        <a:buChar char="•"/>
                        <a:tabLst/>
                        <a:defRPr/>
                      </a:pPr>
                      <a:r>
                        <a:rPr lang="en-US" sz="1550" dirty="0">
                          <a:latin typeface="Times New Roman" panose="02020603050405020304" pitchFamily="18" charset="0"/>
                          <a:cs typeface="Times New Roman" panose="02020603050405020304" pitchFamily="18" charset="0"/>
                        </a:rPr>
                        <a:t>SPS enables </a:t>
                      </a:r>
                      <a:r>
                        <a:rPr lang="en-US" sz="1550" b="1" dirty="0">
                          <a:latin typeface="Times New Roman" panose="02020603050405020304" pitchFamily="18" charset="0"/>
                          <a:cs typeface="Times New Roman" panose="02020603050405020304" pitchFamily="18" charset="0"/>
                        </a:rPr>
                        <a:t>bidirectional power flow i.e. positive phase shift</a:t>
                      </a:r>
                      <a:r>
                        <a:rPr lang="en-US" sz="1550" dirty="0">
                          <a:latin typeface="Times New Roman" panose="02020603050405020304" pitchFamily="18" charset="0"/>
                          <a:cs typeface="Times New Roman" panose="02020603050405020304" pitchFamily="18" charset="0"/>
                        </a:rPr>
                        <a:t> transfers power from high to low voltage side and </a:t>
                      </a:r>
                      <a:r>
                        <a:rPr lang="en-US" sz="1550" b="1" dirty="0">
                          <a:latin typeface="Times New Roman" panose="02020603050405020304" pitchFamily="18" charset="0"/>
                          <a:cs typeface="Times New Roman" panose="02020603050405020304" pitchFamily="18" charset="0"/>
                        </a:rPr>
                        <a:t>negative shift</a:t>
                      </a:r>
                      <a:r>
                        <a:rPr lang="en-US" sz="1550" dirty="0">
                          <a:latin typeface="Times New Roman" panose="02020603050405020304" pitchFamily="18" charset="0"/>
                          <a:cs typeface="Times New Roman" panose="02020603050405020304" pitchFamily="18" charset="0"/>
                        </a:rPr>
                        <a:t> reverses it.</a:t>
                      </a:r>
                      <a:endParaRPr lang="en-IN" sz="1550" spc="11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8605795"/>
                  </a:ext>
                </a:extLst>
              </a:tr>
            </a:tbl>
          </a:graphicData>
        </a:graphic>
      </p:graphicFrame>
      <p:graphicFrame>
        <p:nvGraphicFramePr>
          <p:cNvPr id="8" name="Table 7">
            <a:extLst>
              <a:ext uri="{FF2B5EF4-FFF2-40B4-BE49-F238E27FC236}">
                <a16:creationId xmlns:a16="http://schemas.microsoft.com/office/drawing/2014/main" id="{9893008D-0421-4119-A855-AAADEA37B5F0}"/>
              </a:ext>
            </a:extLst>
          </p:cNvPr>
          <p:cNvGraphicFramePr>
            <a:graphicFrameLocks noGrp="1"/>
          </p:cNvGraphicFramePr>
          <p:nvPr>
            <p:extLst>
              <p:ext uri="{D42A27DB-BD31-4B8C-83A1-F6EECF244321}">
                <p14:modId xmlns:p14="http://schemas.microsoft.com/office/powerpoint/2010/main" val="3100377724"/>
              </p:ext>
            </p:extLst>
          </p:nvPr>
        </p:nvGraphicFramePr>
        <p:xfrm>
          <a:off x="76201" y="3429000"/>
          <a:ext cx="12039599" cy="2910329"/>
        </p:xfrm>
        <a:graphic>
          <a:graphicData uri="http://schemas.openxmlformats.org/drawingml/2006/table">
            <a:tbl>
              <a:tblPr firstRow="1" bandRow="1">
                <a:effectLst>
                  <a:outerShdw blurRad="50800" dist="38100" dir="5400000" algn="t" rotWithShape="0">
                    <a:prstClr val="black">
                      <a:alpha val="40000"/>
                    </a:prstClr>
                  </a:outerShdw>
                </a:effectLst>
                <a:tableStyleId>{2D5ABB26-0587-4C30-8999-92F81FD0307C}</a:tableStyleId>
              </a:tblPr>
              <a:tblGrid>
                <a:gridCol w="12039599">
                  <a:extLst>
                    <a:ext uri="{9D8B030D-6E8A-4147-A177-3AD203B41FA5}">
                      <a16:colId xmlns:a16="http://schemas.microsoft.com/office/drawing/2014/main" val="1988344849"/>
                    </a:ext>
                  </a:extLst>
                </a:gridCol>
              </a:tblGrid>
              <a:tr h="426719">
                <a:tc>
                  <a:txBody>
                    <a:bodyPr/>
                    <a:lstStyle/>
                    <a:p>
                      <a:pPr marL="283369" marR="0" lvl="1" indent="0" algn="just" defTabSz="914327" rtl="0" eaLnBrk="1" fontAlgn="auto" latinLnBrk="0" hangingPunct="1">
                        <a:lnSpc>
                          <a:spcPct val="150000"/>
                        </a:lnSpc>
                        <a:spcBef>
                          <a:spcPts val="0"/>
                        </a:spcBef>
                        <a:spcAft>
                          <a:spcPts val="0"/>
                        </a:spcAft>
                        <a:buClrTx/>
                        <a:buSzTx/>
                        <a:buFont typeface="Arial"/>
                        <a:buNone/>
                        <a:tabLst/>
                        <a:defRPr/>
                      </a:pPr>
                      <a:r>
                        <a:rPr kumimoji="0" lang="en-US" sz="1550" b="0" i="0" u="none" strike="noStrike" kern="1200" cap="none" spc="110" normalizeH="0" baseline="0" noProof="0" dirty="0">
                          <a:ln>
                            <a:noFill/>
                          </a:ln>
                          <a:solidFill>
                            <a:schemeClr val="tx1"/>
                          </a:solidFill>
                          <a:effectLst/>
                          <a:uLnTx/>
                          <a:uFillTx/>
                          <a:latin typeface="Times New Roman" panose="02020603050405020304" pitchFamily="18" charset="0"/>
                          <a:ea typeface="Times New Roman"/>
                          <a:cs typeface="Times New Roman" panose="02020603050405020304" pitchFamily="18" charset="0"/>
                          <a:sym typeface="Times New Roman"/>
                        </a:rPr>
                        <a:t>Switching Operation in SPS Control:</a:t>
                      </a: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072934682"/>
                  </a:ext>
                </a:extLst>
              </a:tr>
              <a:tr h="1950719">
                <a:tc>
                  <a:txBody>
                    <a:bodyPr/>
                    <a:lstStyle/>
                    <a:p>
                      <a:pPr marL="566739" lvl="1" indent="-283370" algn="just">
                        <a:lnSpc>
                          <a:spcPct val="150000"/>
                        </a:lnSpc>
                        <a:buClr>
                          <a:srgbClr val="0000FF"/>
                        </a:buClr>
                        <a:buFont typeface="Arial"/>
                        <a:buChar char="•"/>
                      </a:pPr>
                      <a:r>
                        <a:rPr lang="en-US" sz="1550" dirty="0">
                          <a:latin typeface="Times New Roman" panose="02020603050405020304" pitchFamily="18" charset="0"/>
                          <a:cs typeface="Times New Roman" panose="02020603050405020304" pitchFamily="18" charset="0"/>
                        </a:rPr>
                        <a:t>The </a:t>
                      </a:r>
                      <a:r>
                        <a:rPr lang="en-US" sz="1550" b="1" dirty="0">
                          <a:latin typeface="Times New Roman" panose="02020603050405020304" pitchFamily="18" charset="0"/>
                          <a:cs typeface="Times New Roman" panose="02020603050405020304" pitchFamily="18" charset="0"/>
                        </a:rPr>
                        <a:t>primary and secondary voltages</a:t>
                      </a:r>
                      <a:r>
                        <a:rPr lang="en-US" sz="1550" dirty="0">
                          <a:latin typeface="Times New Roman" panose="02020603050405020304" pitchFamily="18" charset="0"/>
                          <a:cs typeface="Times New Roman" panose="02020603050405020304" pitchFamily="18" charset="0"/>
                        </a:rPr>
                        <a:t> of the DAB transformer are </a:t>
                      </a:r>
                      <a:r>
                        <a:rPr lang="en-US" sz="1550" b="1" dirty="0">
                          <a:latin typeface="Times New Roman" panose="02020603050405020304" pitchFamily="18" charset="0"/>
                          <a:cs typeface="Times New Roman" panose="02020603050405020304" pitchFamily="18" charset="0"/>
                        </a:rPr>
                        <a:t>square waves</a:t>
                      </a:r>
                      <a:r>
                        <a:rPr lang="en-US" sz="1550" dirty="0">
                          <a:latin typeface="Times New Roman" panose="02020603050405020304" pitchFamily="18" charset="0"/>
                          <a:cs typeface="Times New Roman" panose="02020603050405020304" pitchFamily="18" charset="0"/>
                        </a:rPr>
                        <a:t>, determined by the </a:t>
                      </a:r>
                      <a:r>
                        <a:rPr lang="en-US" sz="1550" b="1" dirty="0">
                          <a:latin typeface="Times New Roman" panose="02020603050405020304" pitchFamily="18" charset="0"/>
                          <a:cs typeface="Times New Roman" panose="02020603050405020304" pitchFamily="18" charset="0"/>
                        </a:rPr>
                        <a:t>conduction states of the switches</a:t>
                      </a:r>
                      <a:r>
                        <a:rPr lang="en-US" sz="1550" dirty="0">
                          <a:latin typeface="Times New Roman" panose="02020603050405020304" pitchFamily="18" charset="0"/>
                          <a:cs typeface="Times New Roman" panose="02020603050405020304" pitchFamily="18" charset="0"/>
                        </a:rPr>
                        <a:t> in both bridges.</a:t>
                      </a:r>
                      <a:endParaRPr lang="en-IN" sz="1550" spc="11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566739" marR="0" lvl="1" indent="-283370" algn="just" defTabSz="914400" rtl="0" eaLnBrk="1" fontAlgn="auto" latinLnBrk="0" hangingPunct="1">
                        <a:lnSpc>
                          <a:spcPct val="150000"/>
                        </a:lnSpc>
                        <a:spcBef>
                          <a:spcPts val="0"/>
                        </a:spcBef>
                        <a:spcAft>
                          <a:spcPts val="0"/>
                        </a:spcAft>
                        <a:buClr>
                          <a:srgbClr val="0000FF"/>
                        </a:buClr>
                        <a:buSzTx/>
                        <a:buFont typeface="Arial"/>
                        <a:buChar char="•"/>
                        <a:tabLst/>
                        <a:defRPr/>
                      </a:pPr>
                      <a:r>
                        <a:rPr lang="en-US" sz="1550" dirty="0">
                          <a:latin typeface="Times New Roman" panose="02020603050405020304" pitchFamily="18" charset="0"/>
                          <a:cs typeface="Times New Roman" panose="02020603050405020304" pitchFamily="18" charset="0"/>
                        </a:rPr>
                        <a:t>The </a:t>
                      </a:r>
                      <a:r>
                        <a:rPr lang="en-US" sz="1550" b="1" dirty="0">
                          <a:latin typeface="Times New Roman" panose="02020603050405020304" pitchFamily="18" charset="0"/>
                          <a:cs typeface="Times New Roman" panose="02020603050405020304" pitchFamily="18" charset="0"/>
                        </a:rPr>
                        <a:t>inductor voltage</a:t>
                      </a:r>
                      <a:r>
                        <a:rPr lang="en-US" sz="1550" dirty="0">
                          <a:latin typeface="Times New Roman" panose="02020603050405020304" pitchFamily="18" charset="0"/>
                          <a:cs typeface="Times New Roman" panose="02020603050405020304" pitchFamily="18" charset="0"/>
                        </a:rPr>
                        <a:t> determines whether the </a:t>
                      </a:r>
                      <a:r>
                        <a:rPr lang="en-US" sz="1550" b="1" dirty="0">
                          <a:latin typeface="Times New Roman" panose="02020603050405020304" pitchFamily="18" charset="0"/>
                          <a:cs typeface="Times New Roman" panose="02020603050405020304" pitchFamily="18" charset="0"/>
                        </a:rPr>
                        <a:t>current rises, falls, or stays constant</a:t>
                      </a:r>
                      <a:r>
                        <a:rPr lang="en-US" sz="1550" dirty="0">
                          <a:latin typeface="Times New Roman" panose="02020603050405020304" pitchFamily="18" charset="0"/>
                          <a:cs typeface="Times New Roman" panose="02020603050405020304" pitchFamily="18" charset="0"/>
                        </a:rPr>
                        <a:t>, enabling precise control of </a:t>
                      </a:r>
                      <a:r>
                        <a:rPr lang="en-US" sz="1550" b="1" dirty="0">
                          <a:latin typeface="Times New Roman" panose="02020603050405020304" pitchFamily="18" charset="0"/>
                          <a:cs typeface="Times New Roman" panose="02020603050405020304" pitchFamily="18" charset="0"/>
                        </a:rPr>
                        <a:t>power transfer</a:t>
                      </a:r>
                      <a:r>
                        <a:rPr lang="en-US" sz="1550" dirty="0">
                          <a:latin typeface="Times New Roman" panose="02020603050405020304" pitchFamily="18" charset="0"/>
                          <a:cs typeface="Times New Roman" panose="02020603050405020304" pitchFamily="18" charset="0"/>
                        </a:rPr>
                        <a:t> between the two sides.</a:t>
                      </a:r>
                      <a:endParaRPr lang="en-IN" sz="1550" spc="11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566739" marR="0" lvl="1" indent="-283370" algn="just" defTabSz="914400" rtl="0" eaLnBrk="1" fontAlgn="auto" latinLnBrk="0" hangingPunct="1">
                        <a:lnSpc>
                          <a:spcPct val="150000"/>
                        </a:lnSpc>
                        <a:spcBef>
                          <a:spcPts val="0"/>
                        </a:spcBef>
                        <a:spcAft>
                          <a:spcPts val="0"/>
                        </a:spcAft>
                        <a:buClr>
                          <a:srgbClr val="0000FF"/>
                        </a:buClr>
                        <a:buSzTx/>
                        <a:buFont typeface="Arial"/>
                        <a:buChar char="•"/>
                        <a:tabLst/>
                        <a:defRPr/>
                      </a:pPr>
                      <a:r>
                        <a:rPr lang="en-US" sz="1550" dirty="0">
                          <a:latin typeface="Times New Roman" panose="02020603050405020304" pitchFamily="18" charset="0"/>
                          <a:cs typeface="Times New Roman" panose="02020603050405020304" pitchFamily="18" charset="0"/>
                        </a:rPr>
                        <a:t>In the </a:t>
                      </a:r>
                      <a:r>
                        <a:rPr lang="en-US" sz="1550" b="1" dirty="0">
                          <a:latin typeface="Times New Roman" panose="02020603050405020304" pitchFamily="18" charset="0"/>
                          <a:cs typeface="Times New Roman" panose="02020603050405020304" pitchFamily="18" charset="0"/>
                        </a:rPr>
                        <a:t>first and third intervals</a:t>
                      </a:r>
                      <a:r>
                        <a:rPr lang="en-US" sz="1550" dirty="0">
                          <a:latin typeface="Times New Roman" panose="02020603050405020304" pitchFamily="18" charset="0"/>
                          <a:cs typeface="Times New Roman" panose="02020603050405020304" pitchFamily="18" charset="0"/>
                        </a:rPr>
                        <a:t>, switches </a:t>
                      </a:r>
                      <a:r>
                        <a:rPr lang="en-US" sz="1550" b="1" dirty="0">
                          <a:latin typeface="Times New Roman" panose="02020603050405020304" pitchFamily="18" charset="0"/>
                          <a:cs typeface="Times New Roman" panose="02020603050405020304" pitchFamily="18" charset="0"/>
                        </a:rPr>
                        <a:t>S1 &amp; S3</a:t>
                      </a:r>
                      <a:r>
                        <a:rPr lang="en-US" sz="1550" dirty="0">
                          <a:latin typeface="Times New Roman" panose="02020603050405020304" pitchFamily="18" charset="0"/>
                          <a:cs typeface="Times New Roman" panose="02020603050405020304" pitchFamily="18" charset="0"/>
                        </a:rPr>
                        <a:t> (primary) and  </a:t>
                      </a:r>
                      <a:r>
                        <a:rPr lang="en-US" sz="1550" b="1" dirty="0">
                          <a:latin typeface="Times New Roman" panose="02020603050405020304" pitchFamily="18" charset="0"/>
                          <a:cs typeface="Times New Roman" panose="02020603050405020304" pitchFamily="18" charset="0"/>
                        </a:rPr>
                        <a:t>S5 &amp; S7</a:t>
                      </a:r>
                      <a:r>
                        <a:rPr lang="en-US" sz="1550" dirty="0">
                          <a:latin typeface="Times New Roman" panose="02020603050405020304" pitchFamily="18" charset="0"/>
                          <a:cs typeface="Times New Roman" panose="02020603050405020304" pitchFamily="18" charset="0"/>
                        </a:rPr>
                        <a:t> (secondary) conduct, forming one polarity of operation.</a:t>
                      </a:r>
                      <a:endParaRPr lang="en-IN" sz="1550" spc="11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566739" marR="0" lvl="1" indent="-283370" algn="just" defTabSz="914400" rtl="0" eaLnBrk="1" fontAlgn="auto" latinLnBrk="0" hangingPunct="1">
                        <a:lnSpc>
                          <a:spcPct val="150000"/>
                        </a:lnSpc>
                        <a:spcBef>
                          <a:spcPts val="0"/>
                        </a:spcBef>
                        <a:spcAft>
                          <a:spcPts val="0"/>
                        </a:spcAft>
                        <a:buClr>
                          <a:srgbClr val="0000FF"/>
                        </a:buClr>
                        <a:buSzTx/>
                        <a:buFont typeface="Arial"/>
                        <a:buChar char="•"/>
                        <a:tabLst/>
                        <a:defRPr/>
                      </a:pPr>
                      <a:r>
                        <a:rPr lang="en-US" sz="1550" dirty="0">
                          <a:latin typeface="Times New Roman" panose="02020603050405020304" pitchFamily="18" charset="0"/>
                          <a:cs typeface="Times New Roman" panose="02020603050405020304" pitchFamily="18" charset="0"/>
                        </a:rPr>
                        <a:t>In the </a:t>
                      </a:r>
                      <a:r>
                        <a:rPr lang="en-US" sz="1550" b="1" dirty="0">
                          <a:latin typeface="Times New Roman" panose="02020603050405020304" pitchFamily="18" charset="0"/>
                          <a:cs typeface="Times New Roman" panose="02020603050405020304" pitchFamily="18" charset="0"/>
                        </a:rPr>
                        <a:t>second and fourth intervals</a:t>
                      </a:r>
                      <a:r>
                        <a:rPr lang="en-US" sz="1550" dirty="0">
                          <a:latin typeface="Times New Roman" panose="02020603050405020304" pitchFamily="18" charset="0"/>
                          <a:cs typeface="Times New Roman" panose="02020603050405020304" pitchFamily="18" charset="0"/>
                        </a:rPr>
                        <a:t>, switches </a:t>
                      </a:r>
                      <a:r>
                        <a:rPr lang="en-US" sz="1550" b="1" dirty="0">
                          <a:latin typeface="Times New Roman" panose="02020603050405020304" pitchFamily="18" charset="0"/>
                          <a:cs typeface="Times New Roman" panose="02020603050405020304" pitchFamily="18" charset="0"/>
                        </a:rPr>
                        <a:t>S2 &amp; S4</a:t>
                      </a:r>
                      <a:r>
                        <a:rPr lang="en-US" sz="1550" dirty="0">
                          <a:latin typeface="Times New Roman" panose="02020603050405020304" pitchFamily="18" charset="0"/>
                          <a:cs typeface="Times New Roman" panose="02020603050405020304" pitchFamily="18" charset="0"/>
                        </a:rPr>
                        <a:t> (primary) and </a:t>
                      </a:r>
                      <a:r>
                        <a:rPr lang="en-US" sz="1550" b="1" dirty="0">
                          <a:latin typeface="Times New Roman" panose="02020603050405020304" pitchFamily="18" charset="0"/>
                          <a:cs typeface="Times New Roman" panose="02020603050405020304" pitchFamily="18" charset="0"/>
                        </a:rPr>
                        <a:t>S6 &amp; S8</a:t>
                      </a:r>
                      <a:r>
                        <a:rPr lang="en-US" sz="1550" dirty="0">
                          <a:latin typeface="Times New Roman" panose="02020603050405020304" pitchFamily="18" charset="0"/>
                          <a:cs typeface="Times New Roman" panose="02020603050405020304" pitchFamily="18" charset="0"/>
                        </a:rPr>
                        <a:t> (secondary) conduct, reversing the polarity, thus completing the </a:t>
                      </a:r>
                      <a:r>
                        <a:rPr lang="en-US" sz="1550" b="1" dirty="0">
                          <a:latin typeface="Times New Roman" panose="02020603050405020304" pitchFamily="18" charset="0"/>
                          <a:cs typeface="Times New Roman" panose="02020603050405020304" pitchFamily="18" charset="0"/>
                        </a:rPr>
                        <a:t>cyclic bidirectional power flow</a:t>
                      </a:r>
                      <a:r>
                        <a:rPr lang="en-US" sz="1550" dirty="0">
                          <a:latin typeface="Times New Roman" panose="02020603050405020304" pitchFamily="18" charset="0"/>
                          <a:cs typeface="Times New Roman" panose="02020603050405020304" pitchFamily="18" charset="0"/>
                        </a:rPr>
                        <a:t>.</a:t>
                      </a:r>
                      <a:r>
                        <a:rPr lang="en-US" sz="1550" b="1" dirty="0">
                          <a:solidFill>
                            <a:schemeClr val="tx1"/>
                          </a:solidFill>
                          <a:latin typeface="Times New Roman" panose="02020603050405020304" pitchFamily="18" charset="0"/>
                          <a:cs typeface="Times New Roman" panose="02020603050405020304" pitchFamily="18" charset="0"/>
                        </a:rPr>
                        <a:t> </a:t>
                      </a:r>
                      <a:endParaRPr lang="en-IN" sz="1550" spc="11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8605795"/>
                  </a:ext>
                </a:extLst>
              </a:tr>
            </a:tbl>
          </a:graphicData>
        </a:graphic>
      </p:graphicFrame>
      <p:sp>
        <p:nvSpPr>
          <p:cNvPr id="9" name="TextBox 8">
            <a:extLst>
              <a:ext uri="{FF2B5EF4-FFF2-40B4-BE49-F238E27FC236}">
                <a16:creationId xmlns:a16="http://schemas.microsoft.com/office/drawing/2014/main" id="{FA061DBE-CBC7-A479-4ABC-CF75940E5312}"/>
              </a:ext>
            </a:extLst>
          </p:cNvPr>
          <p:cNvSpPr txBox="1"/>
          <p:nvPr/>
        </p:nvSpPr>
        <p:spPr>
          <a:xfrm>
            <a:off x="11624146" y="6584221"/>
            <a:ext cx="532490" cy="323165"/>
          </a:xfrm>
          <a:prstGeom prst="rect">
            <a:avLst/>
          </a:prstGeom>
          <a:noFill/>
        </p:spPr>
        <p:txBody>
          <a:bodyPr wrap="square" rtlCol="0">
            <a:spAutoFit/>
          </a:bodyPr>
          <a:lstStyle/>
          <a:p>
            <a:r>
              <a:rPr lang="en-IN" sz="1500" dirty="0">
                <a:solidFill>
                  <a:schemeClr val="bg1"/>
                </a:solidFill>
                <a:latin typeface="Times New Roman" panose="02020603050405020304" pitchFamily="18" charset="0"/>
                <a:cs typeface="Times New Roman" panose="02020603050405020304" pitchFamily="18" charset="0"/>
              </a:rPr>
              <a:t>5/12</a:t>
            </a:r>
          </a:p>
        </p:txBody>
      </p:sp>
      <p:sp>
        <p:nvSpPr>
          <p:cNvPr id="10" name="TextBox 14">
            <a:extLst>
              <a:ext uri="{FF2B5EF4-FFF2-40B4-BE49-F238E27FC236}">
                <a16:creationId xmlns:a16="http://schemas.microsoft.com/office/drawing/2014/main" id="{CA9F34E7-96DA-D17E-C168-E484795A62DE}"/>
              </a:ext>
            </a:extLst>
          </p:cNvPr>
          <p:cNvSpPr txBox="1"/>
          <p:nvPr/>
        </p:nvSpPr>
        <p:spPr>
          <a:xfrm>
            <a:off x="3684566" y="103586"/>
            <a:ext cx="4822870" cy="320601"/>
          </a:xfrm>
          <a:prstGeom prst="rect">
            <a:avLst/>
          </a:prstGeom>
        </p:spPr>
        <p:txBody>
          <a:bodyPr lIns="0" tIns="0" rIns="0" bIns="0" rtlCol="0" anchor="t">
            <a:spAutoFit/>
          </a:bodyPr>
          <a:lstStyle/>
          <a:p>
            <a:pPr algn="ctr">
              <a:lnSpc>
                <a:spcPts val="2451"/>
              </a:lnSpc>
              <a:spcBef>
                <a:spcPct val="0"/>
              </a:spcBef>
            </a:pPr>
            <a:r>
              <a:rPr lang="en-US" sz="2333" dirty="0">
                <a:solidFill>
                  <a:srgbClr val="FFFFFF"/>
                </a:solidFill>
                <a:latin typeface="Book Antiqua" panose="02040602050305030304" pitchFamily="18" charset="0"/>
                <a:ea typeface="League Spartan"/>
                <a:cs typeface="Times New Roman" panose="02020603050405020304" pitchFamily="18" charset="0"/>
                <a:sym typeface="League Spartan"/>
              </a:rPr>
              <a:t>SPS CONTROL STRATEGY</a:t>
            </a:r>
          </a:p>
        </p:txBody>
      </p:sp>
    </p:spTree>
    <p:extLst>
      <p:ext uri="{BB962C8B-B14F-4D97-AF65-F5344CB8AC3E}">
        <p14:creationId xmlns:p14="http://schemas.microsoft.com/office/powerpoint/2010/main" val="2030274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412104169"/>
                  </p:ext>
                </p:extLst>
              </p:nvPr>
            </p:nvGraphicFramePr>
            <p:xfrm>
              <a:off x="383225" y="889000"/>
              <a:ext cx="3842470" cy="2106019"/>
            </p:xfrm>
            <a:graphic>
              <a:graphicData uri="http://schemas.openxmlformats.org/drawingml/2006/table">
                <a:tbl>
                  <a:tblPr firstRow="1" bandRow="1">
                    <a:tableStyleId>{2D5ABB26-0587-4C30-8999-92F81FD0307C}</a:tableStyleId>
                  </a:tblPr>
                  <a:tblGrid>
                    <a:gridCol w="2160000">
                      <a:extLst>
                        <a:ext uri="{9D8B030D-6E8A-4147-A177-3AD203B41FA5}">
                          <a16:colId xmlns:a16="http://schemas.microsoft.com/office/drawing/2014/main" val="2233678640"/>
                        </a:ext>
                      </a:extLst>
                    </a:gridCol>
                    <a:gridCol w="602470">
                      <a:extLst>
                        <a:ext uri="{9D8B030D-6E8A-4147-A177-3AD203B41FA5}">
                          <a16:colId xmlns:a16="http://schemas.microsoft.com/office/drawing/2014/main" val="3614896520"/>
                        </a:ext>
                      </a:extLst>
                    </a:gridCol>
                    <a:gridCol w="1080000">
                      <a:extLst>
                        <a:ext uri="{9D8B030D-6E8A-4147-A177-3AD203B41FA5}">
                          <a16:colId xmlns:a16="http://schemas.microsoft.com/office/drawing/2014/main" val="2275621296"/>
                        </a:ext>
                      </a:extLst>
                    </a:gridCol>
                  </a:tblGrid>
                  <a:tr h="299719">
                    <a:tc gridSpan="3">
                      <a:txBody>
                        <a:bodyPr/>
                        <a:lstStyle/>
                        <a:p>
                          <a:pPr algn="ctr"/>
                          <a:r>
                            <a:rPr lang="en-IN" sz="1600" b="0" dirty="0">
                              <a:solidFill>
                                <a:srgbClr val="0000FF"/>
                              </a:solidFill>
                              <a:latin typeface="Times New Roman" panose="02020603050405020304" pitchFamily="18" charset="0"/>
                              <a:cs typeface="Times New Roman" panose="02020603050405020304" pitchFamily="18" charset="0"/>
                            </a:rPr>
                            <a:t>Table</a:t>
                          </a:r>
                          <a:r>
                            <a:rPr lang="en-IN" sz="1600" b="0" baseline="0" dirty="0">
                              <a:solidFill>
                                <a:srgbClr val="0000FF"/>
                              </a:solidFill>
                              <a:latin typeface="Times New Roman" panose="02020603050405020304" pitchFamily="18" charset="0"/>
                              <a:cs typeface="Times New Roman" panose="02020603050405020304" pitchFamily="18" charset="0"/>
                            </a:rPr>
                            <a:t> </a:t>
                          </a:r>
                          <a:r>
                            <a:rPr lang="en-IN" sz="1600" b="0" dirty="0">
                              <a:solidFill>
                                <a:srgbClr val="0000FF"/>
                              </a:solidFill>
                              <a:latin typeface="Times New Roman" panose="02020603050405020304" pitchFamily="18" charset="0"/>
                              <a:cs typeface="Times New Roman" panose="02020603050405020304" pitchFamily="18" charset="0"/>
                            </a:rPr>
                            <a:t>1</a:t>
                          </a:r>
                          <a:r>
                            <a:rPr lang="en-IN" sz="1600" dirty="0">
                              <a:latin typeface="Times New Roman" panose="02020603050405020304" pitchFamily="18" charset="0"/>
                              <a:cs typeface="Times New Roman" panose="02020603050405020304" pitchFamily="18" charset="0"/>
                            </a:rPr>
                            <a:t>:</a:t>
                          </a:r>
                          <a:r>
                            <a:rPr lang="en-IN" sz="1600" baseline="0" dirty="0">
                              <a:latin typeface="Times New Roman" panose="02020603050405020304" pitchFamily="18" charset="0"/>
                              <a:cs typeface="Times New Roman" panose="02020603050405020304" pitchFamily="18" charset="0"/>
                            </a:rPr>
                            <a:t> Converter Parameters</a:t>
                          </a:r>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516900203"/>
                      </a:ext>
                    </a:extLst>
                  </a:tr>
                  <a:tr h="299719">
                    <a:tc gridSpan="3">
                      <a:txBody>
                        <a:bodyPr/>
                        <a:lstStyle/>
                        <a:p>
                          <a:pPr algn="ctr"/>
                          <a:r>
                            <a:rPr lang="en-IN" sz="1600" b="1" dirty="0">
                              <a:latin typeface="Times New Roman" panose="02020603050405020304" pitchFamily="18" charset="0"/>
                              <a:cs typeface="Times New Roman" panose="02020603050405020304" pitchFamily="18" charset="0"/>
                            </a:rPr>
                            <a:t>Source Side Parameters</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a:p>
                      </a:txBody>
                      <a:tcPr/>
                    </a:tc>
                    <a:tc hMerge="1">
                      <a:txBody>
                        <a:bodyPr/>
                        <a:lstStyle/>
                        <a:p>
                          <a:endParaRPr lang="en-IN" sz="2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7770257"/>
                      </a:ext>
                    </a:extLst>
                  </a:tr>
                  <a:tr h="307705">
                    <a:tc>
                      <a:txBody>
                        <a:bodyPr/>
                        <a:lstStyle/>
                        <a:p>
                          <a:r>
                            <a:rPr lang="en-IN" sz="1600" baseline="0" dirty="0">
                              <a:latin typeface="Times New Roman" panose="02020603050405020304" pitchFamily="18" charset="0"/>
                              <a:cs typeface="Times New Roman" panose="02020603050405020304" pitchFamily="18" charset="0"/>
                            </a:rPr>
                            <a:t>Input Voltage </a:t>
                          </a:r>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𝑉</m:t>
                                    </m:r>
                                  </m:e>
                                  <m:sub>
                                    <m:r>
                                      <a:rPr lang="en-IN" sz="1600" b="0" i="1" smtClean="0">
                                        <a:latin typeface="Cambria Math" panose="02040503050406030204" pitchFamily="18" charset="0"/>
                                        <a:cs typeface="Times New Roman" panose="02020603050405020304" pitchFamily="18" charset="0"/>
                                      </a:rPr>
                                      <m:t>𝑖𝑛</m:t>
                                    </m:r>
                                  </m:sub>
                                </m:sSub>
                              </m:oMath>
                            </m:oMathPara>
                          </a14:m>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IN" sz="1600" b="0" i="1" smtClean="0">
                                    <a:latin typeface="Cambria Math" panose="02040503050406030204" pitchFamily="18" charset="0"/>
                                    <a:cs typeface="Times New Roman" panose="02020603050405020304" pitchFamily="18" charset="0"/>
                                  </a:rPr>
                                  <m:t>400 </m:t>
                                </m:r>
                                <m:r>
                                  <m:rPr>
                                    <m:sty m:val="p"/>
                                  </m:rPr>
                                  <a:rPr lang="en-IN" sz="1600" b="0" i="0" smtClean="0">
                                    <a:latin typeface="Cambria Math" panose="02040503050406030204" pitchFamily="18" charset="0"/>
                                    <a:cs typeface="Times New Roman" panose="02020603050405020304" pitchFamily="18" charset="0"/>
                                  </a:rPr>
                                  <m:t>V</m:t>
                                </m:r>
                              </m:oMath>
                            </m:oMathPara>
                          </a14:m>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44136725"/>
                      </a:ext>
                    </a:extLst>
                  </a:tr>
                  <a:tr h="299719">
                    <a:tc>
                      <a:txBody>
                        <a:bodyPr/>
                        <a:lstStyle/>
                        <a:p>
                          <a:r>
                            <a:rPr lang="en-IN" sz="1600" dirty="0">
                              <a:latin typeface="Times New Roman" panose="02020603050405020304" pitchFamily="18" charset="0"/>
                              <a:cs typeface="Times New Roman" panose="02020603050405020304" pitchFamily="18" charset="0"/>
                            </a:rPr>
                            <a:t>Input Capacitance</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600" dirty="0">
                              <a:latin typeface="Times New Roman" panose="02020603050405020304" pitchFamily="18" charset="0"/>
                              <a:cs typeface="Times New Roman" panose="02020603050405020304" pitchFamily="18" charset="0"/>
                            </a:rPr>
                            <a:t>  Cin</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i="0" dirty="0">
                              <a:latin typeface="Times New Roman" panose="02020603050405020304" pitchFamily="18" charset="0"/>
                              <a:cs typeface="Times New Roman" panose="02020603050405020304" pitchFamily="18" charset="0"/>
                            </a:rPr>
                            <a:t>     1200 </a:t>
                          </a:r>
                          <a14:m>
                            <m:oMath xmlns:m="http://schemas.openxmlformats.org/officeDocument/2006/math">
                              <m:r>
                                <a:rPr lang="en-IN" sz="1600" b="0" i="0" smtClean="0">
                                  <a:latin typeface="Cambria Math" panose="02040503050406030204" pitchFamily="18" charset="0"/>
                                  <a:cs typeface="Times New Roman" panose="02020603050405020304" pitchFamily="18" charset="0"/>
                                </a:rPr>
                                <m:t>µ</m:t>
                              </m:r>
                              <m:r>
                                <m:rPr>
                                  <m:sty m:val="p"/>
                                </m:rPr>
                                <a:rPr lang="en-IN" sz="1600" b="0" i="0" smtClean="0">
                                  <a:latin typeface="Cambria Math" panose="02040503050406030204" pitchFamily="18" charset="0"/>
                                  <a:cs typeface="Times New Roman" panose="02020603050405020304" pitchFamily="18" charset="0"/>
                                </a:rPr>
                                <m:t>F</m:t>
                              </m:r>
                            </m:oMath>
                          </a14:m>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85248661"/>
                      </a:ext>
                    </a:extLst>
                  </a:tr>
                  <a:tr h="299719">
                    <a:tc gridSpan="3">
                      <a:txBody>
                        <a:bodyPr/>
                        <a:lstStyle/>
                        <a:p>
                          <a:pPr algn="ctr"/>
                          <a:r>
                            <a:rPr lang="en-IN" sz="1600" b="1" dirty="0">
                              <a:latin typeface="Times New Roman" panose="02020603050405020304" pitchFamily="18" charset="0"/>
                              <a:cs typeface="Times New Roman" panose="02020603050405020304" pitchFamily="18" charset="0"/>
                            </a:rPr>
                            <a:t>Load Side Parameters</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a:p>
                      </a:txBody>
                      <a:tcPr/>
                    </a:tc>
                    <a:tc hMerge="1">
                      <a:txBody>
                        <a:bodyPr/>
                        <a:lstStyle/>
                        <a:p>
                          <a:endParaRPr lang="en-IN" sz="2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8551592"/>
                      </a:ext>
                    </a:extLst>
                  </a:tr>
                  <a:tr h="299719">
                    <a:tc>
                      <a:txBody>
                        <a:bodyPr/>
                        <a:lstStyle/>
                        <a:p>
                          <a:r>
                            <a:rPr lang="en-IN" sz="1600" dirty="0">
                              <a:latin typeface="Times New Roman" panose="02020603050405020304" pitchFamily="18" charset="0"/>
                              <a:cs typeface="Times New Roman" panose="02020603050405020304" pitchFamily="18" charset="0"/>
                            </a:rPr>
                            <a:t>Nominal Battery Voltage</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𝑉</m:t>
                                    </m:r>
                                  </m:e>
                                  <m:sub>
                                    <m:r>
                                      <a:rPr lang="en-IN" sz="1600" b="0" i="1" smtClean="0">
                                        <a:latin typeface="Cambria Math" panose="02040503050406030204" pitchFamily="18" charset="0"/>
                                        <a:cs typeface="Times New Roman" panose="02020603050405020304" pitchFamily="18" charset="0"/>
                                      </a:rPr>
                                      <m:t>𝑂</m:t>
                                    </m:r>
                                  </m:sub>
                                </m:sSub>
                              </m:oMath>
                            </m:oMathPara>
                          </a14:m>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r>
                                  <a:rPr lang="en-IN" sz="1600" b="0" i="1" smtClean="0">
                                    <a:latin typeface="Cambria Math" panose="02040503050406030204" pitchFamily="18" charset="0"/>
                                    <a:cs typeface="Times New Roman" panose="02020603050405020304" pitchFamily="18" charset="0"/>
                                  </a:rPr>
                                  <m:t>60 </m:t>
                                </m:r>
                                <m:r>
                                  <m:rPr>
                                    <m:sty m:val="p"/>
                                  </m:rPr>
                                  <a:rPr lang="en-IN" sz="1600" b="0" i="0" smtClean="0">
                                    <a:latin typeface="Cambria Math" panose="02040503050406030204" pitchFamily="18" charset="0"/>
                                    <a:cs typeface="Times New Roman" panose="02020603050405020304" pitchFamily="18" charset="0"/>
                                  </a:rPr>
                                  <m:t>V</m:t>
                                </m:r>
                              </m:oMath>
                            </m:oMathPara>
                          </a14:m>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4430114"/>
                      </a:ext>
                    </a:extLst>
                  </a:tr>
                  <a:tr h="299719">
                    <a:tc>
                      <a:txBody>
                        <a:bodyPr/>
                        <a:lstStyle/>
                        <a:p>
                          <a:r>
                            <a:rPr lang="en-IN" sz="1600" dirty="0">
                              <a:latin typeface="Times New Roman" panose="02020603050405020304" pitchFamily="18" charset="0"/>
                              <a:cs typeface="Times New Roman" panose="02020603050405020304" pitchFamily="18" charset="0"/>
                            </a:rPr>
                            <a:t>Battery Ah Rating</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600" baseline="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1600" b="0" i="1" smtClean="0">
                                    <a:latin typeface="Cambria Math" panose="02040503050406030204" pitchFamily="18" charset="0"/>
                                    <a:cs typeface="Times New Roman" panose="02020603050405020304" pitchFamily="18" charset="0"/>
                                  </a:rPr>
                                  <m:t>120 </m:t>
                                </m:r>
                                <m:r>
                                  <a:rPr lang="en-IN" sz="1600" b="0" i="1" smtClean="0">
                                    <a:latin typeface="Cambria Math" panose="02040503050406030204" pitchFamily="18" charset="0"/>
                                    <a:cs typeface="Times New Roman" panose="02020603050405020304" pitchFamily="18" charset="0"/>
                                  </a:rPr>
                                  <m:t>𝐴h</m:t>
                                </m:r>
                                <m:r>
                                  <a:rPr lang="en-IN" sz="1600" b="0" i="1" smtClean="0">
                                    <a:latin typeface="Cambria Math" panose="02040503050406030204" pitchFamily="18" charset="0"/>
                                    <a:cs typeface="Times New Roman" panose="02020603050405020304" pitchFamily="18" charset="0"/>
                                  </a:rPr>
                                  <m:t> </m:t>
                                </m:r>
                              </m:oMath>
                            </m:oMathPara>
                          </a14:m>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2375007"/>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412104169"/>
                  </p:ext>
                </p:extLst>
              </p:nvPr>
            </p:nvGraphicFramePr>
            <p:xfrm>
              <a:off x="383225" y="889000"/>
              <a:ext cx="3842470" cy="2106019"/>
            </p:xfrm>
            <a:graphic>
              <a:graphicData uri="http://schemas.openxmlformats.org/drawingml/2006/table">
                <a:tbl>
                  <a:tblPr firstRow="1" bandRow="1">
                    <a:tableStyleId>{2D5ABB26-0587-4C30-8999-92F81FD0307C}</a:tableStyleId>
                  </a:tblPr>
                  <a:tblGrid>
                    <a:gridCol w="2160000">
                      <a:extLst>
                        <a:ext uri="{9D8B030D-6E8A-4147-A177-3AD203B41FA5}">
                          <a16:colId xmlns:a16="http://schemas.microsoft.com/office/drawing/2014/main" val="2233678640"/>
                        </a:ext>
                      </a:extLst>
                    </a:gridCol>
                    <a:gridCol w="602470">
                      <a:extLst>
                        <a:ext uri="{9D8B030D-6E8A-4147-A177-3AD203B41FA5}">
                          <a16:colId xmlns:a16="http://schemas.microsoft.com/office/drawing/2014/main" val="3614896520"/>
                        </a:ext>
                      </a:extLst>
                    </a:gridCol>
                    <a:gridCol w="1080000">
                      <a:extLst>
                        <a:ext uri="{9D8B030D-6E8A-4147-A177-3AD203B41FA5}">
                          <a16:colId xmlns:a16="http://schemas.microsoft.com/office/drawing/2014/main" val="2275621296"/>
                        </a:ext>
                      </a:extLst>
                    </a:gridCol>
                  </a:tblGrid>
                  <a:tr h="299719">
                    <a:tc gridSpan="3">
                      <a:txBody>
                        <a:bodyPr/>
                        <a:lstStyle/>
                        <a:p>
                          <a:pPr algn="ctr"/>
                          <a:r>
                            <a:rPr lang="en-IN" sz="1600" b="0" dirty="0">
                              <a:solidFill>
                                <a:srgbClr val="0000FF"/>
                              </a:solidFill>
                              <a:latin typeface="Times New Roman" panose="02020603050405020304" pitchFamily="18" charset="0"/>
                              <a:cs typeface="Times New Roman" panose="02020603050405020304" pitchFamily="18" charset="0"/>
                            </a:rPr>
                            <a:t>Table</a:t>
                          </a:r>
                          <a:r>
                            <a:rPr lang="en-IN" sz="1600" b="0" baseline="0" dirty="0">
                              <a:solidFill>
                                <a:srgbClr val="0000FF"/>
                              </a:solidFill>
                              <a:latin typeface="Times New Roman" panose="02020603050405020304" pitchFamily="18" charset="0"/>
                              <a:cs typeface="Times New Roman" panose="02020603050405020304" pitchFamily="18" charset="0"/>
                            </a:rPr>
                            <a:t> </a:t>
                          </a:r>
                          <a:r>
                            <a:rPr lang="en-IN" sz="1600" b="0" dirty="0">
                              <a:solidFill>
                                <a:srgbClr val="0000FF"/>
                              </a:solidFill>
                              <a:latin typeface="Times New Roman" panose="02020603050405020304" pitchFamily="18" charset="0"/>
                              <a:cs typeface="Times New Roman" panose="02020603050405020304" pitchFamily="18" charset="0"/>
                            </a:rPr>
                            <a:t>1</a:t>
                          </a:r>
                          <a:r>
                            <a:rPr lang="en-IN" sz="1600" dirty="0">
                              <a:latin typeface="Times New Roman" panose="02020603050405020304" pitchFamily="18" charset="0"/>
                              <a:cs typeface="Times New Roman" panose="02020603050405020304" pitchFamily="18" charset="0"/>
                            </a:rPr>
                            <a:t>:</a:t>
                          </a:r>
                          <a:r>
                            <a:rPr lang="en-IN" sz="1600" baseline="0" dirty="0">
                              <a:latin typeface="Times New Roman" panose="02020603050405020304" pitchFamily="18" charset="0"/>
                              <a:cs typeface="Times New Roman" panose="02020603050405020304" pitchFamily="18" charset="0"/>
                            </a:rPr>
                            <a:t> Converter Parameters</a:t>
                          </a:r>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516900203"/>
                      </a:ext>
                    </a:extLst>
                  </a:tr>
                  <a:tr h="299719">
                    <a:tc gridSpan="3">
                      <a:txBody>
                        <a:bodyPr/>
                        <a:lstStyle/>
                        <a:p>
                          <a:pPr algn="ctr"/>
                          <a:r>
                            <a:rPr lang="en-IN" sz="1600" b="1" dirty="0">
                              <a:latin typeface="Times New Roman" panose="02020603050405020304" pitchFamily="18" charset="0"/>
                              <a:cs typeface="Times New Roman" panose="02020603050405020304" pitchFamily="18" charset="0"/>
                            </a:rPr>
                            <a:t>Source Side Parameters</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a:p>
                      </a:txBody>
                      <a:tcPr/>
                    </a:tc>
                    <a:tc hMerge="1">
                      <a:txBody>
                        <a:bodyPr/>
                        <a:lstStyle/>
                        <a:p>
                          <a:endParaRPr lang="en-IN" sz="2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7770257"/>
                      </a:ext>
                    </a:extLst>
                  </a:tr>
                  <a:tr h="307705">
                    <a:tc>
                      <a:txBody>
                        <a:bodyPr/>
                        <a:lstStyle/>
                        <a:p>
                          <a:r>
                            <a:rPr lang="en-IN" sz="1600" baseline="0" dirty="0">
                              <a:latin typeface="Times New Roman" panose="02020603050405020304" pitchFamily="18" charset="0"/>
                              <a:cs typeface="Times New Roman" panose="02020603050405020304" pitchFamily="18" charset="0"/>
                            </a:rPr>
                            <a:t>Input Voltage </a:t>
                          </a:r>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59596" t="-210000" r="-181818" b="-424000"/>
                          </a:stretch>
                        </a:blipFill>
                      </a:tcPr>
                    </a:tc>
                    <a:tc>
                      <a:txBody>
                        <a:bodyPr/>
                        <a:lstStyle/>
                        <a:p>
                          <a:endParaRPr lang="en-US"/>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55618" t="-210000" r="-1124" b="-424000"/>
                          </a:stretch>
                        </a:blipFill>
                      </a:tcPr>
                    </a:tc>
                    <a:extLst>
                      <a:ext uri="{0D108BD9-81ED-4DB2-BD59-A6C34878D82A}">
                        <a16:rowId xmlns:a16="http://schemas.microsoft.com/office/drawing/2014/main" val="444136725"/>
                      </a:ext>
                    </a:extLst>
                  </a:tr>
                  <a:tr h="299719">
                    <a:tc>
                      <a:txBody>
                        <a:bodyPr/>
                        <a:lstStyle/>
                        <a:p>
                          <a:r>
                            <a:rPr lang="en-IN" sz="1600" dirty="0">
                              <a:latin typeface="Times New Roman" panose="02020603050405020304" pitchFamily="18" charset="0"/>
                              <a:cs typeface="Times New Roman" panose="02020603050405020304" pitchFamily="18" charset="0"/>
                            </a:rPr>
                            <a:t>Input Capacitance</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600" dirty="0">
                              <a:latin typeface="Times New Roman" panose="02020603050405020304" pitchFamily="18" charset="0"/>
                              <a:cs typeface="Times New Roman" panose="02020603050405020304" pitchFamily="18" charset="0"/>
                            </a:rPr>
                            <a:t>  Cin</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55618" t="-310000" r="-1124" b="-324000"/>
                          </a:stretch>
                        </a:blipFill>
                      </a:tcPr>
                    </a:tc>
                    <a:extLst>
                      <a:ext uri="{0D108BD9-81ED-4DB2-BD59-A6C34878D82A}">
                        <a16:rowId xmlns:a16="http://schemas.microsoft.com/office/drawing/2014/main" val="3585248661"/>
                      </a:ext>
                    </a:extLst>
                  </a:tr>
                  <a:tr h="299719">
                    <a:tc gridSpan="3">
                      <a:txBody>
                        <a:bodyPr/>
                        <a:lstStyle/>
                        <a:p>
                          <a:pPr algn="ctr"/>
                          <a:r>
                            <a:rPr lang="en-IN" sz="1600" b="1" dirty="0">
                              <a:latin typeface="Times New Roman" panose="02020603050405020304" pitchFamily="18" charset="0"/>
                              <a:cs typeface="Times New Roman" panose="02020603050405020304" pitchFamily="18" charset="0"/>
                            </a:rPr>
                            <a:t>Load Side Parameters</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a:p>
                      </a:txBody>
                      <a:tcPr/>
                    </a:tc>
                    <a:tc hMerge="1">
                      <a:txBody>
                        <a:bodyPr/>
                        <a:lstStyle/>
                        <a:p>
                          <a:endParaRPr lang="en-IN" sz="2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8551592"/>
                      </a:ext>
                    </a:extLst>
                  </a:tr>
                  <a:tr h="299719">
                    <a:tc>
                      <a:txBody>
                        <a:bodyPr/>
                        <a:lstStyle/>
                        <a:p>
                          <a:r>
                            <a:rPr lang="en-IN" sz="1600" dirty="0">
                              <a:latin typeface="Times New Roman" panose="02020603050405020304" pitchFamily="18" charset="0"/>
                              <a:cs typeface="Times New Roman" panose="02020603050405020304" pitchFamily="18" charset="0"/>
                            </a:rPr>
                            <a:t>Nominal Battery Voltage</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59596" t="-508000" r="-181818" b="-126000"/>
                          </a:stretch>
                        </a:blipFill>
                      </a:tcPr>
                    </a:tc>
                    <a:tc>
                      <a:txBody>
                        <a:bodyPr/>
                        <a:lstStyle/>
                        <a:p>
                          <a:endParaRPr lang="en-US"/>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55618" t="-508000" r="-1124" b="-126000"/>
                          </a:stretch>
                        </a:blipFill>
                      </a:tcPr>
                    </a:tc>
                    <a:extLst>
                      <a:ext uri="{0D108BD9-81ED-4DB2-BD59-A6C34878D82A}">
                        <a16:rowId xmlns:a16="http://schemas.microsoft.com/office/drawing/2014/main" val="1574430114"/>
                      </a:ext>
                    </a:extLst>
                  </a:tr>
                  <a:tr h="299719">
                    <a:tc>
                      <a:txBody>
                        <a:bodyPr/>
                        <a:lstStyle/>
                        <a:p>
                          <a:r>
                            <a:rPr lang="en-IN" sz="1600" dirty="0">
                              <a:latin typeface="Times New Roman" panose="02020603050405020304" pitchFamily="18" charset="0"/>
                              <a:cs typeface="Times New Roman" panose="02020603050405020304" pitchFamily="18" charset="0"/>
                            </a:rPr>
                            <a:t>Battery Ah Rating</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600" baseline="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55618" t="-620408" r="-1124" b="-28571"/>
                          </a:stretch>
                        </a:blipFill>
                      </a:tcPr>
                    </a:tc>
                    <a:extLst>
                      <a:ext uri="{0D108BD9-81ED-4DB2-BD59-A6C34878D82A}">
                        <a16:rowId xmlns:a16="http://schemas.microsoft.com/office/drawing/2014/main" val="178237500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1234790084"/>
                  </p:ext>
                </p:extLst>
              </p:nvPr>
            </p:nvGraphicFramePr>
            <p:xfrm>
              <a:off x="383225" y="3429000"/>
              <a:ext cx="3843216" cy="2397752"/>
            </p:xfrm>
            <a:graphic>
              <a:graphicData uri="http://schemas.openxmlformats.org/drawingml/2006/table">
                <a:tbl>
                  <a:tblPr firstRow="1" bandRow="1">
                    <a:tableStyleId>{2D5ABB26-0587-4C30-8999-92F81FD0307C}</a:tableStyleId>
                  </a:tblPr>
                  <a:tblGrid>
                    <a:gridCol w="2160000">
                      <a:extLst>
                        <a:ext uri="{9D8B030D-6E8A-4147-A177-3AD203B41FA5}">
                          <a16:colId xmlns:a16="http://schemas.microsoft.com/office/drawing/2014/main" val="2028586351"/>
                        </a:ext>
                      </a:extLst>
                    </a:gridCol>
                    <a:gridCol w="603216">
                      <a:extLst>
                        <a:ext uri="{9D8B030D-6E8A-4147-A177-3AD203B41FA5}">
                          <a16:colId xmlns:a16="http://schemas.microsoft.com/office/drawing/2014/main" val="146398175"/>
                        </a:ext>
                      </a:extLst>
                    </a:gridCol>
                    <a:gridCol w="1080000">
                      <a:extLst>
                        <a:ext uri="{9D8B030D-6E8A-4147-A177-3AD203B41FA5}">
                          <a16:colId xmlns:a16="http://schemas.microsoft.com/office/drawing/2014/main" val="839732347"/>
                        </a:ext>
                      </a:extLst>
                    </a:gridCol>
                  </a:tblGrid>
                  <a:tr h="299719">
                    <a:tc gridSpan="3">
                      <a:txBody>
                        <a:bodyPr/>
                        <a:lstStyle/>
                        <a:p>
                          <a:pPr algn="ctr"/>
                          <a:r>
                            <a:rPr lang="en-IN" sz="1600" b="0" dirty="0">
                              <a:solidFill>
                                <a:srgbClr val="0000FF"/>
                              </a:solidFill>
                              <a:latin typeface="Times New Roman" panose="02020603050405020304" pitchFamily="18" charset="0"/>
                              <a:cs typeface="Times New Roman" panose="02020603050405020304" pitchFamily="18" charset="0"/>
                            </a:rPr>
                            <a:t>Table</a:t>
                          </a:r>
                          <a:r>
                            <a:rPr lang="en-IN" sz="1600" b="0" baseline="0" dirty="0">
                              <a:solidFill>
                                <a:srgbClr val="0000FF"/>
                              </a:solidFill>
                              <a:latin typeface="Times New Roman" panose="02020603050405020304" pitchFamily="18" charset="0"/>
                              <a:cs typeface="Times New Roman" panose="02020603050405020304" pitchFamily="18" charset="0"/>
                            </a:rPr>
                            <a:t> </a:t>
                          </a:r>
                          <a:r>
                            <a:rPr lang="en-IN" sz="1600" b="0" dirty="0">
                              <a:solidFill>
                                <a:srgbClr val="0000FF"/>
                              </a:solidFill>
                              <a:latin typeface="Times New Roman" panose="02020603050405020304" pitchFamily="18" charset="0"/>
                              <a:cs typeface="Times New Roman" panose="02020603050405020304" pitchFamily="18" charset="0"/>
                            </a:rPr>
                            <a:t>2</a:t>
                          </a:r>
                          <a:r>
                            <a:rPr lang="en-IN" sz="1600" dirty="0">
                              <a:latin typeface="Times New Roman" panose="02020603050405020304" pitchFamily="18" charset="0"/>
                              <a:cs typeface="Times New Roman" panose="02020603050405020304" pitchFamily="18" charset="0"/>
                            </a:rPr>
                            <a:t>:</a:t>
                          </a:r>
                          <a:r>
                            <a:rPr lang="en-IN" sz="1600" baseline="0" dirty="0">
                              <a:latin typeface="Times New Roman" panose="02020603050405020304" pitchFamily="18" charset="0"/>
                              <a:cs typeface="Times New Roman" panose="02020603050405020304" pitchFamily="18" charset="0"/>
                            </a:rPr>
                            <a:t> Converter Parameters</a:t>
                          </a:r>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sz="2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2500" i="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87720"/>
                      </a:ext>
                    </a:extLst>
                  </a:tr>
                  <a:tr h="299719">
                    <a:tc>
                      <a:txBody>
                        <a:bodyPr/>
                        <a:lstStyle/>
                        <a:p>
                          <a:r>
                            <a:rPr lang="en-IN" sz="1600" dirty="0">
                              <a:latin typeface="Times New Roman" panose="02020603050405020304" pitchFamily="18" charset="0"/>
                              <a:cs typeface="Times New Roman" panose="02020603050405020304" pitchFamily="18" charset="0"/>
                            </a:rPr>
                            <a:t>Switching frequency</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𝑓</m:t>
                                    </m:r>
                                  </m:e>
                                  <m:sub>
                                    <m:r>
                                      <a:rPr lang="en-IN" sz="1600" b="0" i="1" smtClean="0">
                                        <a:latin typeface="Cambria Math" panose="02040503050406030204" pitchFamily="18" charset="0"/>
                                        <a:cs typeface="Times New Roman" panose="02020603050405020304" pitchFamily="18" charset="0"/>
                                      </a:rPr>
                                      <m:t>𝑠𝑤</m:t>
                                    </m:r>
                                  </m:sub>
                                </m:sSub>
                              </m:oMath>
                            </m:oMathPara>
                          </a14:m>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1600" b="0" i="0" smtClean="0">
                                    <a:latin typeface="Cambria Math" panose="02040503050406030204" pitchFamily="18" charset="0"/>
                                    <a:cs typeface="Times New Roman" panose="02020603050405020304" pitchFamily="18" charset="0"/>
                                  </a:rPr>
                                  <m:t>50 </m:t>
                                </m:r>
                                <m:r>
                                  <m:rPr>
                                    <m:sty m:val="p"/>
                                  </m:rPr>
                                  <a:rPr lang="en-IN" sz="1600" b="0" i="0" smtClean="0">
                                    <a:latin typeface="Cambria Math" panose="02040503050406030204" pitchFamily="18" charset="0"/>
                                    <a:cs typeface="Times New Roman" panose="02020603050405020304" pitchFamily="18" charset="0"/>
                                  </a:rPr>
                                  <m:t>kHz</m:t>
                                </m:r>
                              </m:oMath>
                            </m:oMathPara>
                          </a14:m>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79054033"/>
                      </a:ext>
                    </a:extLst>
                  </a:tr>
                  <a:tr h="299719">
                    <a:tc>
                      <a:txBody>
                        <a:bodyPr/>
                        <a:lstStyle/>
                        <a:p>
                          <a:r>
                            <a:rPr lang="en-IN" sz="1600" dirty="0">
                              <a:latin typeface="Times New Roman" panose="02020603050405020304" pitchFamily="18" charset="0"/>
                              <a:cs typeface="Times New Roman" panose="02020603050405020304" pitchFamily="18" charset="0"/>
                            </a:rPr>
                            <a:t>Transformer VA Rating</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600" dirty="0">
                              <a:latin typeface="Times New Roman" panose="02020603050405020304" pitchFamily="18" charset="0"/>
                              <a:cs typeface="Times New Roman" panose="02020603050405020304" pitchFamily="18" charset="0"/>
                            </a:rPr>
                            <a:t> -</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1600" b="0" i="0" smtClean="0">
                                    <a:latin typeface="Cambria Math" panose="02040503050406030204" pitchFamily="18" charset="0"/>
                                    <a:cs typeface="Times New Roman" panose="02020603050405020304" pitchFamily="18" charset="0"/>
                                  </a:rPr>
                                  <m:t>5 </m:t>
                                </m:r>
                                <m:r>
                                  <m:rPr>
                                    <m:sty m:val="p"/>
                                  </m:rPr>
                                  <a:rPr lang="en-IN" sz="1600" b="0" i="0" smtClean="0">
                                    <a:latin typeface="Cambria Math" panose="02040503050406030204" pitchFamily="18" charset="0"/>
                                    <a:cs typeface="Times New Roman" panose="02020603050405020304" pitchFamily="18" charset="0"/>
                                  </a:rPr>
                                  <m:t>kVA</m:t>
                                </m:r>
                              </m:oMath>
                            </m:oMathPara>
                          </a14:m>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89546763"/>
                      </a:ext>
                    </a:extLst>
                  </a:tr>
                  <a:tr h="299719">
                    <a:tc>
                      <a:txBody>
                        <a:bodyPr/>
                        <a:lstStyle/>
                        <a:p>
                          <a:r>
                            <a:rPr lang="en-IN" sz="1600" dirty="0">
                              <a:latin typeface="Times New Roman" panose="02020603050405020304" pitchFamily="18" charset="0"/>
                              <a:cs typeface="Times New Roman" panose="02020603050405020304" pitchFamily="18" charset="0"/>
                            </a:rPr>
                            <a:t>Transformer Turns Ratio</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600" dirty="0">
                              <a:latin typeface="Times New Roman" panose="02020603050405020304" pitchFamily="18" charset="0"/>
                              <a:cs typeface="Times New Roman" panose="02020603050405020304" pitchFamily="18" charset="0"/>
                            </a:rPr>
                            <a:t>N</a:t>
                          </a:r>
                          <a:r>
                            <a:rPr lang="en-IN" sz="1400" dirty="0">
                              <a:latin typeface="Times New Roman" panose="02020603050405020304" pitchFamily="18" charset="0"/>
                              <a:cs typeface="Times New Roman" panose="02020603050405020304" pitchFamily="18" charset="0"/>
                            </a:rPr>
                            <a:t>p:</a:t>
                          </a:r>
                          <a:r>
                            <a:rPr lang="en-IN" sz="1600" dirty="0">
                              <a:latin typeface="Times New Roman" panose="02020603050405020304" pitchFamily="18" charset="0"/>
                              <a:cs typeface="Times New Roman" panose="02020603050405020304" pitchFamily="18" charset="0"/>
                            </a:rPr>
                            <a:t>N</a:t>
                          </a:r>
                          <a:r>
                            <a:rPr lang="en-IN" sz="1400" dirty="0">
                              <a:latin typeface="Times New Roman" panose="02020603050405020304" pitchFamily="18" charset="0"/>
                              <a:cs typeface="Times New Roman" panose="02020603050405020304" pitchFamily="18" charset="0"/>
                            </a:rPr>
                            <a:t>s</a:t>
                          </a:r>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i="0" baseline="0" dirty="0">
                              <a:latin typeface="Times New Roman" panose="02020603050405020304" pitchFamily="18" charset="0"/>
                              <a:cs typeface="Times New Roman" panose="02020603050405020304" pitchFamily="18" charset="0"/>
                            </a:rPr>
                            <a:t>       6.67:1</a:t>
                          </a:r>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9770841"/>
                      </a:ext>
                    </a:extLst>
                  </a:tr>
                  <a:tr h="299719">
                    <a:tc>
                      <a:txBody>
                        <a:bodyPr/>
                        <a:lstStyle/>
                        <a:p>
                          <a:r>
                            <a:rPr lang="en-IN" sz="1600" dirty="0">
                              <a:latin typeface="Times New Roman" panose="02020603050405020304" pitchFamily="18" charset="0"/>
                              <a:cs typeface="Times New Roman" panose="02020603050405020304" pitchFamily="18" charset="0"/>
                            </a:rPr>
                            <a:t>Leakage Inductance</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𝐿</m:t>
                                    </m:r>
                                  </m:e>
                                  <m:sub>
                                    <m:r>
                                      <a:rPr lang="en-IN" sz="1600" b="0" i="1" smtClean="0">
                                        <a:latin typeface="Cambria Math" panose="02040503050406030204" pitchFamily="18" charset="0"/>
                                        <a:cs typeface="Times New Roman" panose="02020603050405020304" pitchFamily="18" charset="0"/>
                                      </a:rPr>
                                      <m:t>𝑙𝑘</m:t>
                                    </m:r>
                                  </m:sub>
                                </m:sSub>
                              </m:oMath>
                            </m:oMathPara>
                          </a14:m>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1600" b="0" i="0" smtClean="0">
                                    <a:latin typeface="Cambria Math" panose="02040503050406030204" pitchFamily="18" charset="0"/>
                                    <a:cs typeface="Times New Roman" panose="02020603050405020304" pitchFamily="18" charset="0"/>
                                  </a:rPr>
                                  <m:t>95 µ</m:t>
                                </m:r>
                                <m:r>
                                  <m:rPr>
                                    <m:sty m:val="p"/>
                                  </m:rPr>
                                  <a:rPr lang="en-IN" sz="1600" b="0" i="0" smtClean="0">
                                    <a:latin typeface="Cambria Math" panose="02040503050406030204" pitchFamily="18" charset="0"/>
                                    <a:cs typeface="Times New Roman" panose="02020603050405020304" pitchFamily="18" charset="0"/>
                                  </a:rPr>
                                  <m:t>H</m:t>
                                </m:r>
                              </m:oMath>
                            </m:oMathPara>
                          </a14:m>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0897377"/>
                      </a:ext>
                    </a:extLst>
                  </a:tr>
                  <a:tr h="299719">
                    <a:tc>
                      <a:txBody>
                        <a:bodyPr/>
                        <a:lstStyle/>
                        <a:p>
                          <a:r>
                            <a:rPr lang="en-IN" sz="1600" dirty="0">
                              <a:latin typeface="Times New Roman" panose="02020603050405020304" pitchFamily="18" charset="0"/>
                              <a:cs typeface="Times New Roman" panose="02020603050405020304" pitchFamily="18" charset="0"/>
                            </a:rPr>
                            <a:t>Output capacitance</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𝐶</m:t>
                                    </m:r>
                                  </m:e>
                                  <m:sub>
                                    <m:r>
                                      <a:rPr lang="en-IN" sz="1600" b="0" i="1" smtClean="0">
                                        <a:latin typeface="Cambria Math" panose="02040503050406030204" pitchFamily="18" charset="0"/>
                                        <a:cs typeface="Times New Roman" panose="02020603050405020304" pitchFamily="18" charset="0"/>
                                      </a:rPr>
                                      <m:t>𝑂</m:t>
                                    </m:r>
                                  </m:sub>
                                </m:sSub>
                              </m:oMath>
                            </m:oMathPara>
                          </a14:m>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1600" b="0" i="0" smtClean="0">
                                    <a:latin typeface="Cambria Math" panose="02040503050406030204" pitchFamily="18" charset="0"/>
                                    <a:cs typeface="Times New Roman" panose="02020603050405020304" pitchFamily="18" charset="0"/>
                                  </a:rPr>
                                  <m:t>1200 µ</m:t>
                                </m:r>
                                <m:r>
                                  <m:rPr>
                                    <m:sty m:val="p"/>
                                  </m:rPr>
                                  <a:rPr lang="en-IN" sz="1600" b="0" i="0" smtClean="0">
                                    <a:latin typeface="Cambria Math" panose="02040503050406030204" pitchFamily="18" charset="0"/>
                                    <a:cs typeface="Times New Roman" panose="02020603050405020304" pitchFamily="18" charset="0"/>
                                  </a:rPr>
                                  <m:t>F</m:t>
                                </m:r>
                              </m:oMath>
                            </m:oMathPara>
                          </a14:m>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34563374"/>
                      </a:ext>
                    </a:extLst>
                  </a:tr>
                  <a:tr h="299719">
                    <a:tc>
                      <a:txBody>
                        <a:bodyPr/>
                        <a:lstStyle/>
                        <a:p>
                          <a:r>
                            <a:rPr lang="en-IN" sz="1600" dirty="0">
                              <a:latin typeface="Times New Roman" panose="02020603050405020304" pitchFamily="18" charset="0"/>
                              <a:cs typeface="Times New Roman" panose="02020603050405020304" pitchFamily="18" charset="0"/>
                            </a:rPr>
                            <a:t>Output Power</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14:m>
                            <m:oMathPara xmlns:m="http://schemas.openxmlformats.org/officeDocument/2006/math">
                              <m:oMathParaPr>
                                <m:jc m:val="centerGroup"/>
                              </m:oMathParaPr>
                              <m:oMath xmlns:m="http://schemas.openxmlformats.org/officeDocument/2006/math">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𝑃</m:t>
                                    </m:r>
                                  </m:e>
                                  <m:sub>
                                    <m:r>
                                      <a:rPr lang="en-IN" sz="1600" b="0" i="1" smtClean="0">
                                        <a:latin typeface="Cambria Math" panose="02040503050406030204" pitchFamily="18" charset="0"/>
                                        <a:cs typeface="Times New Roman" panose="02020603050405020304" pitchFamily="18" charset="0"/>
                                      </a:rPr>
                                      <m:t>𝑜</m:t>
                                    </m:r>
                                  </m:sub>
                                </m:sSub>
                              </m:oMath>
                            </m:oMathPara>
                          </a14:m>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IN" sz="1600" b="0" i="0" smtClean="0">
                                    <a:latin typeface="Cambria Math" panose="02040503050406030204" pitchFamily="18" charset="0"/>
                                    <a:cs typeface="Times New Roman" panose="02020603050405020304" pitchFamily="18" charset="0"/>
                                  </a:rPr>
                                  <m:t>4.12 </m:t>
                                </m:r>
                                <m:r>
                                  <m:rPr>
                                    <m:sty m:val="p"/>
                                  </m:rPr>
                                  <a:rPr lang="en-IN" sz="1600" b="0" i="0" smtClean="0">
                                    <a:latin typeface="Cambria Math" panose="02040503050406030204" pitchFamily="18" charset="0"/>
                                    <a:cs typeface="Times New Roman" panose="02020603050405020304" pitchFamily="18" charset="0"/>
                                  </a:rPr>
                                  <m:t>kW</m:t>
                                </m:r>
                              </m:oMath>
                            </m:oMathPara>
                          </a14:m>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381538"/>
                      </a:ext>
                    </a:extLst>
                  </a:tr>
                  <a:tr h="299719">
                    <a:tc>
                      <a:txBody>
                        <a:bodyPr/>
                        <a:lstStyle/>
                        <a:p>
                          <a:r>
                            <a:rPr lang="en-IN" sz="1600" baseline="0" dirty="0">
                              <a:latin typeface="Times New Roman" panose="02020603050405020304" pitchFamily="18" charset="0"/>
                              <a:cs typeface="Times New Roman" panose="02020603050405020304" pitchFamily="18" charset="0"/>
                            </a:rPr>
                            <a:t>Efficiency(%)</a:t>
                          </a:r>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600" dirty="0">
                              <a:latin typeface="Times New Roman" panose="02020603050405020304" pitchFamily="18" charset="0"/>
                              <a:cs typeface="Times New Roman" panose="02020603050405020304" pitchFamily="18" charset="0"/>
                            </a:rPr>
                            <a:t>n</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600" i="0" dirty="0">
                              <a:latin typeface="Times New Roman" panose="02020603050405020304" pitchFamily="18" charset="0"/>
                              <a:cs typeface="Times New Roman" panose="02020603050405020304" pitchFamily="18" charset="0"/>
                            </a:rPr>
                            <a:t>96.78%</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2407972"/>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1234790084"/>
                  </p:ext>
                </p:extLst>
              </p:nvPr>
            </p:nvGraphicFramePr>
            <p:xfrm>
              <a:off x="383225" y="3429000"/>
              <a:ext cx="3843216" cy="2397752"/>
            </p:xfrm>
            <a:graphic>
              <a:graphicData uri="http://schemas.openxmlformats.org/drawingml/2006/table">
                <a:tbl>
                  <a:tblPr firstRow="1" bandRow="1">
                    <a:tableStyleId>{2D5ABB26-0587-4C30-8999-92F81FD0307C}</a:tableStyleId>
                  </a:tblPr>
                  <a:tblGrid>
                    <a:gridCol w="2160000">
                      <a:extLst>
                        <a:ext uri="{9D8B030D-6E8A-4147-A177-3AD203B41FA5}">
                          <a16:colId xmlns:a16="http://schemas.microsoft.com/office/drawing/2014/main" val="2028586351"/>
                        </a:ext>
                      </a:extLst>
                    </a:gridCol>
                    <a:gridCol w="603216">
                      <a:extLst>
                        <a:ext uri="{9D8B030D-6E8A-4147-A177-3AD203B41FA5}">
                          <a16:colId xmlns:a16="http://schemas.microsoft.com/office/drawing/2014/main" val="146398175"/>
                        </a:ext>
                      </a:extLst>
                    </a:gridCol>
                    <a:gridCol w="1080000">
                      <a:extLst>
                        <a:ext uri="{9D8B030D-6E8A-4147-A177-3AD203B41FA5}">
                          <a16:colId xmlns:a16="http://schemas.microsoft.com/office/drawing/2014/main" val="839732347"/>
                        </a:ext>
                      </a:extLst>
                    </a:gridCol>
                  </a:tblGrid>
                  <a:tr h="299719">
                    <a:tc gridSpan="3">
                      <a:txBody>
                        <a:bodyPr/>
                        <a:lstStyle/>
                        <a:p>
                          <a:pPr algn="ctr"/>
                          <a:r>
                            <a:rPr lang="en-IN" sz="1600" b="0" dirty="0">
                              <a:solidFill>
                                <a:srgbClr val="0000FF"/>
                              </a:solidFill>
                              <a:latin typeface="Times New Roman" panose="02020603050405020304" pitchFamily="18" charset="0"/>
                              <a:cs typeface="Times New Roman" panose="02020603050405020304" pitchFamily="18" charset="0"/>
                            </a:rPr>
                            <a:t>Table</a:t>
                          </a:r>
                          <a:r>
                            <a:rPr lang="en-IN" sz="1600" b="0" baseline="0" dirty="0">
                              <a:solidFill>
                                <a:srgbClr val="0000FF"/>
                              </a:solidFill>
                              <a:latin typeface="Times New Roman" panose="02020603050405020304" pitchFamily="18" charset="0"/>
                              <a:cs typeface="Times New Roman" panose="02020603050405020304" pitchFamily="18" charset="0"/>
                            </a:rPr>
                            <a:t> </a:t>
                          </a:r>
                          <a:r>
                            <a:rPr lang="en-IN" sz="1600" b="0" dirty="0">
                              <a:solidFill>
                                <a:srgbClr val="0000FF"/>
                              </a:solidFill>
                              <a:latin typeface="Times New Roman" panose="02020603050405020304" pitchFamily="18" charset="0"/>
                              <a:cs typeface="Times New Roman" panose="02020603050405020304" pitchFamily="18" charset="0"/>
                            </a:rPr>
                            <a:t>2</a:t>
                          </a:r>
                          <a:r>
                            <a:rPr lang="en-IN" sz="1600" dirty="0">
                              <a:latin typeface="Times New Roman" panose="02020603050405020304" pitchFamily="18" charset="0"/>
                              <a:cs typeface="Times New Roman" panose="02020603050405020304" pitchFamily="18" charset="0"/>
                            </a:rPr>
                            <a:t>:</a:t>
                          </a:r>
                          <a:r>
                            <a:rPr lang="en-IN" sz="1600" baseline="0" dirty="0">
                              <a:latin typeface="Times New Roman" panose="02020603050405020304" pitchFamily="18" charset="0"/>
                              <a:cs typeface="Times New Roman" panose="02020603050405020304" pitchFamily="18" charset="0"/>
                            </a:rPr>
                            <a:t> Converter Parameters</a:t>
                          </a:r>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sz="25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2500" i="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87720"/>
                      </a:ext>
                    </a:extLst>
                  </a:tr>
                  <a:tr h="299719">
                    <a:tc>
                      <a:txBody>
                        <a:bodyPr/>
                        <a:lstStyle/>
                        <a:p>
                          <a:r>
                            <a:rPr lang="en-IN" sz="1600" dirty="0">
                              <a:latin typeface="Times New Roman" panose="02020603050405020304" pitchFamily="18" charset="0"/>
                              <a:cs typeface="Times New Roman" panose="02020603050405020304" pitchFamily="18" charset="0"/>
                            </a:rPr>
                            <a:t>Switching frequency</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59596" t="-110000" r="-181818" b="-620000"/>
                          </a:stretch>
                        </a:blipFill>
                      </a:tcPr>
                    </a:tc>
                    <a:tc>
                      <a:txBody>
                        <a:bodyPr/>
                        <a:lstStyle/>
                        <a:p>
                          <a:endParaRPr lang="en-US"/>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255618" t="-110000" r="-1124" b="-620000"/>
                          </a:stretch>
                        </a:blipFill>
                      </a:tcPr>
                    </a:tc>
                    <a:extLst>
                      <a:ext uri="{0D108BD9-81ED-4DB2-BD59-A6C34878D82A}">
                        <a16:rowId xmlns:a16="http://schemas.microsoft.com/office/drawing/2014/main" val="2379054033"/>
                      </a:ext>
                    </a:extLst>
                  </a:tr>
                  <a:tr h="299719">
                    <a:tc>
                      <a:txBody>
                        <a:bodyPr/>
                        <a:lstStyle/>
                        <a:p>
                          <a:r>
                            <a:rPr lang="en-IN" sz="1600" dirty="0">
                              <a:latin typeface="Times New Roman" panose="02020603050405020304" pitchFamily="18" charset="0"/>
                              <a:cs typeface="Times New Roman" panose="02020603050405020304" pitchFamily="18" charset="0"/>
                            </a:rPr>
                            <a:t>Transformer VA Rating</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600" dirty="0">
                              <a:latin typeface="Times New Roman" panose="02020603050405020304" pitchFamily="18" charset="0"/>
                              <a:cs typeface="Times New Roman" panose="02020603050405020304" pitchFamily="18" charset="0"/>
                            </a:rPr>
                            <a:t> -</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255618" t="-214286" r="-1124" b="-532653"/>
                          </a:stretch>
                        </a:blipFill>
                      </a:tcPr>
                    </a:tc>
                    <a:extLst>
                      <a:ext uri="{0D108BD9-81ED-4DB2-BD59-A6C34878D82A}">
                        <a16:rowId xmlns:a16="http://schemas.microsoft.com/office/drawing/2014/main" val="1889546763"/>
                      </a:ext>
                    </a:extLst>
                  </a:tr>
                  <a:tr h="299719">
                    <a:tc>
                      <a:txBody>
                        <a:bodyPr/>
                        <a:lstStyle/>
                        <a:p>
                          <a:r>
                            <a:rPr lang="en-IN" sz="1600" dirty="0">
                              <a:latin typeface="Times New Roman" panose="02020603050405020304" pitchFamily="18" charset="0"/>
                              <a:cs typeface="Times New Roman" panose="02020603050405020304" pitchFamily="18" charset="0"/>
                            </a:rPr>
                            <a:t>Transformer Turns Ratio</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600" dirty="0">
                              <a:latin typeface="Times New Roman" panose="02020603050405020304" pitchFamily="18" charset="0"/>
                              <a:cs typeface="Times New Roman" panose="02020603050405020304" pitchFamily="18" charset="0"/>
                            </a:rPr>
                            <a:t>N</a:t>
                          </a:r>
                          <a:r>
                            <a:rPr lang="en-IN" sz="1400" dirty="0">
                              <a:latin typeface="Times New Roman" panose="02020603050405020304" pitchFamily="18" charset="0"/>
                              <a:cs typeface="Times New Roman" panose="02020603050405020304" pitchFamily="18" charset="0"/>
                            </a:rPr>
                            <a:t>p:</a:t>
                          </a:r>
                          <a:r>
                            <a:rPr lang="en-IN" sz="1600" dirty="0">
                              <a:latin typeface="Times New Roman" panose="02020603050405020304" pitchFamily="18" charset="0"/>
                              <a:cs typeface="Times New Roman" panose="02020603050405020304" pitchFamily="18" charset="0"/>
                            </a:rPr>
                            <a:t>N</a:t>
                          </a:r>
                          <a:r>
                            <a:rPr lang="en-IN" sz="1400" dirty="0">
                              <a:latin typeface="Times New Roman" panose="02020603050405020304" pitchFamily="18" charset="0"/>
                              <a:cs typeface="Times New Roman" panose="02020603050405020304" pitchFamily="18" charset="0"/>
                            </a:rPr>
                            <a:t>s</a:t>
                          </a:r>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i="0" baseline="0" dirty="0">
                              <a:latin typeface="Times New Roman" panose="02020603050405020304" pitchFamily="18" charset="0"/>
                              <a:cs typeface="Times New Roman" panose="02020603050405020304" pitchFamily="18" charset="0"/>
                            </a:rPr>
                            <a:t>       6.67:1</a:t>
                          </a:r>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9770841"/>
                      </a:ext>
                    </a:extLst>
                  </a:tr>
                  <a:tr h="299719">
                    <a:tc>
                      <a:txBody>
                        <a:bodyPr/>
                        <a:lstStyle/>
                        <a:p>
                          <a:r>
                            <a:rPr lang="en-IN" sz="1600" dirty="0">
                              <a:latin typeface="Times New Roman" panose="02020603050405020304" pitchFamily="18" charset="0"/>
                              <a:cs typeface="Times New Roman" panose="02020603050405020304" pitchFamily="18" charset="0"/>
                            </a:rPr>
                            <a:t>Leakage Inductance</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59596" t="-414286" r="-181818" b="-332653"/>
                          </a:stretch>
                        </a:blipFill>
                      </a:tcPr>
                    </a:tc>
                    <a:tc>
                      <a:txBody>
                        <a:bodyPr/>
                        <a:lstStyle/>
                        <a:p>
                          <a:endParaRPr lang="en-US"/>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255618" t="-414286" r="-1124" b="-332653"/>
                          </a:stretch>
                        </a:blipFill>
                      </a:tcPr>
                    </a:tc>
                    <a:extLst>
                      <a:ext uri="{0D108BD9-81ED-4DB2-BD59-A6C34878D82A}">
                        <a16:rowId xmlns:a16="http://schemas.microsoft.com/office/drawing/2014/main" val="1260897377"/>
                      </a:ext>
                    </a:extLst>
                  </a:tr>
                  <a:tr h="299719">
                    <a:tc>
                      <a:txBody>
                        <a:bodyPr/>
                        <a:lstStyle/>
                        <a:p>
                          <a:r>
                            <a:rPr lang="en-IN" sz="1600" dirty="0">
                              <a:latin typeface="Times New Roman" panose="02020603050405020304" pitchFamily="18" charset="0"/>
                              <a:cs typeface="Times New Roman" panose="02020603050405020304" pitchFamily="18" charset="0"/>
                            </a:rPr>
                            <a:t>Output capacitance</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59596" t="-504000" r="-181818" b="-226000"/>
                          </a:stretch>
                        </a:blipFill>
                      </a:tcPr>
                    </a:tc>
                    <a:tc>
                      <a:txBody>
                        <a:bodyPr/>
                        <a:lstStyle/>
                        <a:p>
                          <a:endParaRPr lang="en-US"/>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255618" t="-504000" r="-1124" b="-226000"/>
                          </a:stretch>
                        </a:blipFill>
                      </a:tcPr>
                    </a:tc>
                    <a:extLst>
                      <a:ext uri="{0D108BD9-81ED-4DB2-BD59-A6C34878D82A}">
                        <a16:rowId xmlns:a16="http://schemas.microsoft.com/office/drawing/2014/main" val="1634563374"/>
                      </a:ext>
                    </a:extLst>
                  </a:tr>
                  <a:tr h="299719">
                    <a:tc>
                      <a:txBody>
                        <a:bodyPr/>
                        <a:lstStyle/>
                        <a:p>
                          <a:r>
                            <a:rPr lang="en-IN" sz="1600" dirty="0">
                              <a:latin typeface="Times New Roman" panose="02020603050405020304" pitchFamily="18" charset="0"/>
                              <a:cs typeface="Times New Roman" panose="02020603050405020304" pitchFamily="18" charset="0"/>
                            </a:rPr>
                            <a:t>Output Power</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59596" t="-616327" r="-181818" b="-130612"/>
                          </a:stretch>
                        </a:blipFill>
                      </a:tcPr>
                    </a:tc>
                    <a:tc>
                      <a:txBody>
                        <a:bodyPr/>
                        <a:lstStyle/>
                        <a:p>
                          <a:endParaRPr lang="en-US"/>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255618" t="-616327" r="-1124" b="-130612"/>
                          </a:stretch>
                        </a:blipFill>
                      </a:tcPr>
                    </a:tc>
                    <a:extLst>
                      <a:ext uri="{0D108BD9-81ED-4DB2-BD59-A6C34878D82A}">
                        <a16:rowId xmlns:a16="http://schemas.microsoft.com/office/drawing/2014/main" val="139381538"/>
                      </a:ext>
                    </a:extLst>
                  </a:tr>
                  <a:tr h="299719">
                    <a:tc>
                      <a:txBody>
                        <a:bodyPr/>
                        <a:lstStyle/>
                        <a:p>
                          <a:r>
                            <a:rPr lang="en-IN" sz="1600" baseline="0" dirty="0">
                              <a:latin typeface="Times New Roman" panose="02020603050405020304" pitchFamily="18" charset="0"/>
                              <a:cs typeface="Times New Roman" panose="02020603050405020304" pitchFamily="18" charset="0"/>
                            </a:rPr>
                            <a:t>Efficiency(%)</a:t>
                          </a:r>
                          <a:endParaRPr lang="en-IN" sz="1600" dirty="0">
                            <a:latin typeface="Times New Roman" panose="02020603050405020304" pitchFamily="18" charset="0"/>
                            <a:cs typeface="Times New Roman" panose="02020603050405020304" pitchFamily="18" charset="0"/>
                          </a:endParaRP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600" dirty="0">
                              <a:latin typeface="Times New Roman" panose="02020603050405020304" pitchFamily="18" charset="0"/>
                              <a:cs typeface="Times New Roman" panose="02020603050405020304" pitchFamily="18" charset="0"/>
                            </a:rPr>
                            <a:t>n</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600" i="0" dirty="0">
                              <a:latin typeface="Times New Roman" panose="02020603050405020304" pitchFamily="18" charset="0"/>
                              <a:cs typeface="Times New Roman" panose="02020603050405020304" pitchFamily="18" charset="0"/>
                            </a:rPr>
                            <a:t>96.78%</a:t>
                          </a:r>
                        </a:p>
                      </a:txBody>
                      <a:tcPr marL="45721" marR="45721" marT="22859" marB="2285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2407972"/>
                      </a:ext>
                    </a:extLst>
                  </a:tr>
                </a:tbl>
              </a:graphicData>
            </a:graphic>
          </p:graphicFrame>
        </mc:Fallback>
      </mc:AlternateContent>
      <p:sp>
        <p:nvSpPr>
          <p:cNvPr id="10" name="TextBox 9"/>
          <p:cNvSpPr txBox="1"/>
          <p:nvPr/>
        </p:nvSpPr>
        <p:spPr>
          <a:xfrm>
            <a:off x="11624146" y="6584221"/>
            <a:ext cx="532490" cy="323165"/>
          </a:xfrm>
          <a:prstGeom prst="rect">
            <a:avLst/>
          </a:prstGeom>
          <a:noFill/>
        </p:spPr>
        <p:txBody>
          <a:bodyPr wrap="square" rtlCol="0">
            <a:spAutoFit/>
          </a:bodyPr>
          <a:lstStyle/>
          <a:p>
            <a:r>
              <a:rPr lang="en-IN" sz="1500" dirty="0">
                <a:solidFill>
                  <a:schemeClr val="bg1"/>
                </a:solidFill>
                <a:latin typeface="Times New Roman" panose="02020603050405020304" pitchFamily="18" charset="0"/>
                <a:cs typeface="Times New Roman" panose="02020603050405020304" pitchFamily="18" charset="0"/>
              </a:rPr>
              <a:t>6/12</a:t>
            </a:r>
          </a:p>
        </p:txBody>
      </p:sp>
      <p:sp>
        <p:nvSpPr>
          <p:cNvPr id="12" name="TextBox 14"/>
          <p:cNvSpPr txBox="1"/>
          <p:nvPr/>
        </p:nvSpPr>
        <p:spPr>
          <a:xfrm>
            <a:off x="3684566" y="103586"/>
            <a:ext cx="4822870" cy="320601"/>
          </a:xfrm>
          <a:prstGeom prst="rect">
            <a:avLst/>
          </a:prstGeom>
        </p:spPr>
        <p:txBody>
          <a:bodyPr lIns="0" tIns="0" rIns="0" bIns="0" rtlCol="0" anchor="t">
            <a:spAutoFit/>
          </a:bodyPr>
          <a:lstStyle/>
          <a:p>
            <a:pPr algn="ctr">
              <a:lnSpc>
                <a:spcPts val="2451"/>
              </a:lnSpc>
              <a:spcBef>
                <a:spcPct val="0"/>
              </a:spcBef>
            </a:pPr>
            <a:r>
              <a:rPr lang="en-US" sz="2333" dirty="0">
                <a:solidFill>
                  <a:srgbClr val="FFFFFF"/>
                </a:solidFill>
                <a:latin typeface="Book Antiqua" panose="02040602050305030304" pitchFamily="18" charset="0"/>
                <a:ea typeface="League Spartan"/>
                <a:cs typeface="Times New Roman" panose="02020603050405020304" pitchFamily="18" charset="0"/>
                <a:sym typeface="League Spartan"/>
              </a:rPr>
              <a:t>System Configuration</a:t>
            </a:r>
          </a:p>
        </p:txBody>
      </p:sp>
      <p:graphicFrame>
        <p:nvGraphicFramePr>
          <p:cNvPr id="9" name="Table 8"/>
          <p:cNvGraphicFramePr>
            <a:graphicFrameLocks noGrp="1"/>
          </p:cNvGraphicFramePr>
          <p:nvPr>
            <p:extLst>
              <p:ext uri="{D42A27DB-BD31-4B8C-83A1-F6EECF244321}">
                <p14:modId xmlns:p14="http://schemas.microsoft.com/office/powerpoint/2010/main" val="3055049379"/>
              </p:ext>
            </p:extLst>
          </p:nvPr>
        </p:nvGraphicFramePr>
        <p:xfrm>
          <a:off x="4657653" y="936228"/>
          <a:ext cx="7291189" cy="2330829"/>
        </p:xfrm>
        <a:graphic>
          <a:graphicData uri="http://schemas.openxmlformats.org/drawingml/2006/table">
            <a:tbl>
              <a:tblPr firstRow="1" bandRow="1">
                <a:effectLst>
                  <a:outerShdw blurRad="50800" dist="38100" dir="5400000" algn="t" rotWithShape="0">
                    <a:prstClr val="black">
                      <a:alpha val="40000"/>
                    </a:prstClr>
                  </a:outerShdw>
                </a:effectLst>
                <a:tableStyleId>{2D5ABB26-0587-4C30-8999-92F81FD0307C}</a:tableStyleId>
              </a:tblPr>
              <a:tblGrid>
                <a:gridCol w="7291189">
                  <a:extLst>
                    <a:ext uri="{9D8B030D-6E8A-4147-A177-3AD203B41FA5}">
                      <a16:colId xmlns:a16="http://schemas.microsoft.com/office/drawing/2014/main" val="4114681891"/>
                    </a:ext>
                  </a:extLst>
                </a:gridCol>
              </a:tblGrid>
              <a:tr h="2106020">
                <a:tc>
                  <a:txBody>
                    <a:bodyPr/>
                    <a:lstStyle/>
                    <a:p>
                      <a:pPr marL="342900" marR="0" lvl="1" indent="-342900" algn="just" defTabSz="685808"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700" dirty="0">
                          <a:latin typeface="Times New Roman" panose="02020603050405020304" pitchFamily="18" charset="0"/>
                          <a:cs typeface="Times New Roman" panose="02020603050405020304" pitchFamily="18" charset="0"/>
                        </a:rPr>
                        <a:t>On load side , the converter is connected to a battery with a nominal voltage of 60V and a capacity of 120-Ah with SOC of 60%.</a:t>
                      </a:r>
                      <a:endParaRPr lang="en-US" sz="1700" b="0" dirty="0">
                        <a:solidFill>
                          <a:schemeClr val="tx1"/>
                        </a:solidFill>
                        <a:latin typeface="Times New Roman" panose="02020603050405020304" pitchFamily="18" charset="0"/>
                        <a:cs typeface="Times New Roman" panose="02020603050405020304" pitchFamily="18" charset="0"/>
                      </a:endParaRPr>
                    </a:p>
                    <a:p>
                      <a:pPr marL="342900" marR="0" lvl="1" indent="-342900" algn="just" defTabSz="685808"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700" dirty="0">
                          <a:latin typeface="Times New Roman" panose="02020603050405020304" pitchFamily="18" charset="0"/>
                          <a:cs typeface="Times New Roman" panose="02020603050405020304" pitchFamily="18" charset="0"/>
                        </a:rPr>
                        <a:t> The switching frequency is set to 50 kHz , while the transformer is rated at 5 kVA with a turns ratio of 6.67:1 . The leakage inductance of the transformer is  95 µH . In order to handle voltage ripples effectively, an input capacitance of 1200 µF and an output capacitance of 1200 µF are provided.</a:t>
                      </a:r>
                      <a:endParaRPr lang="en-US" sz="1700" b="0" dirty="0">
                        <a:solidFill>
                          <a:schemeClr val="tx1"/>
                        </a:solidFill>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5714433"/>
                  </a:ext>
                </a:extLst>
              </a:tr>
            </a:tbl>
          </a:graphicData>
        </a:graphic>
      </p:graphicFrame>
      <p:cxnSp>
        <p:nvCxnSpPr>
          <p:cNvPr id="15" name="Straight Connector 14"/>
          <p:cNvCxnSpPr/>
          <p:nvPr/>
        </p:nvCxnSpPr>
        <p:spPr>
          <a:xfrm>
            <a:off x="4601178" y="538427"/>
            <a:ext cx="0" cy="6067133"/>
          </a:xfrm>
          <a:prstGeom prst="line">
            <a:avLst/>
          </a:prstGeom>
          <a:ln w="28575">
            <a:prstDash val="sysDash"/>
          </a:ln>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8A6A4888-95AC-0068-58B7-B5BEE1667333}"/>
              </a:ext>
            </a:extLst>
          </p:cNvPr>
          <p:cNvGrpSpPr/>
          <p:nvPr/>
        </p:nvGrpSpPr>
        <p:grpSpPr>
          <a:xfrm>
            <a:off x="5508966" y="3779098"/>
            <a:ext cx="5594153" cy="2639254"/>
            <a:chOff x="5508966" y="3582252"/>
            <a:chExt cx="5594153" cy="2836101"/>
          </a:xfrm>
        </p:grpSpPr>
        <p:sp>
          <p:nvSpPr>
            <p:cNvPr id="13" name="TextBox 13">
              <a:extLst>
                <a:ext uri="{FF2B5EF4-FFF2-40B4-BE49-F238E27FC236}">
                  <a16:creationId xmlns:a16="http://schemas.microsoft.com/office/drawing/2014/main" id="{894496A6-B60C-23FA-7990-FCEC9486C5F2}"/>
                </a:ext>
              </a:extLst>
            </p:cNvPr>
            <p:cNvSpPr txBox="1"/>
            <p:nvPr/>
          </p:nvSpPr>
          <p:spPr>
            <a:xfrm>
              <a:off x="5519682" y="6156743"/>
              <a:ext cx="5583437" cy="261610"/>
            </a:xfrm>
            <a:prstGeom prst="rect">
              <a:avLst/>
            </a:prstGeom>
          </p:spPr>
          <p:txBody>
            <a:bodyPr wrap="square" lIns="0" tIns="0" rIns="0" bIns="0" rtlCol="0" anchor="t">
              <a:spAutoFit/>
            </a:bodyPr>
            <a:lstStyle/>
            <a:p>
              <a:pPr marL="188923" lvl="1" algn="ctr"/>
              <a:r>
                <a:rPr lang="en-IN" sz="1700" dirty="0">
                  <a:solidFill>
                    <a:srgbClr val="0000FF"/>
                  </a:solidFill>
                  <a:latin typeface="Times New Roman" panose="02020603050405020304" pitchFamily="18" charset="0"/>
                  <a:cs typeface="Times New Roman" panose="02020603050405020304" pitchFamily="18" charset="0"/>
                </a:rPr>
                <a:t>Fig.1</a:t>
              </a:r>
              <a:r>
                <a:rPr lang="en-IN" sz="1700" dirty="0">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SiC based Dual Active Bridge Converter</a:t>
              </a:r>
            </a:p>
          </p:txBody>
        </p:sp>
        <p:pic>
          <p:nvPicPr>
            <p:cNvPr id="2" name="Picture 1">
              <a:extLst>
                <a:ext uri="{FF2B5EF4-FFF2-40B4-BE49-F238E27FC236}">
                  <a16:creationId xmlns:a16="http://schemas.microsoft.com/office/drawing/2014/main" id="{8CD3E42C-C727-2967-8E71-ADCA03C0FB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8966" y="3582252"/>
              <a:ext cx="5588562" cy="2534792"/>
            </a:xfrm>
            <a:prstGeom prst="rect">
              <a:avLst/>
            </a:prstGeom>
          </p:spPr>
        </p:pic>
      </p:grpSp>
    </p:spTree>
    <p:extLst>
      <p:ext uri="{BB962C8B-B14F-4D97-AF65-F5344CB8AC3E}">
        <p14:creationId xmlns:p14="http://schemas.microsoft.com/office/powerpoint/2010/main" val="3303403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8" name="Table 17"/>
              <p:cNvGraphicFramePr>
                <a:graphicFrameLocks noGrp="1"/>
              </p:cNvGraphicFramePr>
              <p:nvPr>
                <p:extLst>
                  <p:ext uri="{D42A27DB-BD31-4B8C-83A1-F6EECF244321}">
                    <p14:modId xmlns:p14="http://schemas.microsoft.com/office/powerpoint/2010/main" val="4157531942"/>
                  </p:ext>
                </p:extLst>
              </p:nvPr>
            </p:nvGraphicFramePr>
            <p:xfrm>
              <a:off x="6197600" y="685800"/>
              <a:ext cx="5829296" cy="3356605"/>
            </p:xfrm>
            <a:graphic>
              <a:graphicData uri="http://schemas.openxmlformats.org/drawingml/2006/table">
                <a:tbl>
                  <a:tblPr firstRow="1" bandRow="1">
                    <a:effectLst>
                      <a:outerShdw blurRad="50800" dist="38100" dir="5400000" algn="t" rotWithShape="0">
                        <a:prstClr val="black">
                          <a:alpha val="40000"/>
                        </a:prstClr>
                      </a:outerShdw>
                    </a:effectLst>
                    <a:tableStyleId>{2D5ABB26-0587-4C30-8999-92F81FD0307C}</a:tableStyleId>
                  </a:tblPr>
                  <a:tblGrid>
                    <a:gridCol w="5226265">
                      <a:extLst>
                        <a:ext uri="{9D8B030D-6E8A-4147-A177-3AD203B41FA5}">
                          <a16:colId xmlns:a16="http://schemas.microsoft.com/office/drawing/2014/main" val="1988344849"/>
                        </a:ext>
                      </a:extLst>
                    </a:gridCol>
                    <a:gridCol w="603031">
                      <a:extLst>
                        <a:ext uri="{9D8B030D-6E8A-4147-A177-3AD203B41FA5}">
                          <a16:colId xmlns:a16="http://schemas.microsoft.com/office/drawing/2014/main" val="3095616799"/>
                        </a:ext>
                      </a:extLst>
                    </a:gridCol>
                  </a:tblGrid>
                  <a:tr h="426719">
                    <a:tc>
                      <a:txBody>
                        <a:bodyPr/>
                        <a:lstStyle/>
                        <a:p>
                          <a:pPr>
                            <a:lnSpc>
                              <a:spcPct val="150000"/>
                            </a:lnSpc>
                          </a:pPr>
                          <a:r>
                            <a:rPr lang="en-IN" sz="1600" i="0" dirty="0">
                              <a:latin typeface="Times New Roman" panose="02020603050405020304" pitchFamily="18" charset="0"/>
                              <a:cs typeface="Times New Roman" panose="02020603050405020304" pitchFamily="18" charset="0"/>
                            </a:rPr>
                            <a:t>B. Calculation</a:t>
                          </a:r>
                          <a:r>
                            <a:rPr lang="en-IN" sz="1600" i="0" baseline="0" dirty="0">
                              <a:latin typeface="Times New Roman" panose="02020603050405020304" pitchFamily="18" charset="0"/>
                              <a:cs typeface="Times New Roman" panose="02020603050405020304" pitchFamily="18" charset="0"/>
                            </a:rPr>
                            <a:t> of Leakage Inductance [3] </a:t>
                          </a:r>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nSpc>
                              <a:spcPct val="150000"/>
                            </a:lnSpc>
                          </a:pPr>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2072934682"/>
                      </a:ext>
                    </a:extLst>
                  </a:tr>
                  <a:tr h="877442">
                    <a:tc>
                      <a:txBody>
                        <a:bodyPr/>
                        <a:lstStyle/>
                        <a:p>
                          <a:pPr>
                            <a:lnSpc>
                              <a:spcPct val="150000"/>
                            </a:lnSpc>
                          </a:pPr>
                          <a:r>
                            <a:rPr lang="en-IN" sz="1600" i="0" dirty="0">
                              <a:latin typeface="Cambria Math" panose="02040503050406030204" pitchFamily="18" charset="0"/>
                              <a:ea typeface="Cambria Math" panose="02040503050406030204" pitchFamily="18" charset="0"/>
                              <a:cs typeface="Times New Roman" panose="02020603050405020304" pitchFamily="18" charset="0"/>
                            </a:rPr>
                            <a:t>Leakage Inductance is given by:-</a:t>
                          </a:r>
                        </a:p>
                        <a:p>
                          <a:pPr>
                            <a:lnSpc>
                              <a:spcPct val="150000"/>
                            </a:lnSpc>
                          </a:pPr>
                          <a:endParaRPr lang="en-IN" sz="1600" i="0" dirty="0">
                            <a:latin typeface="Times New Roman" panose="02020603050405020304" pitchFamily="18" charset="0"/>
                            <a:cs typeface="Times New Roman" panose="02020603050405020304" pitchFamily="18" charset="0"/>
                          </a:endParaRPr>
                        </a:p>
                        <a:p>
                          <a:pPr>
                            <a:lnSpc>
                              <a:spcPct val="150000"/>
                            </a:lnSpc>
                          </a:pPr>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pPr>
                          <a:endParaRPr lang="en-IN" sz="1600" i="0" dirty="0">
                            <a:latin typeface="Cambria Math" panose="02040503050406030204" pitchFamily="18" charset="0"/>
                            <a:cs typeface="Times New Roman" panose="02020603050405020304" pitchFamily="18" charset="0"/>
                          </a:endParaRPr>
                        </a:p>
                        <a:p>
                          <a:pPr>
                            <a:lnSpc>
                              <a:spcPct val="150000"/>
                            </a:lnSpc>
                          </a:pPr>
                          <a14:m>
                            <m:oMathPara xmlns:m="http://schemas.openxmlformats.org/officeDocument/2006/math">
                              <m:oMathParaPr>
                                <m:jc m:val="center"/>
                              </m:oMathParaPr>
                              <m:oMath xmlns:m="http://schemas.openxmlformats.org/officeDocument/2006/math">
                                <m:r>
                                  <a:rPr lang="en-IN" sz="1600" i="0" smtClean="0">
                                    <a:latin typeface="Cambria Math" panose="02040503050406030204" pitchFamily="18" charset="0"/>
                                    <a:cs typeface="Times New Roman" panose="02020603050405020304" pitchFamily="18" charset="0"/>
                                  </a:rPr>
                                  <m:t>(</m:t>
                                </m:r>
                                <m:r>
                                  <a:rPr lang="en-IN" sz="1600" b="0" i="0" smtClean="0">
                                    <a:latin typeface="Cambria Math" panose="02040503050406030204" pitchFamily="18" charset="0"/>
                                    <a:cs typeface="Times New Roman" panose="02020603050405020304" pitchFamily="18" charset="0"/>
                                  </a:rPr>
                                  <m:t>1)</m:t>
                                </m:r>
                              </m:oMath>
                            </m:oMathPara>
                          </a14:m>
                          <a:endParaRPr lang="en-IN" sz="1600" i="0" dirty="0">
                            <a:latin typeface="Times New Roman" panose="02020603050405020304" pitchFamily="18" charset="0"/>
                            <a:cs typeface="Times New Roman" panose="02020603050405020304" pitchFamily="18" charset="0"/>
                          </a:endParaRPr>
                        </a:p>
                      </a:txBody>
                      <a:tcPr marL="45721" marR="45721" marT="22859" marB="228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4966019"/>
                      </a:ext>
                    </a:extLst>
                  </a:tr>
                  <a:tr h="769238">
                    <a:tc>
                      <a:txBody>
                        <a:bodyPr/>
                        <a:lstStyle/>
                        <a:p>
                          <a:pPr>
                            <a:lnSpc>
                              <a:spcPct val="150000"/>
                            </a:lnSpc>
                          </a:pPr>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pPr>
                          <a:endParaRPr lang="en-IN" sz="1600" b="0" i="0" dirty="0">
                            <a:latin typeface="Cambria Math" panose="02040503050406030204" pitchFamily="18" charset="0"/>
                            <a:cs typeface="Times New Roman" panose="02020603050405020304" pitchFamily="18" charset="0"/>
                          </a:endParaRPr>
                        </a:p>
                        <a:p>
                          <a:pPr>
                            <a:lnSpc>
                              <a:spcPct val="150000"/>
                            </a:lnSpc>
                          </a:pPr>
                          <a:endParaRPr lang="en-IN" sz="1600" b="0" i="0" dirty="0">
                            <a:latin typeface="Cambria Math" panose="02040503050406030204" pitchFamily="18" charset="0"/>
                            <a:cs typeface="Times New Roman" panose="02020603050405020304" pitchFamily="18" charset="0"/>
                          </a:endParaRPr>
                        </a:p>
                        <a:p>
                          <a:pPr>
                            <a:lnSpc>
                              <a:spcPct val="150000"/>
                            </a:lnSpc>
                          </a:pPr>
                          <a:endParaRPr lang="en-IN" sz="1600" b="0" i="0" dirty="0">
                            <a:latin typeface="Cambria Math" panose="02040503050406030204" pitchFamily="18" charset="0"/>
                            <a:cs typeface="Times New Roman" panose="02020603050405020304" pitchFamily="18" charset="0"/>
                          </a:endParaRPr>
                        </a:p>
                        <a:p>
                          <a:pPr>
                            <a:lnSpc>
                              <a:spcPct val="150000"/>
                            </a:lnSpc>
                          </a:pPr>
                          <a:endParaRPr lang="en-IN" sz="1600" b="0" i="0" dirty="0">
                            <a:latin typeface="Times New Roman" panose="02020603050405020304" pitchFamily="18" charset="0"/>
                            <a:cs typeface="Times New Roman" panose="02020603050405020304" pitchFamily="18" charset="0"/>
                          </a:endParaRPr>
                        </a:p>
                        <a:p>
                          <a:pPr>
                            <a:lnSpc>
                              <a:spcPct val="150000"/>
                            </a:lnSpc>
                          </a:pPr>
                          <a:endParaRPr lang="en-IN" sz="1600" i="0" dirty="0">
                            <a:latin typeface="Times New Roman" panose="02020603050405020304" pitchFamily="18" charset="0"/>
                            <a:cs typeface="Times New Roman" panose="02020603050405020304" pitchFamily="18" charset="0"/>
                          </a:endParaRPr>
                        </a:p>
                      </a:txBody>
                      <a:tcPr marL="45721" marR="45721" marT="22859" marB="228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2188908"/>
                      </a:ext>
                    </a:extLst>
                  </a:tr>
                </a:tbl>
              </a:graphicData>
            </a:graphic>
          </p:graphicFrame>
        </mc:Choice>
        <mc:Fallback xmlns="">
          <p:graphicFrame>
            <p:nvGraphicFramePr>
              <p:cNvPr id="18" name="Table 17"/>
              <p:cNvGraphicFramePr>
                <a:graphicFrameLocks noGrp="1"/>
              </p:cNvGraphicFramePr>
              <p:nvPr>
                <p:extLst>
                  <p:ext uri="{D42A27DB-BD31-4B8C-83A1-F6EECF244321}">
                    <p14:modId xmlns:p14="http://schemas.microsoft.com/office/powerpoint/2010/main" val="4157531942"/>
                  </p:ext>
                </p:extLst>
              </p:nvPr>
            </p:nvGraphicFramePr>
            <p:xfrm>
              <a:off x="6197600" y="685800"/>
              <a:ext cx="5829296" cy="3356605"/>
            </p:xfrm>
            <a:graphic>
              <a:graphicData uri="http://schemas.openxmlformats.org/drawingml/2006/table">
                <a:tbl>
                  <a:tblPr firstRow="1" bandRow="1">
                    <a:effectLst>
                      <a:outerShdw blurRad="50800" dist="38100" dir="5400000" algn="t" rotWithShape="0">
                        <a:prstClr val="black">
                          <a:alpha val="40000"/>
                        </a:prstClr>
                      </a:outerShdw>
                    </a:effectLst>
                    <a:tableStyleId>{2D5ABB26-0587-4C30-8999-92F81FD0307C}</a:tableStyleId>
                  </a:tblPr>
                  <a:tblGrid>
                    <a:gridCol w="5226265">
                      <a:extLst>
                        <a:ext uri="{9D8B030D-6E8A-4147-A177-3AD203B41FA5}">
                          <a16:colId xmlns:a16="http://schemas.microsoft.com/office/drawing/2014/main" val="1988344849"/>
                        </a:ext>
                      </a:extLst>
                    </a:gridCol>
                    <a:gridCol w="603031">
                      <a:extLst>
                        <a:ext uri="{9D8B030D-6E8A-4147-A177-3AD203B41FA5}">
                          <a16:colId xmlns:a16="http://schemas.microsoft.com/office/drawing/2014/main" val="3095616799"/>
                        </a:ext>
                      </a:extLst>
                    </a:gridCol>
                  </a:tblGrid>
                  <a:tr h="426719">
                    <a:tc>
                      <a:txBody>
                        <a:bodyPr/>
                        <a:lstStyle/>
                        <a:p>
                          <a:pPr>
                            <a:lnSpc>
                              <a:spcPct val="150000"/>
                            </a:lnSpc>
                          </a:pPr>
                          <a:r>
                            <a:rPr lang="en-IN" sz="1600" i="0" dirty="0">
                              <a:latin typeface="Times New Roman" panose="02020603050405020304" pitchFamily="18" charset="0"/>
                              <a:cs typeface="Times New Roman" panose="02020603050405020304" pitchFamily="18" charset="0"/>
                            </a:rPr>
                            <a:t>B. Calculation</a:t>
                          </a:r>
                          <a:r>
                            <a:rPr lang="en-IN" sz="1600" i="0" baseline="0" dirty="0">
                              <a:latin typeface="Times New Roman" panose="02020603050405020304" pitchFamily="18" charset="0"/>
                              <a:cs typeface="Times New Roman" panose="02020603050405020304" pitchFamily="18" charset="0"/>
                            </a:rPr>
                            <a:t> of Leakage Inductance [3] </a:t>
                          </a:r>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nSpc>
                              <a:spcPct val="150000"/>
                            </a:lnSpc>
                          </a:pPr>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2072934682"/>
                      </a:ext>
                    </a:extLst>
                  </a:tr>
                  <a:tr h="1099183">
                    <a:tc>
                      <a:txBody>
                        <a:bodyPr/>
                        <a:lstStyle/>
                        <a:p>
                          <a:pPr>
                            <a:lnSpc>
                              <a:spcPct val="150000"/>
                            </a:lnSpc>
                          </a:pPr>
                          <a:r>
                            <a:rPr lang="en-IN" sz="1600" i="0" dirty="0">
                              <a:latin typeface="Cambria Math" panose="02040503050406030204" pitchFamily="18" charset="0"/>
                              <a:ea typeface="Cambria Math" panose="02040503050406030204" pitchFamily="18" charset="0"/>
                              <a:cs typeface="Times New Roman" panose="02020603050405020304" pitchFamily="18" charset="0"/>
                            </a:rPr>
                            <a:t>Leakage Inductance is given by:-</a:t>
                          </a:r>
                        </a:p>
                        <a:p>
                          <a:pPr>
                            <a:lnSpc>
                              <a:spcPct val="150000"/>
                            </a:lnSpc>
                          </a:pPr>
                          <a:endParaRPr lang="en-IN" sz="1600" i="0" dirty="0">
                            <a:latin typeface="Times New Roman" panose="02020603050405020304" pitchFamily="18" charset="0"/>
                            <a:cs typeface="Times New Roman" panose="02020603050405020304" pitchFamily="18" charset="0"/>
                          </a:endParaRPr>
                        </a:p>
                        <a:p>
                          <a:pPr>
                            <a:lnSpc>
                              <a:spcPct val="150000"/>
                            </a:lnSpc>
                          </a:pPr>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45721" marR="45721" marT="22859" marB="228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874747" t="-39779" r="-9091" b="-174033"/>
                          </a:stretch>
                        </a:blipFill>
                      </a:tcPr>
                    </a:tc>
                    <a:extLst>
                      <a:ext uri="{0D108BD9-81ED-4DB2-BD59-A6C34878D82A}">
                        <a16:rowId xmlns:a16="http://schemas.microsoft.com/office/drawing/2014/main" val="844966019"/>
                      </a:ext>
                    </a:extLst>
                  </a:tr>
                  <a:tr h="1830703">
                    <a:tc>
                      <a:txBody>
                        <a:bodyPr/>
                        <a:lstStyle/>
                        <a:p>
                          <a:pPr>
                            <a:lnSpc>
                              <a:spcPct val="150000"/>
                            </a:lnSpc>
                          </a:pPr>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pPr>
                          <a:endParaRPr lang="en-IN" sz="1600" b="0" i="0" dirty="0">
                            <a:latin typeface="Cambria Math" panose="02040503050406030204" pitchFamily="18" charset="0"/>
                            <a:cs typeface="Times New Roman" panose="02020603050405020304" pitchFamily="18" charset="0"/>
                          </a:endParaRPr>
                        </a:p>
                        <a:p>
                          <a:pPr>
                            <a:lnSpc>
                              <a:spcPct val="150000"/>
                            </a:lnSpc>
                          </a:pPr>
                          <a:endParaRPr lang="en-IN" sz="1600" b="0" i="0" dirty="0">
                            <a:latin typeface="Cambria Math" panose="02040503050406030204" pitchFamily="18" charset="0"/>
                            <a:cs typeface="Times New Roman" panose="02020603050405020304" pitchFamily="18" charset="0"/>
                          </a:endParaRPr>
                        </a:p>
                        <a:p>
                          <a:pPr>
                            <a:lnSpc>
                              <a:spcPct val="150000"/>
                            </a:lnSpc>
                          </a:pPr>
                          <a:endParaRPr lang="en-IN" sz="1600" b="0" i="0" dirty="0">
                            <a:latin typeface="Cambria Math" panose="02040503050406030204" pitchFamily="18" charset="0"/>
                            <a:cs typeface="Times New Roman" panose="02020603050405020304" pitchFamily="18" charset="0"/>
                          </a:endParaRPr>
                        </a:p>
                        <a:p>
                          <a:pPr>
                            <a:lnSpc>
                              <a:spcPct val="150000"/>
                            </a:lnSpc>
                          </a:pPr>
                          <a:endParaRPr lang="en-IN" sz="1600" b="0" i="0" dirty="0">
                            <a:latin typeface="Times New Roman" panose="02020603050405020304" pitchFamily="18" charset="0"/>
                            <a:cs typeface="Times New Roman" panose="02020603050405020304" pitchFamily="18" charset="0"/>
                          </a:endParaRPr>
                        </a:p>
                        <a:p>
                          <a:pPr>
                            <a:lnSpc>
                              <a:spcPct val="150000"/>
                            </a:lnSpc>
                          </a:pPr>
                          <a:endParaRPr lang="en-IN" sz="1600" i="0" dirty="0">
                            <a:latin typeface="Times New Roman" panose="02020603050405020304" pitchFamily="18" charset="0"/>
                            <a:cs typeface="Times New Roman" panose="02020603050405020304" pitchFamily="18" charset="0"/>
                          </a:endParaRPr>
                        </a:p>
                      </a:txBody>
                      <a:tcPr marL="45721" marR="45721" marT="22859" marB="228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218890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006955544"/>
                  </p:ext>
                </p:extLst>
              </p:nvPr>
            </p:nvGraphicFramePr>
            <p:xfrm>
              <a:off x="152400" y="685800"/>
              <a:ext cx="5880101" cy="2444133"/>
            </p:xfrm>
            <a:graphic>
              <a:graphicData uri="http://schemas.openxmlformats.org/drawingml/2006/table">
                <a:tbl>
                  <a:tblPr firstRow="1" bandRow="1">
                    <a:effectLst>
                      <a:outerShdw blurRad="50800" dist="38100" dir="5400000" algn="t" rotWithShape="0">
                        <a:prstClr val="black">
                          <a:alpha val="40000"/>
                        </a:prstClr>
                      </a:outerShdw>
                    </a:effectLst>
                    <a:tableStyleId>{2D5ABB26-0587-4C30-8999-92F81FD0307C}</a:tableStyleId>
                  </a:tblPr>
                  <a:tblGrid>
                    <a:gridCol w="5345546">
                      <a:extLst>
                        <a:ext uri="{9D8B030D-6E8A-4147-A177-3AD203B41FA5}">
                          <a16:colId xmlns:a16="http://schemas.microsoft.com/office/drawing/2014/main" val="1988344849"/>
                        </a:ext>
                      </a:extLst>
                    </a:gridCol>
                    <a:gridCol w="534555">
                      <a:extLst>
                        <a:ext uri="{9D8B030D-6E8A-4147-A177-3AD203B41FA5}">
                          <a16:colId xmlns:a16="http://schemas.microsoft.com/office/drawing/2014/main" val="3095616799"/>
                        </a:ext>
                      </a:extLst>
                    </a:gridCol>
                  </a:tblGrid>
                  <a:tr h="426719">
                    <a:tc>
                      <a:txBody>
                        <a:bodyPr/>
                        <a:lstStyle/>
                        <a:p>
                          <a:pPr>
                            <a:lnSpc>
                              <a:spcPct val="150000"/>
                            </a:lnSpc>
                          </a:pPr>
                          <a:r>
                            <a:rPr lang="en-IN" sz="1600" i="0" dirty="0">
                              <a:latin typeface="Times New Roman" panose="02020603050405020304" pitchFamily="18" charset="0"/>
                              <a:cs typeface="Times New Roman" panose="02020603050405020304" pitchFamily="18" charset="0"/>
                            </a:rPr>
                            <a:t>A.  Calculation</a:t>
                          </a:r>
                          <a:r>
                            <a:rPr lang="en-IN" sz="1600" i="0" baseline="0" dirty="0">
                              <a:latin typeface="Times New Roman" panose="02020603050405020304" pitchFamily="18" charset="0"/>
                              <a:cs typeface="Times New Roman" panose="02020603050405020304" pitchFamily="18" charset="0"/>
                            </a:rPr>
                            <a:t> of Leakage Inductance [3]</a:t>
                          </a:r>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nSpc>
                              <a:spcPct val="150000"/>
                            </a:lnSpc>
                          </a:pPr>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2072934682"/>
                      </a:ext>
                    </a:extLst>
                  </a:tr>
                  <a:tr h="877019">
                    <a:tc>
                      <a:txBody>
                        <a:bodyPr/>
                        <a:lstStyle/>
                        <a:p>
                          <a:pPr>
                            <a:lnSpc>
                              <a:spcPct val="150000"/>
                            </a:lnSpc>
                          </a:pPr>
                          <a:r>
                            <a:rPr lang="en-IN" sz="1600" i="0" dirty="0">
                              <a:latin typeface="Cambria Math" panose="02040503050406030204" pitchFamily="18" charset="0"/>
                              <a:ea typeface="Cambria Math" panose="02040503050406030204" pitchFamily="18" charset="0"/>
                              <a:cs typeface="Times New Roman" panose="02020603050405020304" pitchFamily="18" charset="0"/>
                            </a:rPr>
                            <a:t>Leakage Inductance is  given by:-</a:t>
                          </a:r>
                        </a:p>
                        <a:p>
                          <a:pPr>
                            <a:lnSpc>
                              <a:spcPct val="150000"/>
                            </a:lnSpc>
                          </a:pPr>
                          <a14:m>
                            <m:oMathPara xmlns:m="http://schemas.openxmlformats.org/officeDocument/2006/math">
                              <m:oMathParaPr>
                                <m:jc m:val="centerGroup"/>
                              </m:oMathParaPr>
                              <m:oMath xmlns:m="http://schemas.openxmlformats.org/officeDocument/2006/math">
                                <m:f>
                                  <m:fPr>
                                    <m:ctrlPr>
                                      <a:rPr lang="en-IN" sz="1600" i="1" dirty="0" smtClean="0">
                                        <a:latin typeface="Cambria Math" panose="02040503050406030204" pitchFamily="18" charset="0"/>
                                        <a:ea typeface="Cambria Math" panose="02040503050406030204" pitchFamily="18" charset="0"/>
                                        <a:cs typeface="Times New Roman" panose="02020603050405020304" pitchFamily="18" charset="0"/>
                                      </a:rPr>
                                    </m:ctrlPr>
                                  </m:fPr>
                                  <m:num>
                                    <m:r>
                                      <a:rPr lang="en-IN" sz="1600" i="0" dirty="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i="1" dirty="0" smtClean="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i</m:t>
                                        </m:r>
                                      </m:e>
                                      <m:sub>
                                        <m:r>
                                          <m:rPr>
                                            <m:sty m:val="p"/>
                                          </m:rP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L</m:t>
                                        </m:r>
                                        <m: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pk</m:t>
                                        </m:r>
                                        <m: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pk</m:t>
                                        </m:r>
                                      </m:sub>
                                    </m:sSub>
                                  </m:num>
                                  <m:den>
                                    <m:sSub>
                                      <m:sSubPr>
                                        <m:ctrlPr>
                                          <a:rPr lang="en-IN" sz="1600" i="1" dirty="0" smtClean="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I</m:t>
                                        </m:r>
                                      </m:e>
                                      <m:sub>
                                        <m:r>
                                          <m:rPr>
                                            <m:sty m:val="p"/>
                                          </m:rP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L</m:t>
                                        </m:r>
                                      </m:sub>
                                    </m:sSub>
                                  </m:den>
                                </m:f>
                                <m: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IN" sz="1600" i="1" dirty="0" smtClean="0">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IN" sz="1600" i="0" dirty="0" smtClean="0">
                                        <a:latin typeface="Cambria Math" panose="02040503050406030204" pitchFamily="18" charset="0"/>
                                        <a:ea typeface="Cambria Math" panose="02040503050406030204" pitchFamily="18" charset="0"/>
                                        <a:cs typeface="Times New Roman" panose="02020603050405020304" pitchFamily="18" charset="0"/>
                                      </a:rPr>
                                      <m:t>d</m:t>
                                    </m:r>
                                    <m: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(1−</m:t>
                                    </m:r>
                                    <m:sSup>
                                      <m:sSupPr>
                                        <m:ctrlP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d</m:t>
                                        </m:r>
                                      </m:e>
                                      <m:sup>
                                        <m: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R</m:t>
                                        </m:r>
                                      </m:e>
                                      <m:sub>
                                        <m:r>
                                          <m:rPr>
                                            <m:sty m:val="p"/>
                                          </m:rP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O</m:t>
                                        </m:r>
                                        <m: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max</m:t>
                                        </m:r>
                                      </m:sub>
                                    </m:sSub>
                                  </m:num>
                                  <m:den>
                                    <m:sSub>
                                      <m:sSubPr>
                                        <m:ctrlPr>
                                          <a:rPr lang="en-IN" sz="1600" i="1" dirty="0" smtClean="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f</m:t>
                                        </m:r>
                                      </m:e>
                                      <m:sub>
                                        <m:r>
                                          <m:rPr>
                                            <m:sty m:val="p"/>
                                          </m:rP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sw</m:t>
                                        </m:r>
                                      </m:sub>
                                    </m:sSub>
                                    <m:r>
                                      <m:rPr>
                                        <m:sty m:val="p"/>
                                      </m:rP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L</m:t>
                                    </m:r>
                                  </m:den>
                                </m:f>
                              </m:oMath>
                            </m:oMathPara>
                          </a14:m>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pPr>
                          <a:endParaRPr lang="en-IN" sz="1600" i="0" dirty="0">
                            <a:latin typeface="Cambria Math" panose="02040503050406030204" pitchFamily="18" charset="0"/>
                            <a:cs typeface="Times New Roman" panose="02020603050405020304" pitchFamily="18" charset="0"/>
                          </a:endParaRPr>
                        </a:p>
                        <a:p>
                          <a:pPr>
                            <a:lnSpc>
                              <a:spcPct val="150000"/>
                            </a:lnSpc>
                          </a:pPr>
                          <a14:m>
                            <m:oMathPara xmlns:m="http://schemas.openxmlformats.org/officeDocument/2006/math">
                              <m:oMathParaPr>
                                <m:jc m:val="center"/>
                              </m:oMathParaPr>
                              <m:oMath xmlns:m="http://schemas.openxmlformats.org/officeDocument/2006/math">
                                <m:r>
                                  <a:rPr lang="en-IN" sz="1600" i="0" smtClean="0">
                                    <a:latin typeface="Cambria Math" panose="02040503050406030204" pitchFamily="18" charset="0"/>
                                    <a:cs typeface="Times New Roman" panose="02020603050405020304" pitchFamily="18" charset="0"/>
                                  </a:rPr>
                                  <m:t>(</m:t>
                                </m:r>
                                <m:r>
                                  <a:rPr lang="en-IN" sz="1600" b="0" i="0" smtClean="0">
                                    <a:latin typeface="Cambria Math" panose="02040503050406030204" pitchFamily="18" charset="0"/>
                                    <a:cs typeface="Times New Roman" panose="02020603050405020304" pitchFamily="18" charset="0"/>
                                  </a:rPr>
                                  <m:t>1)</m:t>
                                </m:r>
                              </m:oMath>
                            </m:oMathPara>
                          </a14:m>
                          <a:endParaRPr lang="en-IN" sz="1600" i="0" dirty="0">
                            <a:latin typeface="Times New Roman" panose="02020603050405020304" pitchFamily="18" charset="0"/>
                            <a:cs typeface="Times New Roman" panose="02020603050405020304" pitchFamily="18" charset="0"/>
                          </a:endParaRPr>
                        </a:p>
                      </a:txBody>
                      <a:tcPr marL="45721" marR="45721" marT="22859" marB="228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4966019"/>
                      </a:ext>
                    </a:extLst>
                  </a:tr>
                  <a:tr h="810217">
                    <a:tc>
                      <a:txBody>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IN" sz="1600" i="1" dirty="0" smtClean="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L</m:t>
                                    </m:r>
                                  </m:e>
                                  <m:sub>
                                    <m:r>
                                      <m:rPr>
                                        <m:sty m:val="p"/>
                                      </m:rP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G</m:t>
                                    </m:r>
                                  </m:sub>
                                </m:sSub>
                                <m: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IN" sz="1600" i="1" dirty="0" smtClean="0">
                                        <a:latin typeface="Cambria Math" panose="02040503050406030204" pitchFamily="18" charset="0"/>
                                        <a:ea typeface="Cambria Math" panose="02040503050406030204" pitchFamily="18" charset="0"/>
                                        <a:cs typeface="Times New Roman" panose="02020603050405020304" pitchFamily="18" charset="0"/>
                                      </a:rPr>
                                    </m:ctrlPr>
                                  </m:fPr>
                                  <m:num>
                                    <m: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0.33×(1−</m:t>
                                    </m:r>
                                    <m:sSup>
                                      <m:sSupPr>
                                        <m:ctrlP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0.33</m:t>
                                        </m:r>
                                      </m:e>
                                      <m:sup>
                                        <m: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1.5×200</m:t>
                                        </m:r>
                                      </m:e>
                                    </m:d>
                                    <m: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 </m:t>
                                    </m:r>
                                  </m:num>
                                  <m:den>
                                    <m:r>
                                      <a:rPr lang="en-IN" sz="1600" i="0" dirty="0" smtClean="0">
                                        <a:latin typeface="Cambria Math" panose="02040503050406030204" pitchFamily="18" charset="0"/>
                                        <a:ea typeface="Cambria Math" panose="02040503050406030204" pitchFamily="18" charset="0"/>
                                        <a:cs typeface="Times New Roman" panose="02020603050405020304" pitchFamily="18" charset="0"/>
                                      </a:rPr>
                                      <m:t>2</m:t>
                                    </m:r>
                                    <m:r>
                                      <a:rPr lang="en-IN" sz="1600" b="0" i="0" dirty="0" smtClean="0">
                                        <a:latin typeface="Cambria Math" panose="02040503050406030204" pitchFamily="18" charset="0"/>
                                        <a:ea typeface="Cambria Math" panose="02040503050406030204" pitchFamily="18" charset="0"/>
                                        <a:cs typeface="Times New Roman" panose="02020603050405020304" pitchFamily="18" charset="0"/>
                                      </a:rPr>
                                      <m:t>5000×0.15</m:t>
                                    </m:r>
                                  </m:den>
                                </m:f>
                              </m:oMath>
                            </m:oMathPara>
                          </a14:m>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pPr>
                          <a:endParaRPr lang="en-IN" sz="1600" i="0" dirty="0">
                            <a:latin typeface="Times New Roman" panose="02020603050405020304" pitchFamily="18" charset="0"/>
                            <a:cs typeface="Times New Roman" panose="02020603050405020304" pitchFamily="18" charset="0"/>
                          </a:endParaRPr>
                        </a:p>
                      </a:txBody>
                      <a:tcPr marL="45721" marR="45721" marT="22859" marB="228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2188908"/>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006955544"/>
                  </p:ext>
                </p:extLst>
              </p:nvPr>
            </p:nvGraphicFramePr>
            <p:xfrm>
              <a:off x="152400" y="685800"/>
              <a:ext cx="5880101" cy="2444133"/>
            </p:xfrm>
            <a:graphic>
              <a:graphicData uri="http://schemas.openxmlformats.org/drawingml/2006/table">
                <a:tbl>
                  <a:tblPr firstRow="1" bandRow="1">
                    <a:effectLst>
                      <a:outerShdw blurRad="50800" dist="38100" dir="5400000" algn="t" rotWithShape="0">
                        <a:prstClr val="black">
                          <a:alpha val="40000"/>
                        </a:prstClr>
                      </a:outerShdw>
                    </a:effectLst>
                    <a:tableStyleId>{2D5ABB26-0587-4C30-8999-92F81FD0307C}</a:tableStyleId>
                  </a:tblPr>
                  <a:tblGrid>
                    <a:gridCol w="5345546">
                      <a:extLst>
                        <a:ext uri="{9D8B030D-6E8A-4147-A177-3AD203B41FA5}">
                          <a16:colId xmlns:a16="http://schemas.microsoft.com/office/drawing/2014/main" val="1988344849"/>
                        </a:ext>
                      </a:extLst>
                    </a:gridCol>
                    <a:gridCol w="534555">
                      <a:extLst>
                        <a:ext uri="{9D8B030D-6E8A-4147-A177-3AD203B41FA5}">
                          <a16:colId xmlns:a16="http://schemas.microsoft.com/office/drawing/2014/main" val="3095616799"/>
                        </a:ext>
                      </a:extLst>
                    </a:gridCol>
                  </a:tblGrid>
                  <a:tr h="426719">
                    <a:tc>
                      <a:txBody>
                        <a:bodyPr/>
                        <a:lstStyle/>
                        <a:p>
                          <a:pPr>
                            <a:lnSpc>
                              <a:spcPct val="150000"/>
                            </a:lnSpc>
                          </a:pPr>
                          <a:r>
                            <a:rPr lang="en-IN" sz="1600" i="0" dirty="0">
                              <a:latin typeface="Times New Roman" panose="02020603050405020304" pitchFamily="18" charset="0"/>
                              <a:cs typeface="Times New Roman" panose="02020603050405020304" pitchFamily="18" charset="0"/>
                            </a:rPr>
                            <a:t>A.  Calculation</a:t>
                          </a:r>
                          <a:r>
                            <a:rPr lang="en-IN" sz="1600" i="0" baseline="0" dirty="0">
                              <a:latin typeface="Times New Roman" panose="02020603050405020304" pitchFamily="18" charset="0"/>
                              <a:cs typeface="Times New Roman" panose="02020603050405020304" pitchFamily="18" charset="0"/>
                            </a:rPr>
                            <a:t> of Leakage Inductance [3]</a:t>
                          </a:r>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nSpc>
                              <a:spcPct val="150000"/>
                            </a:lnSpc>
                          </a:pPr>
                          <a:endParaRPr lang="en-IN" sz="1600" i="0" dirty="0">
                            <a:latin typeface="Times New Roman" panose="02020603050405020304" pitchFamily="18" charset="0"/>
                            <a:cs typeface="Times New Roman" panose="02020603050405020304" pitchFamily="18" charset="0"/>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2072934682"/>
                      </a:ext>
                    </a:extLst>
                  </a:tr>
                  <a:tr h="1207197">
                    <a:tc>
                      <a:txBody>
                        <a:bodyPr/>
                        <a:lstStyle/>
                        <a:p>
                          <a:endParaRPr lang="en-US"/>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026" t="-36181" r="-10946" b="-74372"/>
                          </a:stretch>
                        </a:blipFill>
                      </a:tcPr>
                    </a:tc>
                    <a:tc>
                      <a:txBody>
                        <a:bodyPr/>
                        <a:lstStyle/>
                        <a:p>
                          <a:endParaRPr lang="en-US"/>
                        </a:p>
                      </a:txBody>
                      <a:tcPr marL="45721" marR="45721" marT="22859" marB="228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006818" t="-36181" r="-9091" b="-74372"/>
                          </a:stretch>
                        </a:blipFill>
                      </a:tcPr>
                    </a:tc>
                    <a:extLst>
                      <a:ext uri="{0D108BD9-81ED-4DB2-BD59-A6C34878D82A}">
                        <a16:rowId xmlns:a16="http://schemas.microsoft.com/office/drawing/2014/main" val="844966019"/>
                      </a:ext>
                    </a:extLst>
                  </a:tr>
                  <a:tr h="810217">
                    <a:tc>
                      <a:txBody>
                        <a:bodyPr/>
                        <a:lstStyle/>
                        <a:p>
                          <a:endParaRPr lang="en-US"/>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026" t="-203759" r="-10946" b="-11278"/>
                          </a:stretch>
                        </a:blipFill>
                      </a:tcPr>
                    </a:tc>
                    <a:tc>
                      <a:txBody>
                        <a:bodyPr/>
                        <a:lstStyle/>
                        <a:p>
                          <a:pPr>
                            <a:lnSpc>
                              <a:spcPct val="150000"/>
                            </a:lnSpc>
                          </a:pPr>
                          <a:endParaRPr lang="en-IN" sz="1600" i="0" dirty="0">
                            <a:latin typeface="Times New Roman" panose="02020603050405020304" pitchFamily="18" charset="0"/>
                            <a:cs typeface="Times New Roman" panose="02020603050405020304" pitchFamily="18" charset="0"/>
                          </a:endParaRPr>
                        </a:p>
                      </a:txBody>
                      <a:tcPr marL="45721" marR="45721" marT="22859" marB="2285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2188908"/>
                      </a:ext>
                    </a:extLst>
                  </a:tr>
                </a:tbl>
              </a:graphicData>
            </a:graphic>
          </p:graphicFrame>
        </mc:Fallback>
      </mc:AlternateContent>
      <p:sp>
        <p:nvSpPr>
          <p:cNvPr id="16" name="TextBox 13"/>
          <p:cNvSpPr txBox="1"/>
          <p:nvPr/>
        </p:nvSpPr>
        <p:spPr>
          <a:xfrm>
            <a:off x="-128813" y="3808441"/>
            <a:ext cx="6022404" cy="2541080"/>
          </a:xfrm>
          <a:prstGeom prst="rect">
            <a:avLst/>
          </a:prstGeom>
          <a:noFill/>
          <a:ln>
            <a:noFill/>
          </a:ln>
          <a:effectLst/>
        </p:spPr>
        <p:style>
          <a:lnRef idx="2">
            <a:schemeClr val="accent5">
              <a:shade val="15000"/>
            </a:schemeClr>
          </a:lnRef>
          <a:fillRef idx="1">
            <a:schemeClr val="accent5"/>
          </a:fillRef>
          <a:effectRef idx="0">
            <a:schemeClr val="accent5"/>
          </a:effectRef>
          <a:fontRef idx="minor">
            <a:schemeClr val="lt1"/>
          </a:fontRef>
        </p:style>
        <p:txBody>
          <a:bodyPr wrap="square" lIns="0" tIns="0" rIns="0" bIns="0" rtlCol="0" anchor="t">
            <a:spAutoFit/>
          </a:bodyPr>
          <a:lstStyle/>
          <a:p>
            <a:pPr marL="566739" lvl="1" indent="-283370" algn="just">
              <a:lnSpc>
                <a:spcPct val="150000"/>
              </a:lnSpc>
              <a:buFont typeface="Arial"/>
              <a:buChar char="•"/>
            </a:pPr>
            <a:r>
              <a:rPr lang="en-US" sz="1600" dirty="0">
                <a:solidFill>
                  <a:schemeClr val="tx1"/>
                </a:solidFill>
                <a:latin typeface="Times New Roman" panose="02020603050405020304" pitchFamily="18" charset="0"/>
                <a:cs typeface="Times New Roman" panose="02020603050405020304" pitchFamily="18" charset="0"/>
              </a:rPr>
              <a:t>The </a:t>
            </a:r>
            <a:r>
              <a:rPr lang="en-US" sz="1600" b="1" dirty="0">
                <a:solidFill>
                  <a:schemeClr val="tx1"/>
                </a:solidFill>
                <a:latin typeface="Times New Roman" panose="02020603050405020304" pitchFamily="18" charset="0"/>
                <a:cs typeface="Times New Roman" panose="02020603050405020304" pitchFamily="18" charset="0"/>
              </a:rPr>
              <a:t>input voltage</a:t>
            </a:r>
            <a:r>
              <a:rPr lang="en-US" sz="1600" dirty="0">
                <a:solidFill>
                  <a:schemeClr val="tx1"/>
                </a:solidFill>
                <a:latin typeface="Times New Roman" panose="02020603050405020304" pitchFamily="18" charset="0"/>
                <a:cs typeface="Times New Roman" panose="02020603050405020304" pitchFamily="18" charset="0"/>
              </a:rPr>
              <a:t> is taken as </a:t>
            </a:r>
            <a:r>
              <a:rPr lang="en-US" sz="1600" b="1" dirty="0">
                <a:solidFill>
                  <a:schemeClr val="tx1"/>
                </a:solidFill>
                <a:latin typeface="Times New Roman" panose="02020603050405020304" pitchFamily="18" charset="0"/>
                <a:cs typeface="Times New Roman" panose="02020603050405020304" pitchFamily="18" charset="0"/>
              </a:rPr>
              <a:t>400 V</a:t>
            </a:r>
            <a:r>
              <a:rPr lang="en-US" sz="1600" dirty="0">
                <a:solidFill>
                  <a:schemeClr val="tx1"/>
                </a:solidFill>
                <a:latin typeface="Times New Roman" panose="02020603050405020304" pitchFamily="18" charset="0"/>
                <a:cs typeface="Times New Roman" panose="02020603050405020304" pitchFamily="18" charset="0"/>
              </a:rPr>
              <a:t>, and the </a:t>
            </a:r>
            <a:r>
              <a:rPr lang="en-US" sz="1600" b="1" dirty="0">
                <a:solidFill>
                  <a:schemeClr val="tx1"/>
                </a:solidFill>
                <a:latin typeface="Times New Roman" panose="02020603050405020304" pitchFamily="18" charset="0"/>
                <a:cs typeface="Times New Roman" panose="02020603050405020304" pitchFamily="18" charset="0"/>
              </a:rPr>
              <a:t>turns ratio</a:t>
            </a:r>
            <a:r>
              <a:rPr lang="en-US" sz="1600" dirty="0">
                <a:solidFill>
                  <a:schemeClr val="tx1"/>
                </a:solidFill>
                <a:latin typeface="Times New Roman" panose="02020603050405020304" pitchFamily="18" charset="0"/>
                <a:cs typeface="Times New Roman" panose="02020603050405020304" pitchFamily="18" charset="0"/>
              </a:rPr>
              <a:t> of the transformer is </a:t>
            </a:r>
            <a:r>
              <a:rPr lang="en-US" sz="1600" b="1" dirty="0">
                <a:solidFill>
                  <a:schemeClr val="tx1"/>
                </a:solidFill>
                <a:latin typeface="Times New Roman" panose="02020603050405020304" pitchFamily="18" charset="0"/>
                <a:cs typeface="Times New Roman" panose="02020603050405020304" pitchFamily="18" charset="0"/>
              </a:rPr>
              <a:t>6.67 : 1</a:t>
            </a:r>
            <a:r>
              <a:rPr lang="en-US" sz="1600" dirty="0">
                <a:solidFill>
                  <a:schemeClr val="tx1"/>
                </a:solidFill>
                <a:latin typeface="Times New Roman" panose="02020603050405020304" pitchFamily="18" charset="0"/>
                <a:cs typeface="Times New Roman" panose="02020603050405020304" pitchFamily="18" charset="0"/>
              </a:rPr>
              <a:t>.</a:t>
            </a:r>
          </a:p>
          <a:p>
            <a:pPr marL="566739" lvl="1" indent="-283370" algn="just">
              <a:lnSpc>
                <a:spcPct val="150000"/>
              </a:lnSpc>
              <a:buFont typeface="Arial"/>
              <a:buChar char="•"/>
            </a:pPr>
            <a:r>
              <a:rPr lang="en-US" sz="1600" dirty="0">
                <a:solidFill>
                  <a:schemeClr val="tx1"/>
                </a:solidFill>
                <a:latin typeface="Times New Roman" panose="02020603050405020304" pitchFamily="18" charset="0"/>
                <a:cs typeface="Times New Roman" panose="02020603050405020304" pitchFamily="18" charset="0"/>
              </a:rPr>
              <a:t>The </a:t>
            </a:r>
            <a:r>
              <a:rPr lang="en-US" sz="1600" b="1" dirty="0">
                <a:solidFill>
                  <a:schemeClr val="tx1"/>
                </a:solidFill>
                <a:latin typeface="Times New Roman" panose="02020603050405020304" pitchFamily="18" charset="0"/>
                <a:cs typeface="Times New Roman" panose="02020603050405020304" pitchFamily="18" charset="0"/>
              </a:rPr>
              <a:t>desired output power</a:t>
            </a:r>
            <a:r>
              <a:rPr lang="en-US" sz="1600" dirty="0">
                <a:solidFill>
                  <a:schemeClr val="tx1"/>
                </a:solidFill>
                <a:latin typeface="Times New Roman" panose="02020603050405020304" pitchFamily="18" charset="0"/>
                <a:cs typeface="Times New Roman" panose="0202060305040502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of the converter is</a:t>
            </a:r>
            <a:r>
              <a:rPr lang="en-US" sz="1600" dirty="0">
                <a:solidFill>
                  <a:schemeClr val="tx1"/>
                </a:solidFill>
                <a:latin typeface="Times New Roman" panose="02020603050405020304" pitchFamily="18" charset="0"/>
                <a:cs typeface="Times New Roman" panose="02020603050405020304" pitchFamily="18" charset="0"/>
              </a:rPr>
              <a:t> </a:t>
            </a:r>
            <a:r>
              <a:rPr lang="en-US" sz="1600" b="1" dirty="0">
                <a:solidFill>
                  <a:schemeClr val="tx1"/>
                </a:solidFill>
                <a:latin typeface="Times New Roman" panose="02020603050405020304" pitchFamily="18" charset="0"/>
                <a:cs typeface="Times New Roman" panose="02020603050405020304" pitchFamily="18" charset="0"/>
              </a:rPr>
              <a:t>5 kW</a:t>
            </a:r>
            <a:r>
              <a:rPr lang="en-US" sz="1600" dirty="0">
                <a:solidFill>
                  <a:schemeClr val="tx1"/>
                </a:solidFill>
                <a:latin typeface="Times New Roman" panose="02020603050405020304" pitchFamily="18" charset="0"/>
                <a:cs typeface="Times New Roman" panose="02020603050405020304" pitchFamily="18" charset="0"/>
              </a:rPr>
              <a:t>, and the </a:t>
            </a:r>
            <a:r>
              <a:rPr lang="en-US" sz="1600" b="1" dirty="0">
                <a:solidFill>
                  <a:schemeClr val="tx1"/>
                </a:solidFill>
                <a:latin typeface="Times New Roman" panose="02020603050405020304" pitchFamily="18" charset="0"/>
                <a:cs typeface="Times New Roman" panose="02020603050405020304" pitchFamily="18" charset="0"/>
              </a:rPr>
              <a:t>switching frequency</a:t>
            </a:r>
            <a:r>
              <a:rPr lang="en-US" sz="1600" dirty="0">
                <a:solidFill>
                  <a:schemeClr val="tx1"/>
                </a:solidFill>
                <a:latin typeface="Times New Roman" panose="02020603050405020304" pitchFamily="18" charset="0"/>
                <a:cs typeface="Times New Roman" panose="02020603050405020304" pitchFamily="18" charset="0"/>
              </a:rPr>
              <a:t> is maintained at </a:t>
            </a:r>
            <a:r>
              <a:rPr lang="en-US" sz="1600" b="1" dirty="0">
                <a:solidFill>
                  <a:schemeClr val="tx1"/>
                </a:solidFill>
                <a:latin typeface="Times New Roman" panose="02020603050405020304" pitchFamily="18" charset="0"/>
                <a:cs typeface="Times New Roman" panose="02020603050405020304" pitchFamily="18" charset="0"/>
              </a:rPr>
              <a:t>50 kHz.</a:t>
            </a:r>
            <a:endParaRPr lang="en-IN" sz="1600" spc="11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566739" lvl="1" indent="-283370" algn="just">
              <a:lnSpc>
                <a:spcPct val="150000"/>
              </a:lnSpc>
              <a:buFont typeface="Arial"/>
              <a:buChar char="•"/>
            </a:pPr>
            <a:r>
              <a:rPr lang="en-US" sz="1600" dirty="0">
                <a:solidFill>
                  <a:schemeClr val="tx1"/>
                </a:solidFill>
                <a:latin typeface="Times New Roman" panose="02020603050405020304" pitchFamily="18" charset="0"/>
                <a:cs typeface="Times New Roman" panose="02020603050405020304" pitchFamily="18" charset="0"/>
              </a:rPr>
              <a:t>A phase shift of </a:t>
            </a:r>
            <a:r>
              <a:rPr lang="en-US" sz="1600" b="1" dirty="0">
                <a:solidFill>
                  <a:schemeClr val="tx1"/>
                </a:solidFill>
                <a:latin typeface="Times New Roman" panose="02020603050405020304" pitchFamily="18" charset="0"/>
                <a:cs typeface="Times New Roman" panose="02020603050405020304" pitchFamily="18" charset="0"/>
              </a:rPr>
              <a:t>63°</a:t>
            </a:r>
            <a:r>
              <a:rPr lang="en-US" sz="1600" dirty="0">
                <a:solidFill>
                  <a:schemeClr val="tx1"/>
                </a:solidFill>
                <a:latin typeface="Times New Roman" panose="02020603050405020304" pitchFamily="18" charset="0"/>
                <a:cs typeface="Times New Roman" panose="02020603050405020304" pitchFamily="18" charset="0"/>
              </a:rPr>
              <a:t> was selected because it produced the </a:t>
            </a:r>
            <a:r>
              <a:rPr lang="en-US" sz="1600" b="1" dirty="0">
                <a:solidFill>
                  <a:schemeClr val="tx1"/>
                </a:solidFill>
                <a:latin typeface="Times New Roman" panose="02020603050405020304" pitchFamily="18" charset="0"/>
                <a:cs typeface="Times New Roman" panose="02020603050405020304" pitchFamily="18" charset="0"/>
              </a:rPr>
              <a:t>desired output voltage and power transfer characteristics</a:t>
            </a:r>
            <a:r>
              <a:rPr lang="en-US" sz="1600" dirty="0">
                <a:solidFill>
                  <a:schemeClr val="tx1"/>
                </a:solidFill>
                <a:latin typeface="Times New Roman" panose="02020603050405020304" pitchFamily="18" charset="0"/>
                <a:cs typeface="Times New Roman" panose="02020603050405020304" pitchFamily="18" charset="0"/>
              </a:rPr>
              <a:t> as per the design requirement.</a:t>
            </a:r>
            <a:endParaRPr lang="en-IN" sz="1600" spc="11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7" name="TextBox 13"/>
          <p:cNvSpPr txBox="1"/>
          <p:nvPr/>
        </p:nvSpPr>
        <p:spPr>
          <a:xfrm>
            <a:off x="6185440" y="3830221"/>
            <a:ext cx="5829296" cy="2171748"/>
          </a:xfrm>
          <a:prstGeom prst="rect">
            <a:avLst/>
          </a:prstGeom>
          <a:noFill/>
          <a:ln>
            <a:noFill/>
          </a:ln>
          <a:effectLst/>
        </p:spPr>
        <p:style>
          <a:lnRef idx="2">
            <a:schemeClr val="accent5">
              <a:shade val="15000"/>
            </a:schemeClr>
          </a:lnRef>
          <a:fillRef idx="1">
            <a:schemeClr val="accent5"/>
          </a:fillRef>
          <a:effectRef idx="0">
            <a:schemeClr val="accent5"/>
          </a:effectRef>
          <a:fontRef idx="minor">
            <a:schemeClr val="lt1"/>
          </a:fontRef>
        </p:style>
        <p:txBody>
          <a:bodyPr wrap="square" lIns="0" tIns="0" rIns="0" bIns="0" rtlCol="0" anchor="t">
            <a:spAutoFit/>
          </a:bodyPr>
          <a:lstStyle/>
          <a:p>
            <a:pPr marL="566739" lvl="1" indent="-283370" algn="just">
              <a:lnSpc>
                <a:spcPct val="150000"/>
              </a:lnSpc>
              <a:buFont typeface="Arial"/>
              <a:buChar char="•"/>
            </a:pPr>
            <a:r>
              <a:rPr lang="en-US" sz="1600" dirty="0">
                <a:solidFill>
                  <a:schemeClr val="tx1"/>
                </a:solidFill>
                <a:latin typeface="Times New Roman" panose="02020603050405020304" pitchFamily="18" charset="0"/>
                <a:cs typeface="Times New Roman" panose="02020603050405020304" pitchFamily="18" charset="0"/>
              </a:rPr>
              <a:t>The </a:t>
            </a:r>
            <a:r>
              <a:rPr lang="en-US" sz="1600" b="1" dirty="0">
                <a:solidFill>
                  <a:schemeClr val="tx1"/>
                </a:solidFill>
                <a:latin typeface="Times New Roman" panose="02020603050405020304" pitchFamily="18" charset="0"/>
                <a:cs typeface="Times New Roman" panose="02020603050405020304" pitchFamily="18" charset="0"/>
              </a:rPr>
              <a:t>input voltage</a:t>
            </a:r>
            <a:r>
              <a:rPr lang="en-US" sz="1600" dirty="0">
                <a:solidFill>
                  <a:schemeClr val="tx1"/>
                </a:solidFill>
                <a:latin typeface="Times New Roman" panose="02020603050405020304" pitchFamily="18" charset="0"/>
                <a:cs typeface="Times New Roman" panose="02020603050405020304" pitchFamily="18" charset="0"/>
              </a:rPr>
              <a:t> is taken as </a:t>
            </a:r>
            <a:r>
              <a:rPr lang="en-US" sz="1600" b="1" dirty="0">
                <a:solidFill>
                  <a:schemeClr val="tx1"/>
                </a:solidFill>
                <a:latin typeface="Times New Roman" panose="02020603050405020304" pitchFamily="18" charset="0"/>
                <a:cs typeface="Times New Roman" panose="02020603050405020304" pitchFamily="18" charset="0"/>
              </a:rPr>
              <a:t>480 V</a:t>
            </a:r>
            <a:r>
              <a:rPr lang="en-US" sz="1600" dirty="0">
                <a:solidFill>
                  <a:schemeClr val="tx1"/>
                </a:solidFill>
                <a:latin typeface="Times New Roman" panose="02020603050405020304" pitchFamily="18" charset="0"/>
                <a:cs typeface="Times New Roman" panose="02020603050405020304" pitchFamily="18" charset="0"/>
              </a:rPr>
              <a:t>, and the </a:t>
            </a:r>
            <a:r>
              <a:rPr lang="en-US" sz="1600" b="1" dirty="0">
                <a:solidFill>
                  <a:schemeClr val="tx1"/>
                </a:solidFill>
                <a:latin typeface="Times New Roman" panose="02020603050405020304" pitchFamily="18" charset="0"/>
                <a:cs typeface="Times New Roman" panose="02020603050405020304" pitchFamily="18" charset="0"/>
              </a:rPr>
              <a:t>turns ratio</a:t>
            </a:r>
            <a:r>
              <a:rPr lang="en-US" sz="1600" dirty="0">
                <a:solidFill>
                  <a:schemeClr val="tx1"/>
                </a:solidFill>
                <a:latin typeface="Times New Roman" panose="02020603050405020304" pitchFamily="18" charset="0"/>
                <a:cs typeface="Times New Roman" panose="02020603050405020304" pitchFamily="18" charset="0"/>
              </a:rPr>
              <a:t> of the transformer is </a:t>
            </a:r>
            <a:r>
              <a:rPr lang="en-US" sz="1600" b="1" dirty="0">
                <a:solidFill>
                  <a:schemeClr val="tx1"/>
                </a:solidFill>
                <a:latin typeface="Times New Roman" panose="02020603050405020304" pitchFamily="18" charset="0"/>
                <a:cs typeface="Times New Roman" panose="02020603050405020304" pitchFamily="18" charset="0"/>
              </a:rPr>
              <a:t>6.67 : 1</a:t>
            </a:r>
            <a:r>
              <a:rPr lang="en-US" sz="1600" dirty="0">
                <a:solidFill>
                  <a:schemeClr val="tx1"/>
                </a:solidFill>
                <a:latin typeface="Times New Roman" panose="02020603050405020304" pitchFamily="18" charset="0"/>
                <a:cs typeface="Times New Roman" panose="02020603050405020304" pitchFamily="18" charset="0"/>
              </a:rPr>
              <a:t>.</a:t>
            </a:r>
            <a:endParaRPr lang="en-IN" sz="1600" spc="11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566739" lvl="1" indent="-283370" algn="just">
              <a:lnSpc>
                <a:spcPct val="150000"/>
              </a:lnSpc>
              <a:buFont typeface="Arial"/>
              <a:buChar char="•"/>
            </a:pPr>
            <a:r>
              <a:rPr lang="en-US" sz="1600" dirty="0">
                <a:solidFill>
                  <a:schemeClr val="tx1"/>
                </a:solidFill>
                <a:latin typeface="Times New Roman" panose="02020603050405020304" pitchFamily="18" charset="0"/>
                <a:cs typeface="Times New Roman" panose="02020603050405020304" pitchFamily="18" charset="0"/>
              </a:rPr>
              <a:t>A  </a:t>
            </a:r>
            <a:r>
              <a:rPr lang="en-US" sz="1600" b="1" dirty="0">
                <a:solidFill>
                  <a:schemeClr val="tx1"/>
                </a:solidFill>
                <a:latin typeface="Times New Roman" panose="02020603050405020304" pitchFamily="18" charset="0"/>
                <a:cs typeface="Times New Roman" panose="02020603050405020304" pitchFamily="18" charset="0"/>
              </a:rPr>
              <a:t>2 % ripple</a:t>
            </a:r>
            <a:r>
              <a:rPr lang="en-US" sz="1600" dirty="0">
                <a:solidFill>
                  <a:schemeClr val="tx1"/>
                </a:solidFill>
                <a:latin typeface="Times New Roman" panose="02020603050405020304" pitchFamily="18" charset="0"/>
                <a:cs typeface="Times New Roman" panose="02020603050405020304" pitchFamily="18" charset="0"/>
              </a:rPr>
              <a:t> is considered for input  voltage.</a:t>
            </a:r>
            <a:endParaRPr lang="en-IN" sz="1600" spc="11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566739" lvl="1" indent="-283370" algn="just">
              <a:lnSpc>
                <a:spcPct val="150000"/>
              </a:lnSpc>
              <a:buFont typeface="Arial"/>
              <a:buChar char="•"/>
            </a:pPr>
            <a:r>
              <a:rPr lang="en-US" sz="1600" dirty="0">
                <a:solidFill>
                  <a:schemeClr val="tx1"/>
                </a:solidFill>
                <a:latin typeface="Times New Roman" panose="02020603050405020304" pitchFamily="18" charset="0"/>
                <a:cs typeface="Times New Roman" panose="02020603050405020304" pitchFamily="18" charset="0"/>
              </a:rPr>
              <a:t>The </a:t>
            </a:r>
            <a:r>
              <a:rPr lang="en-US" sz="1600" b="1" dirty="0">
                <a:solidFill>
                  <a:schemeClr val="tx1"/>
                </a:solidFill>
                <a:latin typeface="Times New Roman" panose="02020603050405020304" pitchFamily="18" charset="0"/>
                <a:cs typeface="Times New Roman" panose="02020603050405020304" pitchFamily="18" charset="0"/>
              </a:rPr>
              <a:t>desired output power</a:t>
            </a:r>
            <a:r>
              <a:rPr lang="en-US" sz="1600" dirty="0">
                <a:solidFill>
                  <a:schemeClr val="tx1"/>
                </a:solidFill>
                <a:latin typeface="Times New Roman" panose="02020603050405020304" pitchFamily="18" charset="0"/>
                <a:cs typeface="Times New Roman" panose="02020603050405020304" pitchFamily="18" charset="0"/>
              </a:rPr>
              <a:t> of the converter is </a:t>
            </a:r>
            <a:r>
              <a:rPr lang="en-US" sz="1600" b="1" dirty="0">
                <a:solidFill>
                  <a:schemeClr val="tx1"/>
                </a:solidFill>
                <a:latin typeface="Times New Roman" panose="02020603050405020304" pitchFamily="18" charset="0"/>
                <a:cs typeface="Times New Roman" panose="02020603050405020304" pitchFamily="18" charset="0"/>
              </a:rPr>
              <a:t>5 kW</a:t>
            </a:r>
            <a:r>
              <a:rPr lang="en-US" sz="1600" dirty="0">
                <a:solidFill>
                  <a:schemeClr val="tx1"/>
                </a:solidFill>
                <a:latin typeface="Times New Roman" panose="02020603050405020304" pitchFamily="18" charset="0"/>
                <a:cs typeface="Times New Roman" panose="02020603050405020304" pitchFamily="18" charset="0"/>
              </a:rPr>
              <a:t>, and the </a:t>
            </a:r>
            <a:r>
              <a:rPr lang="en-US" sz="1600" b="1" dirty="0">
                <a:solidFill>
                  <a:schemeClr val="tx1"/>
                </a:solidFill>
                <a:latin typeface="Times New Roman" panose="02020603050405020304" pitchFamily="18" charset="0"/>
                <a:cs typeface="Times New Roman" panose="02020603050405020304" pitchFamily="18" charset="0"/>
              </a:rPr>
              <a:t>switching frequency</a:t>
            </a:r>
            <a:r>
              <a:rPr lang="en-US" sz="1600" dirty="0">
                <a:solidFill>
                  <a:schemeClr val="tx1"/>
                </a:solidFill>
                <a:latin typeface="Times New Roman" panose="02020603050405020304" pitchFamily="18" charset="0"/>
                <a:cs typeface="Times New Roman" panose="02020603050405020304" pitchFamily="18" charset="0"/>
              </a:rPr>
              <a:t> is fixed at </a:t>
            </a:r>
            <a:r>
              <a:rPr lang="en-US" sz="1600" b="1" dirty="0">
                <a:solidFill>
                  <a:schemeClr val="tx1"/>
                </a:solidFill>
                <a:latin typeface="Times New Roman" panose="02020603050405020304" pitchFamily="18" charset="0"/>
                <a:cs typeface="Times New Roman" panose="02020603050405020304" pitchFamily="18" charset="0"/>
              </a:rPr>
              <a:t>50 kHz</a:t>
            </a:r>
            <a:r>
              <a:rPr lang="en-US" sz="1600" dirty="0">
                <a:solidFill>
                  <a:schemeClr val="tx1"/>
                </a:solidFill>
                <a:latin typeface="Times New Roman" panose="02020603050405020304" pitchFamily="18" charset="0"/>
                <a:cs typeface="Times New Roman" panose="02020603050405020304" pitchFamily="18" charset="0"/>
              </a:rPr>
              <a:t> to ensure high-frequency operation with reduced transformer size.</a:t>
            </a:r>
            <a:endParaRPr lang="en-IN" sz="1600" spc="11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cxnSp>
        <p:nvCxnSpPr>
          <p:cNvPr id="5" name="Straight Connector 4"/>
          <p:cNvCxnSpPr/>
          <p:nvPr/>
        </p:nvCxnSpPr>
        <p:spPr>
          <a:xfrm>
            <a:off x="6108970" y="538427"/>
            <a:ext cx="0" cy="6067133"/>
          </a:xfrm>
          <a:prstGeom prst="line">
            <a:avLst/>
          </a:prstGeom>
          <a:ln w="28575">
            <a:prstDash val="sysDash"/>
          </a:ln>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1624146" y="6584221"/>
            <a:ext cx="532490" cy="323165"/>
          </a:xfrm>
          <a:prstGeom prst="rect">
            <a:avLst/>
          </a:prstGeom>
          <a:noFill/>
        </p:spPr>
        <p:txBody>
          <a:bodyPr wrap="square" rtlCol="0">
            <a:spAutoFit/>
          </a:bodyPr>
          <a:lstStyle/>
          <a:p>
            <a:r>
              <a:rPr lang="en-IN" sz="1500" dirty="0">
                <a:solidFill>
                  <a:schemeClr val="bg1"/>
                </a:solidFill>
                <a:latin typeface="Times New Roman" panose="02020603050405020304" pitchFamily="18" charset="0"/>
                <a:cs typeface="Times New Roman" panose="02020603050405020304" pitchFamily="18" charset="0"/>
              </a:rPr>
              <a:t>7/12</a:t>
            </a:r>
          </a:p>
        </p:txBody>
      </p:sp>
      <p:sp>
        <p:nvSpPr>
          <p:cNvPr id="10" name="TextBox 14"/>
          <p:cNvSpPr txBox="1"/>
          <p:nvPr/>
        </p:nvSpPr>
        <p:spPr>
          <a:xfrm>
            <a:off x="1773677" y="103586"/>
            <a:ext cx="8644647" cy="320601"/>
          </a:xfrm>
          <a:prstGeom prst="rect">
            <a:avLst/>
          </a:prstGeom>
        </p:spPr>
        <p:txBody>
          <a:bodyPr wrap="square" lIns="0" tIns="0" rIns="0" bIns="0" rtlCol="0" anchor="t">
            <a:spAutoFit/>
          </a:bodyPr>
          <a:lstStyle/>
          <a:p>
            <a:pPr algn="ctr">
              <a:lnSpc>
                <a:spcPts val="2451"/>
              </a:lnSpc>
              <a:spcBef>
                <a:spcPct val="0"/>
              </a:spcBef>
            </a:pPr>
            <a:r>
              <a:rPr lang="en-US" sz="2333" dirty="0">
                <a:solidFill>
                  <a:srgbClr val="FFFFFF"/>
                </a:solidFill>
                <a:latin typeface="Book Antiqua" panose="02040602050305030304" pitchFamily="18" charset="0"/>
                <a:ea typeface="League Spartan"/>
                <a:cs typeface="Times New Roman" panose="02020603050405020304" pitchFamily="18" charset="0"/>
                <a:sym typeface="League Spartan"/>
              </a:rPr>
              <a:t>Calculation of Leakage Inductance</a:t>
            </a:r>
          </a:p>
        </p:txBody>
      </p:sp>
      <p:pic>
        <p:nvPicPr>
          <p:cNvPr id="7" name="Picture 6">
            <a:extLst>
              <a:ext uri="{FF2B5EF4-FFF2-40B4-BE49-F238E27FC236}">
                <a16:creationId xmlns:a16="http://schemas.microsoft.com/office/drawing/2014/main" id="{58F9D953-8BE2-1A03-E18A-D07DFF3C464A}"/>
              </a:ext>
            </a:extLst>
          </p:cNvPr>
          <p:cNvPicPr>
            <a:picLocks noChangeAspect="1"/>
          </p:cNvPicPr>
          <p:nvPr/>
        </p:nvPicPr>
        <p:blipFill>
          <a:blip r:embed="rId4"/>
          <a:stretch>
            <a:fillRect/>
          </a:stretch>
        </p:blipFill>
        <p:spPr>
          <a:xfrm>
            <a:off x="1464806" y="1616496"/>
            <a:ext cx="2660879" cy="724378"/>
          </a:xfrm>
          <a:prstGeom prst="rect">
            <a:avLst/>
          </a:prstGeom>
        </p:spPr>
      </p:pic>
      <p:pic>
        <p:nvPicPr>
          <p:cNvPr id="11" name="Picture 10">
            <a:extLst>
              <a:ext uri="{FF2B5EF4-FFF2-40B4-BE49-F238E27FC236}">
                <a16:creationId xmlns:a16="http://schemas.microsoft.com/office/drawing/2014/main" id="{19D57BA0-646A-54BB-0C48-65A22FC4933C}"/>
              </a:ext>
            </a:extLst>
          </p:cNvPr>
          <p:cNvPicPr>
            <a:picLocks noChangeAspect="1"/>
          </p:cNvPicPr>
          <p:nvPr/>
        </p:nvPicPr>
        <p:blipFill>
          <a:blip r:embed="rId5"/>
          <a:stretch>
            <a:fillRect/>
          </a:stretch>
        </p:blipFill>
        <p:spPr>
          <a:xfrm>
            <a:off x="541737" y="2384881"/>
            <a:ext cx="4876179" cy="762134"/>
          </a:xfrm>
          <a:prstGeom prst="rect">
            <a:avLst/>
          </a:prstGeom>
        </p:spPr>
      </p:pic>
      <p:pic>
        <p:nvPicPr>
          <p:cNvPr id="13" name="Picture 12">
            <a:extLst>
              <a:ext uri="{FF2B5EF4-FFF2-40B4-BE49-F238E27FC236}">
                <a16:creationId xmlns:a16="http://schemas.microsoft.com/office/drawing/2014/main" id="{F3996709-3585-043F-FE63-47D3FF15A665}"/>
              </a:ext>
            </a:extLst>
          </p:cNvPr>
          <p:cNvPicPr>
            <a:picLocks noChangeAspect="1"/>
          </p:cNvPicPr>
          <p:nvPr/>
        </p:nvPicPr>
        <p:blipFill>
          <a:blip r:embed="rId6"/>
          <a:stretch>
            <a:fillRect/>
          </a:stretch>
        </p:blipFill>
        <p:spPr>
          <a:xfrm>
            <a:off x="1982279" y="3176353"/>
            <a:ext cx="1995093" cy="605653"/>
          </a:xfrm>
          <a:prstGeom prst="rect">
            <a:avLst/>
          </a:prstGeom>
        </p:spPr>
      </p:pic>
      <p:pic>
        <p:nvPicPr>
          <p:cNvPr id="14" name="Picture 13">
            <a:extLst>
              <a:ext uri="{FF2B5EF4-FFF2-40B4-BE49-F238E27FC236}">
                <a16:creationId xmlns:a16="http://schemas.microsoft.com/office/drawing/2014/main" id="{B4903EEB-F2C3-AFFB-1C99-B1E3F5FE4265}"/>
              </a:ext>
            </a:extLst>
          </p:cNvPr>
          <p:cNvPicPr>
            <a:picLocks noChangeAspect="1"/>
          </p:cNvPicPr>
          <p:nvPr/>
        </p:nvPicPr>
        <p:blipFill>
          <a:blip r:embed="rId4"/>
          <a:stretch>
            <a:fillRect/>
          </a:stretch>
        </p:blipFill>
        <p:spPr>
          <a:xfrm>
            <a:off x="7585866" y="1616496"/>
            <a:ext cx="2660879" cy="724378"/>
          </a:xfrm>
          <a:prstGeom prst="rect">
            <a:avLst/>
          </a:prstGeom>
        </p:spPr>
      </p:pic>
      <p:pic>
        <p:nvPicPr>
          <p:cNvPr id="4" name="Picture 3">
            <a:extLst>
              <a:ext uri="{FF2B5EF4-FFF2-40B4-BE49-F238E27FC236}">
                <a16:creationId xmlns:a16="http://schemas.microsoft.com/office/drawing/2014/main" id="{8C4AEEA8-2C1B-3936-4E69-C93F39B6757F}"/>
              </a:ext>
            </a:extLst>
          </p:cNvPr>
          <p:cNvPicPr>
            <a:picLocks noChangeAspect="1"/>
          </p:cNvPicPr>
          <p:nvPr/>
        </p:nvPicPr>
        <p:blipFill>
          <a:blip r:embed="rId7"/>
          <a:stretch>
            <a:fillRect/>
          </a:stretch>
        </p:blipFill>
        <p:spPr>
          <a:xfrm>
            <a:off x="6723555" y="2424681"/>
            <a:ext cx="4663978" cy="682534"/>
          </a:xfrm>
          <a:prstGeom prst="rect">
            <a:avLst/>
          </a:prstGeom>
        </p:spPr>
      </p:pic>
      <p:pic>
        <p:nvPicPr>
          <p:cNvPr id="8" name="Picture 7">
            <a:extLst>
              <a:ext uri="{FF2B5EF4-FFF2-40B4-BE49-F238E27FC236}">
                <a16:creationId xmlns:a16="http://schemas.microsoft.com/office/drawing/2014/main" id="{AA7FCDA9-0301-B0D3-1557-317ADF5F82CB}"/>
              </a:ext>
            </a:extLst>
          </p:cNvPr>
          <p:cNvPicPr>
            <a:picLocks noChangeAspect="1"/>
          </p:cNvPicPr>
          <p:nvPr/>
        </p:nvPicPr>
        <p:blipFill>
          <a:blip r:embed="rId8"/>
          <a:stretch>
            <a:fillRect/>
          </a:stretch>
        </p:blipFill>
        <p:spPr>
          <a:xfrm>
            <a:off x="7424377" y="3138866"/>
            <a:ext cx="3610479" cy="647790"/>
          </a:xfrm>
          <a:prstGeom prst="rect">
            <a:avLst/>
          </a:prstGeom>
        </p:spPr>
      </p:pic>
    </p:spTree>
    <p:extLst>
      <p:ext uri="{BB962C8B-B14F-4D97-AF65-F5344CB8AC3E}">
        <p14:creationId xmlns:p14="http://schemas.microsoft.com/office/powerpoint/2010/main" val="3841446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p:cNvGraphicFramePr>
            <a:graphicFrameLocks noGrp="1"/>
          </p:cNvGraphicFramePr>
          <p:nvPr>
            <p:extLst>
              <p:ext uri="{D42A27DB-BD31-4B8C-83A1-F6EECF244321}">
                <p14:modId xmlns:p14="http://schemas.microsoft.com/office/powerpoint/2010/main" val="528724217"/>
              </p:ext>
            </p:extLst>
          </p:nvPr>
        </p:nvGraphicFramePr>
        <p:xfrm>
          <a:off x="119744" y="630825"/>
          <a:ext cx="4596636" cy="1226626"/>
        </p:xfrm>
        <a:graphic>
          <a:graphicData uri="http://schemas.openxmlformats.org/drawingml/2006/table">
            <a:tbl>
              <a:tblPr firstRow="1" bandRow="1">
                <a:tableStyleId>{3C2FFA5D-87B4-456A-9821-1D502468CF0F}</a:tableStyleId>
              </a:tblPr>
              <a:tblGrid>
                <a:gridCol w="4596636">
                  <a:extLst>
                    <a:ext uri="{9D8B030D-6E8A-4147-A177-3AD203B41FA5}">
                      <a16:colId xmlns:a16="http://schemas.microsoft.com/office/drawing/2014/main" val="1988344849"/>
                    </a:ext>
                  </a:extLst>
                </a:gridCol>
              </a:tblGrid>
              <a:tr h="272987">
                <a:tc>
                  <a:txBody>
                    <a:bodyPr/>
                    <a:lstStyle/>
                    <a:p>
                      <a:pPr algn="l">
                        <a:lnSpc>
                          <a:spcPct val="150000"/>
                        </a:lnSpc>
                      </a:pPr>
                      <a:r>
                        <a:rPr lang="en-IN" sz="1400" dirty="0">
                          <a:solidFill>
                            <a:schemeClr val="tx1"/>
                          </a:solidFill>
                          <a:latin typeface="Times New Roman" panose="02020603050405020304" pitchFamily="18" charset="0"/>
                          <a:cs typeface="Times New Roman" panose="02020603050405020304" pitchFamily="18" charset="0"/>
                        </a:rPr>
                        <a:t>Primary Voltage (</a:t>
                      </a:r>
                      <a:r>
                        <a:rPr lang="en-IN" sz="1400" dirty="0" err="1">
                          <a:solidFill>
                            <a:schemeClr val="tx1"/>
                          </a:solidFill>
                          <a:latin typeface="Times New Roman" panose="02020603050405020304" pitchFamily="18" charset="0"/>
                          <a:cs typeface="Times New Roman" panose="02020603050405020304" pitchFamily="18" charset="0"/>
                        </a:rPr>
                        <a:t>Vp</a:t>
                      </a:r>
                      <a:r>
                        <a:rPr lang="en-IN" sz="1400" dirty="0">
                          <a:solidFill>
                            <a:schemeClr val="tx1"/>
                          </a:solidFill>
                          <a:latin typeface="Times New Roman" panose="02020603050405020304" pitchFamily="18" charset="0"/>
                          <a:cs typeface="Times New Roman" panose="02020603050405020304" pitchFamily="18" charset="0"/>
                        </a:rPr>
                        <a:t>)</a:t>
                      </a:r>
                    </a:p>
                  </a:txBody>
                  <a:tcPr marL="45721" marR="45721" marT="22859" marB="22859"/>
                </a:tc>
                <a:extLst>
                  <a:ext uri="{0D108BD9-81ED-4DB2-BD59-A6C34878D82A}">
                    <a16:rowId xmlns:a16="http://schemas.microsoft.com/office/drawing/2014/main" val="2072934682"/>
                  </a:ext>
                </a:extLst>
              </a:tr>
              <a:tr h="724318">
                <a:tc>
                  <a:txBody>
                    <a:bodyPr/>
                    <a:lstStyle/>
                    <a:p>
                      <a:pPr marL="342900" indent="-342900" algn="l">
                        <a:lnSpc>
                          <a:spcPct val="10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The full-bridge converter alternates between </a:t>
                      </a:r>
                      <a:r>
                        <a:rPr lang="en-US" sz="1400" b="1" dirty="0">
                          <a:solidFill>
                            <a:schemeClr val="tx1"/>
                          </a:solidFill>
                          <a:latin typeface="Times New Roman" panose="02020603050405020304" pitchFamily="18" charset="0"/>
                          <a:cs typeface="Times New Roman" panose="02020603050405020304" pitchFamily="18" charset="0"/>
                        </a:rPr>
                        <a:t>+400 V</a:t>
                      </a:r>
                      <a:r>
                        <a:rPr lang="en-US" sz="1400" dirty="0">
                          <a:solidFill>
                            <a:schemeClr val="tx1"/>
                          </a:solidFill>
                          <a:latin typeface="Times New Roman" panose="02020603050405020304" pitchFamily="18" charset="0"/>
                          <a:cs typeface="Times New Roman" panose="02020603050405020304" pitchFamily="18" charset="0"/>
                        </a:rPr>
                        <a:t> and </a:t>
                      </a:r>
                      <a:r>
                        <a:rPr lang="en-US" sz="1400" b="1" dirty="0">
                          <a:solidFill>
                            <a:schemeClr val="tx1"/>
                          </a:solidFill>
                          <a:latin typeface="Times New Roman" panose="02020603050405020304" pitchFamily="18" charset="0"/>
                          <a:cs typeface="Times New Roman" panose="02020603050405020304" pitchFamily="18" charset="0"/>
                        </a:rPr>
                        <a:t>−400 V </a:t>
                      </a:r>
                      <a:r>
                        <a:rPr lang="en-US" sz="1400" dirty="0">
                          <a:solidFill>
                            <a:schemeClr val="tx1"/>
                          </a:solidFill>
                          <a:latin typeface="Times New Roman" panose="02020603050405020304" pitchFamily="18" charset="0"/>
                          <a:cs typeface="Times New Roman" panose="02020603050405020304" pitchFamily="18" charset="0"/>
                        </a:rPr>
                        <a:t>in every switching cycle, which creates the required alternating voltage across the transformer primary.</a:t>
                      </a:r>
                      <a:endParaRPr lang="en-IN" sz="1400" dirty="0">
                        <a:solidFill>
                          <a:schemeClr val="tx1"/>
                        </a:solidFill>
                        <a:latin typeface="Times New Roman" panose="02020603050405020304" pitchFamily="18" charset="0"/>
                        <a:cs typeface="Times New Roman" panose="02020603050405020304" pitchFamily="18" charset="0"/>
                      </a:endParaRPr>
                    </a:p>
                  </a:txBody>
                  <a:tcPr marL="45721" marR="45721" marT="22859" marB="22859">
                    <a:solidFill>
                      <a:schemeClr val="bg1">
                        <a:alpha val="40000"/>
                      </a:schemeClr>
                    </a:solidFill>
                  </a:tcPr>
                </a:tc>
                <a:extLst>
                  <a:ext uri="{0D108BD9-81ED-4DB2-BD59-A6C34878D82A}">
                    <a16:rowId xmlns:a16="http://schemas.microsoft.com/office/drawing/2014/main" val="2878605795"/>
                  </a:ext>
                </a:extLst>
              </a:tr>
            </a:tbl>
          </a:graphicData>
        </a:graphic>
      </p:graphicFrame>
      <p:sp>
        <p:nvSpPr>
          <p:cNvPr id="21" name="TextBox 20"/>
          <p:cNvSpPr txBox="1"/>
          <p:nvPr/>
        </p:nvSpPr>
        <p:spPr>
          <a:xfrm>
            <a:off x="11527277" y="6584221"/>
            <a:ext cx="629359" cy="323165"/>
          </a:xfrm>
          <a:prstGeom prst="rect">
            <a:avLst/>
          </a:prstGeom>
          <a:noFill/>
        </p:spPr>
        <p:txBody>
          <a:bodyPr wrap="square" rtlCol="0">
            <a:spAutoFit/>
          </a:bodyPr>
          <a:lstStyle/>
          <a:p>
            <a:r>
              <a:rPr lang="en-IN" sz="1500" dirty="0">
                <a:solidFill>
                  <a:schemeClr val="bg1"/>
                </a:solidFill>
                <a:latin typeface="Times New Roman" panose="02020603050405020304" pitchFamily="18" charset="0"/>
                <a:cs typeface="Times New Roman" panose="02020603050405020304" pitchFamily="18" charset="0"/>
              </a:rPr>
              <a:t>8/12</a:t>
            </a:r>
          </a:p>
        </p:txBody>
      </p:sp>
      <p:sp>
        <p:nvSpPr>
          <p:cNvPr id="30" name="TextBox 14"/>
          <p:cNvSpPr txBox="1"/>
          <p:nvPr/>
        </p:nvSpPr>
        <p:spPr>
          <a:xfrm>
            <a:off x="3151762" y="103586"/>
            <a:ext cx="5910092" cy="320601"/>
          </a:xfrm>
          <a:prstGeom prst="rect">
            <a:avLst/>
          </a:prstGeom>
        </p:spPr>
        <p:txBody>
          <a:bodyPr wrap="square" lIns="0" tIns="0" rIns="0" bIns="0" rtlCol="0" anchor="t">
            <a:spAutoFit/>
          </a:bodyPr>
          <a:lstStyle/>
          <a:p>
            <a:pPr algn="ctr">
              <a:lnSpc>
                <a:spcPts val="2451"/>
              </a:lnSpc>
              <a:spcBef>
                <a:spcPct val="0"/>
              </a:spcBef>
            </a:pPr>
            <a:r>
              <a:rPr lang="en-US" sz="2333" dirty="0">
                <a:solidFill>
                  <a:srgbClr val="FFFFFF"/>
                </a:solidFill>
                <a:latin typeface="Book Antiqua" panose="02040602050305030304" pitchFamily="18" charset="0"/>
                <a:ea typeface="League Spartan"/>
                <a:cs typeface="Times New Roman" panose="02020603050405020304" pitchFamily="18" charset="0"/>
                <a:sym typeface="League Spartan"/>
              </a:rPr>
              <a:t>Simulation Results</a:t>
            </a:r>
          </a:p>
        </p:txBody>
      </p:sp>
      <p:pic>
        <p:nvPicPr>
          <p:cNvPr id="7" name="Picture 6">
            <a:extLst>
              <a:ext uri="{FF2B5EF4-FFF2-40B4-BE49-F238E27FC236}">
                <a16:creationId xmlns:a16="http://schemas.microsoft.com/office/drawing/2014/main" id="{06B6CF7D-7DB9-A031-1972-98B73C5252CF}"/>
              </a:ext>
            </a:extLst>
          </p:cNvPr>
          <p:cNvPicPr>
            <a:picLocks noChangeAspect="1"/>
          </p:cNvPicPr>
          <p:nvPr/>
        </p:nvPicPr>
        <p:blipFill>
          <a:blip r:embed="rId2"/>
          <a:stretch>
            <a:fillRect/>
          </a:stretch>
        </p:blipFill>
        <p:spPr>
          <a:xfrm>
            <a:off x="5091764" y="1339433"/>
            <a:ext cx="7064872" cy="4256315"/>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8C118D9-FE12-9A9B-C126-88BC2BDF45D9}"/>
                  </a:ext>
                </a:extLst>
              </p:cNvPr>
              <p:cNvSpPr txBox="1"/>
              <p:nvPr/>
            </p:nvSpPr>
            <p:spPr>
              <a:xfrm>
                <a:off x="6106808" y="5518567"/>
                <a:ext cx="6787242" cy="338554"/>
              </a:xfrm>
              <a:prstGeom prst="rect">
                <a:avLst/>
              </a:prstGeom>
              <a:noFill/>
            </p:spPr>
            <p:txBody>
              <a:bodyPr wrap="square">
                <a:spAutoFit/>
              </a:bodyPr>
              <a:lstStyle/>
              <a:p>
                <a:r>
                  <a:rPr lang="en-IN" sz="1600" dirty="0">
                    <a:solidFill>
                      <a:srgbClr val="0000FF"/>
                    </a:solidFill>
                    <a:latin typeface="Times New Roman" panose="02020603050405020304" pitchFamily="18" charset="0"/>
                    <a:cs typeface="Times New Roman" panose="02020603050405020304" pitchFamily="18" charset="0"/>
                  </a:rPr>
                  <a:t>Fig.2 </a:t>
                </a:r>
                <a:r>
                  <a:rPr lang="en-US" sz="1600" dirty="0">
                    <a:latin typeface="Times New Roman" panose="02020603050405020304" pitchFamily="18" charset="0"/>
                    <a:cs typeface="Times New Roman" panose="02020603050405020304" pitchFamily="18" charset="0"/>
                  </a:rPr>
                  <a:t>Simulation waveforms of (a) Vp , (b) Vs , (c) </a:t>
                </a:r>
                <a14:m>
                  <m:oMath xmlns:m="http://schemas.openxmlformats.org/officeDocument/2006/math">
                    <m:sSub>
                      <m:sSubPr>
                        <m:ctrlPr>
                          <a:rPr lang="en-US"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𝑖</m:t>
                        </m:r>
                      </m:e>
                      <m:sub>
                        <m:r>
                          <a:rPr lang="en-IN" sz="1600" b="0" i="1" dirty="0" smtClean="0">
                            <a:latin typeface="Cambria Math" panose="02040503050406030204" pitchFamily="18" charset="0"/>
                            <a:cs typeface="Times New Roman" panose="02020603050405020304" pitchFamily="18" charset="0"/>
                          </a:rPr>
                          <m:t>𝑙𝑘</m:t>
                        </m:r>
                      </m:sub>
                    </m:sSub>
                  </m:oMath>
                </a14:m>
                <a:r>
                  <a:rPr lang="en-US" sz="1600" dirty="0">
                    <a:latin typeface="Times New Roman" panose="02020603050405020304" pitchFamily="18" charset="0"/>
                    <a:cs typeface="Times New Roman" panose="02020603050405020304" pitchFamily="18" charset="0"/>
                  </a:rPr>
                  <a:t>, (d) </a:t>
                </a:r>
                <a14:m>
                  <m:oMath xmlns:m="http://schemas.openxmlformats.org/officeDocument/2006/math">
                    <m:sSub>
                      <m:sSubPr>
                        <m:ctrlPr>
                          <a:rPr lang="en-US"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𝑣</m:t>
                        </m:r>
                      </m:e>
                      <m:sub>
                        <m:r>
                          <a:rPr lang="en-IN" sz="1600" b="0" i="1" dirty="0" smtClean="0">
                            <a:latin typeface="Cambria Math" panose="02040503050406030204" pitchFamily="18" charset="0"/>
                            <a:cs typeface="Times New Roman" panose="02020603050405020304" pitchFamily="18" charset="0"/>
                          </a:rPr>
                          <m:t>𝑙𝑘</m:t>
                        </m:r>
                      </m:sub>
                    </m:sSub>
                  </m:oMath>
                </a14:m>
                <a:endParaRPr lang="en-IN" sz="1600" dirty="0"/>
              </a:p>
            </p:txBody>
          </p:sp>
        </mc:Choice>
        <mc:Fallback xmlns="">
          <p:sp>
            <p:nvSpPr>
              <p:cNvPr id="10" name="TextBox 9">
                <a:extLst>
                  <a:ext uri="{FF2B5EF4-FFF2-40B4-BE49-F238E27FC236}">
                    <a16:creationId xmlns:a16="http://schemas.microsoft.com/office/drawing/2014/main" id="{08C118D9-FE12-9A9B-C126-88BC2BDF45D9}"/>
                  </a:ext>
                </a:extLst>
              </p:cNvPr>
              <p:cNvSpPr txBox="1">
                <a:spLocks noRot="1" noChangeAspect="1" noMove="1" noResize="1" noEditPoints="1" noAdjustHandles="1" noChangeArrowheads="1" noChangeShapeType="1" noTextEdit="1"/>
              </p:cNvSpPr>
              <p:nvPr/>
            </p:nvSpPr>
            <p:spPr>
              <a:xfrm>
                <a:off x="6106808" y="5518567"/>
                <a:ext cx="6787242" cy="338554"/>
              </a:xfrm>
              <a:prstGeom prst="rect">
                <a:avLst/>
              </a:prstGeom>
              <a:blipFill>
                <a:blip r:embed="rId3"/>
                <a:stretch>
                  <a:fillRect l="-539" t="-7143" b="-19643"/>
                </a:stretch>
              </a:blipFill>
            </p:spPr>
            <p:txBody>
              <a:bodyPr/>
              <a:lstStyle/>
              <a:p>
                <a:r>
                  <a:rPr lang="en-IN">
                    <a:noFill/>
                  </a:rPr>
                  <a:t> </a:t>
                </a:r>
              </a:p>
            </p:txBody>
          </p:sp>
        </mc:Fallback>
      </mc:AlternateContent>
      <p:pic>
        <p:nvPicPr>
          <p:cNvPr id="15" name="Picture 14">
            <a:extLst>
              <a:ext uri="{FF2B5EF4-FFF2-40B4-BE49-F238E27FC236}">
                <a16:creationId xmlns:a16="http://schemas.microsoft.com/office/drawing/2014/main" id="{495D2DA1-577D-C039-39EC-6A2618197C11}"/>
              </a:ext>
            </a:extLst>
          </p:cNvPr>
          <p:cNvPicPr>
            <a:picLocks noChangeAspect="1"/>
          </p:cNvPicPr>
          <p:nvPr/>
        </p:nvPicPr>
        <p:blipFill>
          <a:blip r:embed="rId4"/>
          <a:stretch>
            <a:fillRect/>
          </a:stretch>
        </p:blipFill>
        <p:spPr>
          <a:xfrm>
            <a:off x="8708580" y="1472997"/>
            <a:ext cx="3448056" cy="1614529"/>
          </a:xfrm>
          <a:prstGeom prst="rect">
            <a:avLst/>
          </a:prstGeom>
        </p:spPr>
      </p:pic>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F6A4036B-44D8-9085-0BFA-337E2C29B67A}"/>
                  </a:ext>
                </a:extLst>
              </p:cNvPr>
              <p:cNvGraphicFramePr>
                <a:graphicFrameLocks noGrp="1"/>
              </p:cNvGraphicFramePr>
              <p:nvPr>
                <p:extLst>
                  <p:ext uri="{D42A27DB-BD31-4B8C-83A1-F6EECF244321}">
                    <p14:modId xmlns:p14="http://schemas.microsoft.com/office/powerpoint/2010/main" val="1541647667"/>
                  </p:ext>
                </p:extLst>
              </p:nvPr>
            </p:nvGraphicFramePr>
            <p:xfrm>
              <a:off x="119742" y="2111697"/>
              <a:ext cx="4596638" cy="1226626"/>
            </p:xfrm>
            <a:graphic>
              <a:graphicData uri="http://schemas.openxmlformats.org/drawingml/2006/table">
                <a:tbl>
                  <a:tblPr firstRow="1" bandRow="1">
                    <a:tableStyleId>{08FB837D-C827-4EFA-A057-4D05807E0F7C}</a:tableStyleId>
                  </a:tblPr>
                  <a:tblGrid>
                    <a:gridCol w="4596638">
                      <a:extLst>
                        <a:ext uri="{9D8B030D-6E8A-4147-A177-3AD203B41FA5}">
                          <a16:colId xmlns:a16="http://schemas.microsoft.com/office/drawing/2014/main" val="3348750647"/>
                        </a:ext>
                      </a:extLst>
                    </a:gridCol>
                  </a:tblGrid>
                  <a:tr h="301033">
                    <a:tc>
                      <a:txBody>
                        <a:bodyPr/>
                        <a:lstStyle/>
                        <a:p>
                          <a:pPr>
                            <a:lnSpc>
                              <a:spcPct val="150000"/>
                            </a:lnSpc>
                          </a:pPr>
                          <a:r>
                            <a:rPr lang="en-IN" sz="1400" dirty="0">
                              <a:solidFill>
                                <a:schemeClr val="tx1"/>
                              </a:solidFill>
                              <a:latin typeface="Times New Roman" panose="02020603050405020304" pitchFamily="18" charset="0"/>
                              <a:cs typeface="Times New Roman" panose="02020603050405020304" pitchFamily="18" charset="0"/>
                            </a:rPr>
                            <a:t>Secondary Voltage </a:t>
                          </a:r>
                          <a14:m>
                            <m:oMath xmlns:m="http://schemas.openxmlformats.org/officeDocument/2006/math">
                              <m:r>
                                <a:rPr lang="en-IN" sz="1400" i="1" dirty="0" smtClean="0">
                                  <a:solidFill>
                                    <a:schemeClr val="tx1"/>
                                  </a:solidFill>
                                  <a:latin typeface="Cambria Math" panose="02040503050406030204" pitchFamily="18" charset="0"/>
                                  <a:cs typeface="Times New Roman" panose="02020603050405020304" pitchFamily="18" charset="0"/>
                                </a:rPr>
                                <m:t>(</m:t>
                              </m:r>
                              <m:sSub>
                                <m:sSubPr>
                                  <m:ctrlPr>
                                    <a:rPr lang="en-IN" sz="1400" i="1" dirty="0" smtClean="0">
                                      <a:solidFill>
                                        <a:schemeClr val="tx1"/>
                                      </a:solidFill>
                                      <a:latin typeface="Cambria Math" panose="02040503050406030204" pitchFamily="18" charset="0"/>
                                      <a:cs typeface="Times New Roman" panose="02020603050405020304" pitchFamily="18" charset="0"/>
                                    </a:rPr>
                                  </m:ctrlPr>
                                </m:sSubPr>
                                <m:e>
                                  <m:r>
                                    <a:rPr lang="en-IN" sz="1400" b="1" i="1" dirty="0" smtClean="0">
                                      <a:solidFill>
                                        <a:schemeClr val="tx1"/>
                                      </a:solidFill>
                                      <a:latin typeface="Cambria Math" panose="02040503050406030204" pitchFamily="18" charset="0"/>
                                      <a:cs typeface="Times New Roman" panose="02020603050405020304" pitchFamily="18" charset="0"/>
                                    </a:rPr>
                                    <m:t>𝑽</m:t>
                                  </m:r>
                                </m:e>
                                <m:sub>
                                  <m:r>
                                    <a:rPr lang="en-IN" sz="1400" b="1" i="1" dirty="0" smtClean="0">
                                      <a:solidFill>
                                        <a:schemeClr val="tx1"/>
                                      </a:solidFill>
                                      <a:latin typeface="Cambria Math" panose="02040503050406030204" pitchFamily="18" charset="0"/>
                                      <a:cs typeface="Times New Roman" panose="02020603050405020304" pitchFamily="18" charset="0"/>
                                    </a:rPr>
                                    <m:t>𝒔</m:t>
                                  </m:r>
                                </m:sub>
                              </m:sSub>
                              <m:r>
                                <a:rPr lang="en-IN" sz="1400" i="1" dirty="0" smtClean="0">
                                  <a:solidFill>
                                    <a:schemeClr val="tx1"/>
                                  </a:solidFill>
                                  <a:latin typeface="Cambria Math" panose="02040503050406030204" pitchFamily="18" charset="0"/>
                                  <a:cs typeface="Times New Roman" panose="02020603050405020304" pitchFamily="18" charset="0"/>
                                </a:rPr>
                                <m:t>)</m:t>
                              </m:r>
                            </m:oMath>
                          </a14:m>
                          <a:endParaRPr lang="en-IN" sz="1400" dirty="0">
                            <a:solidFill>
                              <a:schemeClr val="tx1"/>
                            </a:solidFill>
                            <a:latin typeface="Times New Roman" panose="02020603050405020304" pitchFamily="18" charset="0"/>
                            <a:cs typeface="Times New Roman" panose="02020603050405020304" pitchFamily="18" charset="0"/>
                          </a:endParaRPr>
                        </a:p>
                      </a:txBody>
                      <a:tcPr marL="45721" marR="45721" marT="22859" marB="22859"/>
                    </a:tc>
                    <a:extLst>
                      <a:ext uri="{0D108BD9-81ED-4DB2-BD59-A6C34878D82A}">
                        <a16:rowId xmlns:a16="http://schemas.microsoft.com/office/drawing/2014/main" val="1257615662"/>
                      </a:ext>
                    </a:extLst>
                  </a:tr>
                  <a:tr h="890333">
                    <a:tc>
                      <a:txBody>
                        <a:bodyPr/>
                        <a:lstStyle/>
                        <a:p>
                          <a:pPr marL="342900" indent="-342900" algn="just">
                            <a:lnSpc>
                              <a:spcPct val="10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The secondary voltage waveform is obtained after the transformer action with a turn’s ratio of </a:t>
                          </a:r>
                          <a:r>
                            <a:rPr lang="en-US" sz="1400" b="1" dirty="0">
                              <a:solidFill>
                                <a:schemeClr val="tx1"/>
                              </a:solidFill>
                              <a:latin typeface="Times New Roman" panose="02020603050405020304" pitchFamily="18" charset="0"/>
                              <a:cs typeface="Times New Roman" panose="02020603050405020304" pitchFamily="18" charset="0"/>
                            </a:rPr>
                            <a:t>6.67</a:t>
                          </a:r>
                          <a:r>
                            <a:rPr lang="en-US" sz="1400" dirty="0">
                              <a:solidFill>
                                <a:schemeClr val="tx1"/>
                              </a:solidFill>
                              <a:latin typeface="Times New Roman" panose="02020603050405020304" pitchFamily="18" charset="0"/>
                              <a:cs typeface="Times New Roman" panose="02020603050405020304" pitchFamily="18" charset="0"/>
                            </a:rPr>
                            <a:t>. The secondary produces a similar square waveform but scaled down to the required output level of about 60 V.</a:t>
                          </a:r>
                          <a:endParaRPr lang="en-IN" sz="1400" dirty="0">
                            <a:solidFill>
                              <a:schemeClr val="tx1"/>
                            </a:solidFill>
                            <a:latin typeface="Times New Roman" panose="02020603050405020304" pitchFamily="18" charset="0"/>
                            <a:cs typeface="Times New Roman" panose="02020603050405020304" pitchFamily="18" charset="0"/>
                          </a:endParaRPr>
                        </a:p>
                      </a:txBody>
                      <a:tcPr marL="45721" marR="45721" marT="22859" marB="22859">
                        <a:solidFill>
                          <a:schemeClr val="bg1">
                            <a:lumMod val="95000"/>
                            <a:alpha val="40000"/>
                          </a:schemeClr>
                        </a:solidFill>
                      </a:tcPr>
                    </a:tc>
                    <a:extLst>
                      <a:ext uri="{0D108BD9-81ED-4DB2-BD59-A6C34878D82A}">
                        <a16:rowId xmlns:a16="http://schemas.microsoft.com/office/drawing/2014/main" val="1677469656"/>
                      </a:ext>
                    </a:extLst>
                  </a:tr>
                </a:tbl>
              </a:graphicData>
            </a:graphic>
          </p:graphicFrame>
        </mc:Choice>
        <mc:Fallback xmlns="">
          <p:graphicFrame>
            <p:nvGraphicFramePr>
              <p:cNvPr id="18" name="Table 17">
                <a:extLst>
                  <a:ext uri="{FF2B5EF4-FFF2-40B4-BE49-F238E27FC236}">
                    <a16:creationId xmlns:a16="http://schemas.microsoft.com/office/drawing/2014/main" id="{F6A4036B-44D8-9085-0BFA-337E2C29B67A}"/>
                  </a:ext>
                </a:extLst>
              </p:cNvPr>
              <p:cNvGraphicFramePr>
                <a:graphicFrameLocks noGrp="1"/>
              </p:cNvGraphicFramePr>
              <p:nvPr>
                <p:extLst>
                  <p:ext uri="{D42A27DB-BD31-4B8C-83A1-F6EECF244321}">
                    <p14:modId xmlns:p14="http://schemas.microsoft.com/office/powerpoint/2010/main" val="1541647667"/>
                  </p:ext>
                </p:extLst>
              </p:nvPr>
            </p:nvGraphicFramePr>
            <p:xfrm>
              <a:off x="119742" y="2111697"/>
              <a:ext cx="4596638" cy="1226626"/>
            </p:xfrm>
            <a:graphic>
              <a:graphicData uri="http://schemas.openxmlformats.org/drawingml/2006/table">
                <a:tbl>
                  <a:tblPr firstRow="1" bandRow="1">
                    <a:tableStyleId>{08FB837D-C827-4EFA-A057-4D05807E0F7C}</a:tableStyleId>
                  </a:tblPr>
                  <a:tblGrid>
                    <a:gridCol w="4596638">
                      <a:extLst>
                        <a:ext uri="{9D8B030D-6E8A-4147-A177-3AD203B41FA5}">
                          <a16:colId xmlns:a16="http://schemas.microsoft.com/office/drawing/2014/main" val="3348750647"/>
                        </a:ext>
                      </a:extLst>
                    </a:gridCol>
                  </a:tblGrid>
                  <a:tr h="327468">
                    <a:tc>
                      <a:txBody>
                        <a:bodyPr/>
                        <a:lstStyle/>
                        <a:p>
                          <a:endParaRPr lang="en-US"/>
                        </a:p>
                      </a:txBody>
                      <a:tcPr marL="45721" marR="45721" marT="22859" marB="22859">
                        <a:blipFill>
                          <a:blip r:embed="rId5"/>
                          <a:stretch>
                            <a:fillRect t="-1852" r="-265" b="-300000"/>
                          </a:stretch>
                        </a:blipFill>
                      </a:tcPr>
                    </a:tc>
                    <a:extLst>
                      <a:ext uri="{0D108BD9-81ED-4DB2-BD59-A6C34878D82A}">
                        <a16:rowId xmlns:a16="http://schemas.microsoft.com/office/drawing/2014/main" val="1257615662"/>
                      </a:ext>
                    </a:extLst>
                  </a:tr>
                  <a:tr h="899158">
                    <a:tc>
                      <a:txBody>
                        <a:bodyPr/>
                        <a:lstStyle/>
                        <a:p>
                          <a:pPr marL="342900" indent="-342900" algn="just">
                            <a:lnSpc>
                              <a:spcPct val="10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The secondary voltage waveform is obtained after the transformer action with a turn’s ratio of </a:t>
                          </a:r>
                          <a:r>
                            <a:rPr lang="en-US" sz="1400" b="1" dirty="0">
                              <a:solidFill>
                                <a:schemeClr val="tx1"/>
                              </a:solidFill>
                              <a:latin typeface="Times New Roman" panose="02020603050405020304" pitchFamily="18" charset="0"/>
                              <a:cs typeface="Times New Roman" panose="02020603050405020304" pitchFamily="18" charset="0"/>
                            </a:rPr>
                            <a:t>6.67</a:t>
                          </a:r>
                          <a:r>
                            <a:rPr lang="en-US" sz="1400" dirty="0">
                              <a:solidFill>
                                <a:schemeClr val="tx1"/>
                              </a:solidFill>
                              <a:latin typeface="Times New Roman" panose="02020603050405020304" pitchFamily="18" charset="0"/>
                              <a:cs typeface="Times New Roman" panose="02020603050405020304" pitchFamily="18" charset="0"/>
                            </a:rPr>
                            <a:t>. The secondary produces a similar square waveform but scaled down to the required output level of about 60 V.</a:t>
                          </a:r>
                          <a:endParaRPr lang="en-IN" sz="1400" dirty="0">
                            <a:solidFill>
                              <a:schemeClr val="tx1"/>
                            </a:solidFill>
                            <a:latin typeface="Times New Roman" panose="02020603050405020304" pitchFamily="18" charset="0"/>
                            <a:cs typeface="Times New Roman" panose="02020603050405020304" pitchFamily="18" charset="0"/>
                          </a:endParaRPr>
                        </a:p>
                      </a:txBody>
                      <a:tcPr marL="45721" marR="45721" marT="22859" marB="22859">
                        <a:solidFill>
                          <a:schemeClr val="bg1">
                            <a:lumMod val="95000"/>
                            <a:alpha val="40000"/>
                          </a:schemeClr>
                        </a:solidFill>
                      </a:tcPr>
                    </a:tc>
                    <a:extLst>
                      <a:ext uri="{0D108BD9-81ED-4DB2-BD59-A6C34878D82A}">
                        <a16:rowId xmlns:a16="http://schemas.microsoft.com/office/drawing/2014/main" val="167746965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9" name="Table 18">
                <a:extLst>
                  <a:ext uri="{FF2B5EF4-FFF2-40B4-BE49-F238E27FC236}">
                    <a16:creationId xmlns:a16="http://schemas.microsoft.com/office/drawing/2014/main" id="{17A8F49E-123B-4A37-E9E9-EB8971A4FEE4}"/>
                  </a:ext>
                </a:extLst>
              </p:cNvPr>
              <p:cNvGraphicFramePr>
                <a:graphicFrameLocks noGrp="1"/>
              </p:cNvGraphicFramePr>
              <p:nvPr>
                <p:extLst>
                  <p:ext uri="{D42A27DB-BD31-4B8C-83A1-F6EECF244321}">
                    <p14:modId xmlns:p14="http://schemas.microsoft.com/office/powerpoint/2010/main" val="805157705"/>
                  </p:ext>
                </p:extLst>
              </p:nvPr>
            </p:nvGraphicFramePr>
            <p:xfrm>
              <a:off x="119742" y="3592570"/>
              <a:ext cx="4596638" cy="1226626"/>
            </p:xfrm>
            <a:graphic>
              <a:graphicData uri="http://schemas.openxmlformats.org/drawingml/2006/table">
                <a:tbl>
                  <a:tblPr firstRow="1" bandRow="1">
                    <a:tableStyleId>{3C2FFA5D-87B4-456A-9821-1D502468CF0F}</a:tableStyleId>
                  </a:tblPr>
                  <a:tblGrid>
                    <a:gridCol w="4596638">
                      <a:extLst>
                        <a:ext uri="{9D8B030D-6E8A-4147-A177-3AD203B41FA5}">
                          <a16:colId xmlns:a16="http://schemas.microsoft.com/office/drawing/2014/main" val="3348750647"/>
                        </a:ext>
                      </a:extLst>
                    </a:gridCol>
                  </a:tblGrid>
                  <a:tr h="296325">
                    <a:tc>
                      <a:txBody>
                        <a:bodyPr/>
                        <a:lstStyle/>
                        <a:p>
                          <a:pPr>
                            <a:lnSpc>
                              <a:spcPct val="150000"/>
                            </a:lnSpc>
                          </a:pPr>
                          <a:r>
                            <a:rPr lang="en-IN" sz="1400" dirty="0">
                              <a:solidFill>
                                <a:schemeClr val="tx1"/>
                              </a:solidFill>
                              <a:latin typeface="Times New Roman" panose="02020603050405020304" pitchFamily="18" charset="0"/>
                              <a:cs typeface="Times New Roman" panose="02020603050405020304" pitchFamily="18" charset="0"/>
                            </a:rPr>
                            <a:t>Inductor Current </a:t>
                          </a:r>
                          <a14:m>
                            <m:oMath xmlns:m="http://schemas.openxmlformats.org/officeDocument/2006/math">
                              <m:r>
                                <a:rPr lang="en-IN" sz="1400" i="1" dirty="0" smtClean="0">
                                  <a:solidFill>
                                    <a:schemeClr val="tx1"/>
                                  </a:solidFill>
                                  <a:latin typeface="Cambria Math" panose="02040503050406030204" pitchFamily="18" charset="0"/>
                                  <a:cs typeface="Times New Roman" panose="02020603050405020304" pitchFamily="18" charset="0"/>
                                </a:rPr>
                                <m:t>(</m:t>
                              </m:r>
                              <m:sSub>
                                <m:sSubPr>
                                  <m:ctrlPr>
                                    <a:rPr lang="en-IN" sz="1400" i="1" dirty="0" smtClean="0">
                                      <a:solidFill>
                                        <a:schemeClr val="tx1"/>
                                      </a:solidFill>
                                      <a:latin typeface="Cambria Math" panose="02040503050406030204" pitchFamily="18" charset="0"/>
                                      <a:cs typeface="Times New Roman" panose="02020603050405020304" pitchFamily="18" charset="0"/>
                                    </a:rPr>
                                  </m:ctrlPr>
                                </m:sSubPr>
                                <m:e>
                                  <m:r>
                                    <a:rPr lang="en-IN" sz="1400" b="1" i="1" dirty="0" smtClean="0">
                                      <a:solidFill>
                                        <a:schemeClr val="tx1"/>
                                      </a:solidFill>
                                      <a:latin typeface="Cambria Math" panose="02040503050406030204" pitchFamily="18" charset="0"/>
                                      <a:cs typeface="Times New Roman" panose="02020603050405020304" pitchFamily="18" charset="0"/>
                                    </a:rPr>
                                    <m:t>𝒊</m:t>
                                  </m:r>
                                </m:e>
                                <m:sub>
                                  <m:r>
                                    <a:rPr lang="en-IN" sz="1400" b="1" i="1" dirty="0" smtClean="0">
                                      <a:solidFill>
                                        <a:schemeClr val="tx1"/>
                                      </a:solidFill>
                                      <a:latin typeface="Cambria Math" panose="02040503050406030204" pitchFamily="18" charset="0"/>
                                      <a:cs typeface="Times New Roman" panose="02020603050405020304" pitchFamily="18" charset="0"/>
                                    </a:rPr>
                                    <m:t>𝒍𝒌</m:t>
                                  </m:r>
                                </m:sub>
                              </m:sSub>
                              <m:r>
                                <a:rPr lang="en-IN" sz="1400" i="1" dirty="0" smtClean="0">
                                  <a:solidFill>
                                    <a:schemeClr val="tx1"/>
                                  </a:solidFill>
                                  <a:latin typeface="Cambria Math" panose="02040503050406030204" pitchFamily="18" charset="0"/>
                                  <a:cs typeface="Times New Roman" panose="02020603050405020304" pitchFamily="18" charset="0"/>
                                </a:rPr>
                                <m:t>)</m:t>
                              </m:r>
                            </m:oMath>
                          </a14:m>
                          <a:endParaRPr lang="en-IN" sz="1400" dirty="0">
                            <a:solidFill>
                              <a:schemeClr val="tx1"/>
                            </a:solidFill>
                            <a:latin typeface="Times New Roman" panose="02020603050405020304" pitchFamily="18" charset="0"/>
                            <a:cs typeface="Times New Roman" panose="02020603050405020304" pitchFamily="18" charset="0"/>
                          </a:endParaRPr>
                        </a:p>
                      </a:txBody>
                      <a:tcPr marL="45721" marR="45721" marT="22859" marB="22859"/>
                    </a:tc>
                    <a:extLst>
                      <a:ext uri="{0D108BD9-81ED-4DB2-BD59-A6C34878D82A}">
                        <a16:rowId xmlns:a16="http://schemas.microsoft.com/office/drawing/2014/main" val="1257615662"/>
                      </a:ext>
                    </a:extLst>
                  </a:tr>
                  <a:tr h="885236">
                    <a:tc>
                      <a:txBody>
                        <a:bodyPr/>
                        <a:lstStyle/>
                        <a:p>
                          <a:pPr marL="285750" indent="-285750">
                            <a:lnSpc>
                              <a:spcPct val="10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The inductor current has a quasi-triangular shape because it depends on the voltage applied across the leakage inductance. This voltage difference causes the current to rise and fall linearly within each switching interval.</a:t>
                          </a:r>
                          <a:endParaRPr lang="en-IN" sz="1400" dirty="0">
                            <a:solidFill>
                              <a:schemeClr val="tx1"/>
                            </a:solidFill>
                            <a:latin typeface="Times New Roman" panose="02020603050405020304" pitchFamily="18" charset="0"/>
                            <a:cs typeface="Times New Roman" panose="02020603050405020304" pitchFamily="18" charset="0"/>
                          </a:endParaRPr>
                        </a:p>
                      </a:txBody>
                      <a:tcPr marL="45721" marR="45721" marT="22859" marB="22859">
                        <a:solidFill>
                          <a:schemeClr val="bg1">
                            <a:alpha val="40000"/>
                          </a:schemeClr>
                        </a:solidFill>
                      </a:tcPr>
                    </a:tc>
                    <a:extLst>
                      <a:ext uri="{0D108BD9-81ED-4DB2-BD59-A6C34878D82A}">
                        <a16:rowId xmlns:a16="http://schemas.microsoft.com/office/drawing/2014/main" val="1677469656"/>
                      </a:ext>
                    </a:extLst>
                  </a:tr>
                </a:tbl>
              </a:graphicData>
            </a:graphic>
          </p:graphicFrame>
        </mc:Choice>
        <mc:Fallback xmlns="">
          <p:graphicFrame>
            <p:nvGraphicFramePr>
              <p:cNvPr id="19" name="Table 18">
                <a:extLst>
                  <a:ext uri="{FF2B5EF4-FFF2-40B4-BE49-F238E27FC236}">
                    <a16:creationId xmlns:a16="http://schemas.microsoft.com/office/drawing/2014/main" id="{17A8F49E-123B-4A37-E9E9-EB8971A4FEE4}"/>
                  </a:ext>
                </a:extLst>
              </p:cNvPr>
              <p:cNvGraphicFramePr>
                <a:graphicFrameLocks noGrp="1"/>
              </p:cNvGraphicFramePr>
              <p:nvPr>
                <p:extLst>
                  <p:ext uri="{D42A27DB-BD31-4B8C-83A1-F6EECF244321}">
                    <p14:modId xmlns:p14="http://schemas.microsoft.com/office/powerpoint/2010/main" val="805157705"/>
                  </p:ext>
                </p:extLst>
              </p:nvPr>
            </p:nvGraphicFramePr>
            <p:xfrm>
              <a:off x="119742" y="3592570"/>
              <a:ext cx="4596638" cy="1226626"/>
            </p:xfrm>
            <a:graphic>
              <a:graphicData uri="http://schemas.openxmlformats.org/drawingml/2006/table">
                <a:tbl>
                  <a:tblPr firstRow="1" bandRow="1">
                    <a:tableStyleId>{3C2FFA5D-87B4-456A-9821-1D502468CF0F}</a:tableStyleId>
                  </a:tblPr>
                  <a:tblGrid>
                    <a:gridCol w="4596638">
                      <a:extLst>
                        <a:ext uri="{9D8B030D-6E8A-4147-A177-3AD203B41FA5}">
                          <a16:colId xmlns:a16="http://schemas.microsoft.com/office/drawing/2014/main" val="3348750647"/>
                        </a:ext>
                      </a:extLst>
                    </a:gridCol>
                  </a:tblGrid>
                  <a:tr h="327468">
                    <a:tc>
                      <a:txBody>
                        <a:bodyPr/>
                        <a:lstStyle/>
                        <a:p>
                          <a:endParaRPr lang="en-US"/>
                        </a:p>
                      </a:txBody>
                      <a:tcPr marL="45721" marR="45721" marT="22859" marB="22859">
                        <a:blipFill>
                          <a:blip r:embed="rId6"/>
                          <a:stretch>
                            <a:fillRect t="-1852" r="-265" b="-300000"/>
                          </a:stretch>
                        </a:blipFill>
                      </a:tcPr>
                    </a:tc>
                    <a:extLst>
                      <a:ext uri="{0D108BD9-81ED-4DB2-BD59-A6C34878D82A}">
                        <a16:rowId xmlns:a16="http://schemas.microsoft.com/office/drawing/2014/main" val="1257615662"/>
                      </a:ext>
                    </a:extLst>
                  </a:tr>
                  <a:tr h="899158">
                    <a:tc>
                      <a:txBody>
                        <a:bodyPr/>
                        <a:lstStyle/>
                        <a:p>
                          <a:pPr marL="285750" indent="-285750">
                            <a:lnSpc>
                              <a:spcPct val="10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The inductor current has a quasi-triangular shape because it depends on the voltage applied across the leakage inductance. This voltage difference causes the current to rise and fall linearly within each switching interval.</a:t>
                          </a:r>
                          <a:endParaRPr lang="en-IN" sz="1400" dirty="0">
                            <a:solidFill>
                              <a:schemeClr val="tx1"/>
                            </a:solidFill>
                            <a:latin typeface="Times New Roman" panose="02020603050405020304" pitchFamily="18" charset="0"/>
                            <a:cs typeface="Times New Roman" panose="02020603050405020304" pitchFamily="18" charset="0"/>
                          </a:endParaRPr>
                        </a:p>
                      </a:txBody>
                      <a:tcPr marL="45721" marR="45721" marT="22859" marB="22859">
                        <a:solidFill>
                          <a:schemeClr val="bg1">
                            <a:alpha val="40000"/>
                          </a:schemeClr>
                        </a:solidFill>
                      </a:tcPr>
                    </a:tc>
                    <a:extLst>
                      <a:ext uri="{0D108BD9-81ED-4DB2-BD59-A6C34878D82A}">
                        <a16:rowId xmlns:a16="http://schemas.microsoft.com/office/drawing/2014/main" val="1677469656"/>
                      </a:ext>
                    </a:extLst>
                  </a:tr>
                </a:tbl>
              </a:graphicData>
            </a:graphic>
          </p:graphicFrame>
        </mc:Fallback>
      </mc:AlternateContent>
      <p:graphicFrame>
        <p:nvGraphicFramePr>
          <p:cNvPr id="22" name="Table 21">
            <a:extLst>
              <a:ext uri="{FF2B5EF4-FFF2-40B4-BE49-F238E27FC236}">
                <a16:creationId xmlns:a16="http://schemas.microsoft.com/office/drawing/2014/main" id="{EFFD87A8-CABD-530B-C564-6A0D2ABA68F5}"/>
              </a:ext>
            </a:extLst>
          </p:cNvPr>
          <p:cNvGraphicFramePr>
            <a:graphicFrameLocks noGrp="1"/>
          </p:cNvGraphicFramePr>
          <p:nvPr>
            <p:extLst>
              <p:ext uri="{D42A27DB-BD31-4B8C-83A1-F6EECF244321}">
                <p14:modId xmlns:p14="http://schemas.microsoft.com/office/powerpoint/2010/main" val="2950408029"/>
              </p:ext>
            </p:extLst>
          </p:nvPr>
        </p:nvGraphicFramePr>
        <p:xfrm>
          <a:off x="119742" y="5153836"/>
          <a:ext cx="4596638" cy="1251857"/>
        </p:xfrm>
        <a:graphic>
          <a:graphicData uri="http://schemas.openxmlformats.org/drawingml/2006/table">
            <a:tbl>
              <a:tblPr firstRow="1" bandRow="1">
                <a:tableStyleId>{08FB837D-C827-4EFA-A057-4D05807E0F7C}</a:tableStyleId>
              </a:tblPr>
              <a:tblGrid>
                <a:gridCol w="4596638">
                  <a:extLst>
                    <a:ext uri="{9D8B030D-6E8A-4147-A177-3AD203B41FA5}">
                      <a16:colId xmlns:a16="http://schemas.microsoft.com/office/drawing/2014/main" val="3348750647"/>
                    </a:ext>
                  </a:extLst>
                </a:gridCol>
              </a:tblGrid>
              <a:tr h="395311">
                <a:tc>
                  <a:txBody>
                    <a:bodyPr/>
                    <a:lstStyle/>
                    <a:p>
                      <a:pPr>
                        <a:lnSpc>
                          <a:spcPct val="150000"/>
                        </a:lnSpc>
                      </a:pPr>
                      <a:r>
                        <a:rPr lang="en-IN" sz="1400" dirty="0">
                          <a:solidFill>
                            <a:schemeClr val="tx1"/>
                          </a:solidFill>
                          <a:latin typeface="Times New Roman" panose="02020603050405020304" pitchFamily="18" charset="0"/>
                          <a:cs typeface="Times New Roman" panose="02020603050405020304" pitchFamily="18" charset="0"/>
                        </a:rPr>
                        <a:t>Inductor Voltage (Vlk )</a:t>
                      </a:r>
                    </a:p>
                  </a:txBody>
                  <a:tcPr marL="45721" marR="45721" marT="22859" marB="22859"/>
                </a:tc>
                <a:extLst>
                  <a:ext uri="{0D108BD9-81ED-4DB2-BD59-A6C34878D82A}">
                    <a16:rowId xmlns:a16="http://schemas.microsoft.com/office/drawing/2014/main" val="1257615662"/>
                  </a:ext>
                </a:extLst>
              </a:tr>
              <a:tr h="856546">
                <a:tc>
                  <a:txBody>
                    <a:bodyPr/>
                    <a:lstStyle/>
                    <a:p>
                      <a:pPr marL="342900" indent="-342900">
                        <a:lnSpc>
                          <a:spcPct val="100000"/>
                        </a:lnSpc>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The inductor voltage is quasi-square since it represents the instantaneous difference between the voltages of the primary and secondary bridges.</a:t>
                      </a:r>
                      <a:endParaRPr lang="en-IN" sz="1400" dirty="0">
                        <a:solidFill>
                          <a:schemeClr val="tx1"/>
                        </a:solidFill>
                        <a:latin typeface="Times New Roman" panose="02020603050405020304" pitchFamily="18" charset="0"/>
                        <a:cs typeface="Times New Roman" panose="02020603050405020304" pitchFamily="18" charset="0"/>
                      </a:endParaRPr>
                    </a:p>
                  </a:txBody>
                  <a:tcPr marL="45721" marR="45721" marT="22859" marB="22859">
                    <a:solidFill>
                      <a:schemeClr val="bg1">
                        <a:lumMod val="95000"/>
                        <a:alpha val="40000"/>
                      </a:schemeClr>
                    </a:solidFill>
                  </a:tcPr>
                </a:tc>
                <a:extLst>
                  <a:ext uri="{0D108BD9-81ED-4DB2-BD59-A6C34878D82A}">
                    <a16:rowId xmlns:a16="http://schemas.microsoft.com/office/drawing/2014/main" val="1677469656"/>
                  </a:ext>
                </a:extLst>
              </a:tr>
            </a:tbl>
          </a:graphicData>
        </a:graphic>
      </p:graphicFrame>
    </p:spTree>
    <p:extLst>
      <p:ext uri="{BB962C8B-B14F-4D97-AF65-F5344CB8AC3E}">
        <p14:creationId xmlns:p14="http://schemas.microsoft.com/office/powerpoint/2010/main" val="1888211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72DBB-7CE4-8D00-CCC0-A5D754DC3E4B}"/>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EAC6FF39-7108-E974-76A1-E27051A8C110}"/>
              </a:ext>
            </a:extLst>
          </p:cNvPr>
          <p:cNvGraphicFramePr>
            <a:graphicFrameLocks noGrp="1"/>
          </p:cNvGraphicFramePr>
          <p:nvPr>
            <p:extLst>
              <p:ext uri="{D42A27DB-BD31-4B8C-83A1-F6EECF244321}">
                <p14:modId xmlns:p14="http://schemas.microsoft.com/office/powerpoint/2010/main" val="2340359937"/>
              </p:ext>
            </p:extLst>
          </p:nvPr>
        </p:nvGraphicFramePr>
        <p:xfrm>
          <a:off x="119741" y="633417"/>
          <a:ext cx="5333997" cy="1393440"/>
        </p:xfrm>
        <a:graphic>
          <a:graphicData uri="http://schemas.openxmlformats.org/drawingml/2006/table">
            <a:tbl>
              <a:tblPr firstRow="1" bandRow="1">
                <a:tableStyleId>{35758FB7-9AC5-4552-8A53-C91805E547FA}</a:tableStyleId>
              </a:tblPr>
              <a:tblGrid>
                <a:gridCol w="5333997">
                  <a:extLst>
                    <a:ext uri="{9D8B030D-6E8A-4147-A177-3AD203B41FA5}">
                      <a16:colId xmlns:a16="http://schemas.microsoft.com/office/drawing/2014/main" val="1988344849"/>
                    </a:ext>
                  </a:extLst>
                </a:gridCol>
              </a:tblGrid>
              <a:tr h="257272">
                <a:tc>
                  <a:txBody>
                    <a:bodyPr/>
                    <a:lstStyle/>
                    <a:p>
                      <a:pPr algn="just">
                        <a:lnSpc>
                          <a:spcPct val="150000"/>
                        </a:lnSpc>
                      </a:pPr>
                      <a:r>
                        <a:rPr lang="en-IN" sz="1500" dirty="0"/>
                        <a:t>Output Voltage (V</a:t>
                      </a:r>
                      <a:r>
                        <a:rPr lang="en-IN" sz="1200" dirty="0"/>
                        <a:t>o</a:t>
                      </a:r>
                      <a:r>
                        <a:rPr lang="en-IN" sz="1600" dirty="0"/>
                        <a:t>)</a:t>
                      </a:r>
                      <a:endParaRPr lang="en-IN" sz="1500" dirty="0">
                        <a:latin typeface="Times New Roman" panose="02020603050405020304" pitchFamily="18" charset="0"/>
                        <a:cs typeface="Times New Roman" panose="02020603050405020304" pitchFamily="18" charset="0"/>
                      </a:endParaRPr>
                    </a:p>
                  </a:txBody>
                  <a:tcPr marL="45721" marR="45721" marT="22859" marB="22859"/>
                </a:tc>
                <a:extLst>
                  <a:ext uri="{0D108BD9-81ED-4DB2-BD59-A6C34878D82A}">
                    <a16:rowId xmlns:a16="http://schemas.microsoft.com/office/drawing/2014/main" val="2072934682"/>
                  </a:ext>
                </a:extLst>
              </a:tr>
              <a:tr h="868871">
                <a:tc>
                  <a:txBody>
                    <a:bodyPr/>
                    <a:lstStyle/>
                    <a:p>
                      <a:pPr marL="342900" indent="-342900" algn="just">
                        <a:lnSpc>
                          <a:spcPct val="100000"/>
                        </a:lnSpc>
                        <a:buFont typeface="Arial" panose="020B0604020202020204" pitchFamily="34" charset="0"/>
                        <a:buChar char="•"/>
                      </a:pPr>
                      <a:r>
                        <a:rPr lang="en-US" sz="1600" dirty="0"/>
                        <a:t>The average output voltage remains around 66 V, the small voltage ripple occurs due to periodic energy transfer through the leakage inductance and the smoothing effect of the output capacitor.</a:t>
                      </a:r>
                      <a:endParaRPr lang="en-IN" sz="1500" dirty="0">
                        <a:latin typeface="Times New Roman" panose="02020603050405020304" pitchFamily="18" charset="0"/>
                        <a:cs typeface="Times New Roman" panose="02020603050405020304" pitchFamily="18" charset="0"/>
                      </a:endParaRPr>
                    </a:p>
                  </a:txBody>
                  <a:tcPr marL="45721" marR="45721" marT="22859" marB="22859">
                    <a:solidFill>
                      <a:schemeClr val="bg1">
                        <a:lumMod val="95000"/>
                        <a:alpha val="40000"/>
                      </a:schemeClr>
                    </a:solidFill>
                  </a:tcPr>
                </a:tc>
                <a:extLst>
                  <a:ext uri="{0D108BD9-81ED-4DB2-BD59-A6C34878D82A}">
                    <a16:rowId xmlns:a16="http://schemas.microsoft.com/office/drawing/2014/main" val="2878605795"/>
                  </a:ext>
                </a:extLst>
              </a:tr>
            </a:tbl>
          </a:graphicData>
        </a:graphic>
      </p:graphicFrame>
      <p:sp>
        <p:nvSpPr>
          <p:cNvPr id="21" name="TextBox 20">
            <a:extLst>
              <a:ext uri="{FF2B5EF4-FFF2-40B4-BE49-F238E27FC236}">
                <a16:creationId xmlns:a16="http://schemas.microsoft.com/office/drawing/2014/main" id="{707D3CC6-AF6C-9002-9E14-E37231810AF9}"/>
              </a:ext>
            </a:extLst>
          </p:cNvPr>
          <p:cNvSpPr txBox="1"/>
          <p:nvPr/>
        </p:nvSpPr>
        <p:spPr>
          <a:xfrm>
            <a:off x="11527277" y="6584221"/>
            <a:ext cx="629359" cy="323165"/>
          </a:xfrm>
          <a:prstGeom prst="rect">
            <a:avLst/>
          </a:prstGeom>
          <a:noFill/>
        </p:spPr>
        <p:txBody>
          <a:bodyPr wrap="square" rtlCol="0">
            <a:spAutoFit/>
          </a:bodyPr>
          <a:lstStyle/>
          <a:p>
            <a:r>
              <a:rPr lang="en-IN" sz="1500" dirty="0">
                <a:solidFill>
                  <a:schemeClr val="bg1"/>
                </a:solidFill>
                <a:latin typeface="Times New Roman" panose="02020603050405020304" pitchFamily="18" charset="0"/>
                <a:cs typeface="Times New Roman" panose="02020603050405020304" pitchFamily="18" charset="0"/>
              </a:rPr>
              <a:t>9/12</a:t>
            </a:r>
          </a:p>
        </p:txBody>
      </p:sp>
      <p:sp>
        <p:nvSpPr>
          <p:cNvPr id="30" name="TextBox 14">
            <a:extLst>
              <a:ext uri="{FF2B5EF4-FFF2-40B4-BE49-F238E27FC236}">
                <a16:creationId xmlns:a16="http://schemas.microsoft.com/office/drawing/2014/main" id="{731E2DCB-174B-B372-3377-DC3B14673B4C}"/>
              </a:ext>
            </a:extLst>
          </p:cNvPr>
          <p:cNvSpPr txBox="1"/>
          <p:nvPr/>
        </p:nvSpPr>
        <p:spPr>
          <a:xfrm>
            <a:off x="3151762" y="103586"/>
            <a:ext cx="5910092" cy="320601"/>
          </a:xfrm>
          <a:prstGeom prst="rect">
            <a:avLst/>
          </a:prstGeom>
        </p:spPr>
        <p:txBody>
          <a:bodyPr wrap="square" lIns="0" tIns="0" rIns="0" bIns="0" rtlCol="0" anchor="t">
            <a:spAutoFit/>
          </a:bodyPr>
          <a:lstStyle/>
          <a:p>
            <a:pPr algn="ctr">
              <a:lnSpc>
                <a:spcPts val="2451"/>
              </a:lnSpc>
              <a:spcBef>
                <a:spcPct val="0"/>
              </a:spcBef>
            </a:pPr>
            <a:r>
              <a:rPr lang="en-US" sz="2333" dirty="0">
                <a:solidFill>
                  <a:srgbClr val="FFFFFF"/>
                </a:solidFill>
                <a:latin typeface="Book Antiqua" panose="02040602050305030304" pitchFamily="18" charset="0"/>
                <a:ea typeface="League Spartan"/>
                <a:cs typeface="Times New Roman" panose="02020603050405020304" pitchFamily="18" charset="0"/>
                <a:sym typeface="League Spartan"/>
              </a:rPr>
              <a:t>Simulation Results</a:t>
            </a:r>
          </a:p>
        </p:txBody>
      </p:sp>
      <p:sp>
        <p:nvSpPr>
          <p:cNvPr id="10" name="TextBox 9">
            <a:extLst>
              <a:ext uri="{FF2B5EF4-FFF2-40B4-BE49-F238E27FC236}">
                <a16:creationId xmlns:a16="http://schemas.microsoft.com/office/drawing/2014/main" id="{636393E5-C33E-FE1A-10E7-399A2514CE22}"/>
              </a:ext>
            </a:extLst>
          </p:cNvPr>
          <p:cNvSpPr txBox="1"/>
          <p:nvPr/>
        </p:nvSpPr>
        <p:spPr>
          <a:xfrm>
            <a:off x="6226550" y="5495587"/>
            <a:ext cx="6787242" cy="584775"/>
          </a:xfrm>
          <a:prstGeom prst="rect">
            <a:avLst/>
          </a:prstGeom>
          <a:noFill/>
        </p:spPr>
        <p:txBody>
          <a:bodyPr wrap="square">
            <a:spAutoFit/>
          </a:bodyPr>
          <a:lstStyle/>
          <a:p>
            <a:r>
              <a:rPr lang="en-IN" sz="1600" dirty="0">
                <a:solidFill>
                  <a:srgbClr val="0000FF"/>
                </a:solidFill>
                <a:latin typeface="Times New Roman" panose="02020603050405020304" pitchFamily="18" charset="0"/>
                <a:cs typeface="Times New Roman" panose="02020603050405020304" pitchFamily="18" charset="0"/>
              </a:rPr>
              <a:t>Fig.3 </a:t>
            </a:r>
            <a:r>
              <a:rPr lang="en-IN" sz="1600" dirty="0">
                <a:latin typeface="Times New Roman" panose="02020603050405020304" pitchFamily="18" charset="0"/>
                <a:cs typeface="Times New Roman" panose="02020603050405020304" pitchFamily="18" charset="0"/>
              </a:rPr>
              <a:t>Simulation waveforms of </a:t>
            </a:r>
            <a:r>
              <a:rPr lang="it-IT" sz="1600" dirty="0">
                <a:latin typeface="Times New Roman" panose="02020603050405020304" pitchFamily="18" charset="0"/>
                <a:cs typeface="Times New Roman" panose="02020603050405020304" pitchFamily="18" charset="0"/>
              </a:rPr>
              <a:t>(a) V</a:t>
            </a:r>
            <a:r>
              <a:rPr lang="it-IT" sz="1400" dirty="0">
                <a:latin typeface="Times New Roman" panose="02020603050405020304" pitchFamily="18" charset="0"/>
                <a:cs typeface="Times New Roman" panose="02020603050405020304" pitchFamily="18" charset="0"/>
              </a:rPr>
              <a:t>o</a:t>
            </a:r>
            <a:r>
              <a:rPr lang="it-IT" sz="1600" dirty="0">
                <a:latin typeface="Times New Roman" panose="02020603050405020304" pitchFamily="18" charset="0"/>
                <a:cs typeface="Times New Roman" panose="02020603050405020304" pitchFamily="18" charset="0"/>
              </a:rPr>
              <a:t>, (b) i</a:t>
            </a:r>
            <a:r>
              <a:rPr lang="it-IT" sz="1400" dirty="0">
                <a:latin typeface="Times New Roman" panose="02020603050405020304" pitchFamily="18" charset="0"/>
                <a:cs typeface="Times New Roman" panose="02020603050405020304" pitchFamily="18" charset="0"/>
              </a:rPr>
              <a:t>o</a:t>
            </a:r>
            <a:r>
              <a:rPr lang="it-IT" sz="1600" dirty="0">
                <a:latin typeface="Times New Roman" panose="02020603050405020304" pitchFamily="18" charset="0"/>
                <a:cs typeface="Times New Roman" panose="02020603050405020304" pitchFamily="18" charset="0"/>
              </a:rPr>
              <a:t>, (c) %SoC, (d) η</a:t>
            </a:r>
            <a:endParaRPr lang="en-IN" sz="1600" dirty="0"/>
          </a:p>
          <a:p>
            <a:endParaRPr lang="en-IN" sz="1600" dirty="0"/>
          </a:p>
        </p:txBody>
      </p:sp>
      <p:graphicFrame>
        <p:nvGraphicFramePr>
          <p:cNvPr id="18" name="Table 17">
            <a:extLst>
              <a:ext uri="{FF2B5EF4-FFF2-40B4-BE49-F238E27FC236}">
                <a16:creationId xmlns:a16="http://schemas.microsoft.com/office/drawing/2014/main" id="{83BCD326-A8A5-8E31-7A20-9DF4FE8982F7}"/>
              </a:ext>
            </a:extLst>
          </p:cNvPr>
          <p:cNvGraphicFramePr>
            <a:graphicFrameLocks noGrp="1"/>
          </p:cNvGraphicFramePr>
          <p:nvPr>
            <p:extLst>
              <p:ext uri="{D42A27DB-BD31-4B8C-83A1-F6EECF244321}">
                <p14:modId xmlns:p14="http://schemas.microsoft.com/office/powerpoint/2010/main" val="3951947711"/>
              </p:ext>
            </p:extLst>
          </p:nvPr>
        </p:nvGraphicFramePr>
        <p:xfrm>
          <a:off x="119741" y="2147640"/>
          <a:ext cx="5334000" cy="1637280"/>
        </p:xfrm>
        <a:graphic>
          <a:graphicData uri="http://schemas.openxmlformats.org/drawingml/2006/table">
            <a:tbl>
              <a:tblPr firstRow="1" bandRow="1">
                <a:tableStyleId>{08FB837D-C827-4EFA-A057-4D05807E0F7C}</a:tableStyleId>
              </a:tblPr>
              <a:tblGrid>
                <a:gridCol w="5334000">
                  <a:extLst>
                    <a:ext uri="{9D8B030D-6E8A-4147-A177-3AD203B41FA5}">
                      <a16:colId xmlns:a16="http://schemas.microsoft.com/office/drawing/2014/main" val="3348750647"/>
                    </a:ext>
                  </a:extLst>
                </a:gridCol>
              </a:tblGrid>
              <a:tr h="341747">
                <a:tc>
                  <a:txBody>
                    <a:bodyPr/>
                    <a:lstStyle/>
                    <a:p>
                      <a:pPr algn="just">
                        <a:lnSpc>
                          <a:spcPct val="150000"/>
                        </a:lnSpc>
                      </a:pPr>
                      <a:r>
                        <a:rPr lang="en-IN" sz="1500" dirty="0"/>
                        <a:t>Output Current (I</a:t>
                      </a:r>
                      <a:r>
                        <a:rPr lang="en-IN" sz="1400" dirty="0"/>
                        <a:t>o</a:t>
                      </a:r>
                      <a:r>
                        <a:rPr lang="en-IN" sz="1600" dirty="0"/>
                        <a:t>)</a:t>
                      </a:r>
                      <a:endParaRPr lang="en-IN" sz="1500" dirty="0">
                        <a:latin typeface="Times New Roman" panose="02020603050405020304" pitchFamily="18" charset="0"/>
                        <a:cs typeface="Times New Roman" panose="02020603050405020304" pitchFamily="18" charset="0"/>
                      </a:endParaRPr>
                    </a:p>
                  </a:txBody>
                  <a:tcPr marL="45721" marR="45721" marT="22859" marB="22859"/>
                </a:tc>
                <a:extLst>
                  <a:ext uri="{0D108BD9-81ED-4DB2-BD59-A6C34878D82A}">
                    <a16:rowId xmlns:a16="http://schemas.microsoft.com/office/drawing/2014/main" val="1257615662"/>
                  </a:ext>
                </a:extLst>
              </a:tr>
              <a:tr h="1098192">
                <a:tc>
                  <a:txBody>
                    <a:bodyPr/>
                    <a:lstStyle/>
                    <a:p>
                      <a:pPr marL="342900" indent="-342900" algn="just">
                        <a:lnSpc>
                          <a:spcPct val="100000"/>
                        </a:lnSpc>
                        <a:buFont typeface="Arial" panose="020B0604020202020204" pitchFamily="34" charset="0"/>
                        <a:buChar char="•"/>
                      </a:pPr>
                      <a:r>
                        <a:rPr lang="en-US" sz="1600" dirty="0"/>
                        <a:t>The output current follows a similar ripple pattern as the voltage. This happens because during each switching cycle, the instantaneous power transferred from the primary side fluctuates, causing minor current variations at the load  end.</a:t>
                      </a:r>
                      <a:endParaRPr lang="en-IN" sz="1500" dirty="0">
                        <a:latin typeface="Times New Roman" panose="02020603050405020304" pitchFamily="18" charset="0"/>
                        <a:cs typeface="Times New Roman" panose="02020603050405020304" pitchFamily="18" charset="0"/>
                      </a:endParaRPr>
                    </a:p>
                  </a:txBody>
                  <a:tcPr marL="45721" marR="45721" marT="22859" marB="22859">
                    <a:solidFill>
                      <a:schemeClr val="bg1">
                        <a:lumMod val="95000"/>
                        <a:alpha val="40000"/>
                      </a:schemeClr>
                    </a:solidFill>
                  </a:tcPr>
                </a:tc>
                <a:extLst>
                  <a:ext uri="{0D108BD9-81ED-4DB2-BD59-A6C34878D82A}">
                    <a16:rowId xmlns:a16="http://schemas.microsoft.com/office/drawing/2014/main" val="1677469656"/>
                  </a:ext>
                </a:extLst>
              </a:tr>
            </a:tbl>
          </a:graphicData>
        </a:graphic>
      </p:graphicFrame>
      <p:graphicFrame>
        <p:nvGraphicFramePr>
          <p:cNvPr id="19" name="Table 18">
            <a:extLst>
              <a:ext uri="{FF2B5EF4-FFF2-40B4-BE49-F238E27FC236}">
                <a16:creationId xmlns:a16="http://schemas.microsoft.com/office/drawing/2014/main" id="{2DD67760-6C3E-3CD1-D1AB-62E271BE19A7}"/>
              </a:ext>
            </a:extLst>
          </p:cNvPr>
          <p:cNvGraphicFramePr>
            <a:graphicFrameLocks noGrp="1"/>
          </p:cNvGraphicFramePr>
          <p:nvPr>
            <p:extLst>
              <p:ext uri="{D42A27DB-BD31-4B8C-83A1-F6EECF244321}">
                <p14:modId xmlns:p14="http://schemas.microsoft.com/office/powerpoint/2010/main" val="3614111686"/>
              </p:ext>
            </p:extLst>
          </p:nvPr>
        </p:nvGraphicFramePr>
        <p:xfrm>
          <a:off x="119741" y="3891720"/>
          <a:ext cx="5333999" cy="1494236"/>
        </p:xfrm>
        <a:graphic>
          <a:graphicData uri="http://schemas.openxmlformats.org/drawingml/2006/table">
            <a:tbl>
              <a:tblPr firstRow="1" bandRow="1">
                <a:tableStyleId>{3C2FFA5D-87B4-456A-9821-1D502468CF0F}</a:tableStyleId>
              </a:tblPr>
              <a:tblGrid>
                <a:gridCol w="5333999">
                  <a:extLst>
                    <a:ext uri="{9D8B030D-6E8A-4147-A177-3AD203B41FA5}">
                      <a16:colId xmlns:a16="http://schemas.microsoft.com/office/drawing/2014/main" val="3348750647"/>
                    </a:ext>
                  </a:extLst>
                </a:gridCol>
              </a:tblGrid>
              <a:tr h="384018">
                <a:tc>
                  <a:txBody>
                    <a:bodyPr/>
                    <a:lstStyle/>
                    <a:p>
                      <a:pPr>
                        <a:lnSpc>
                          <a:spcPct val="150000"/>
                        </a:lnSpc>
                      </a:pPr>
                      <a:r>
                        <a:rPr lang="en-IN" sz="1500" dirty="0"/>
                        <a:t>State of Charge (SOC</a:t>
                      </a:r>
                      <a:r>
                        <a:rPr lang="en-IN" sz="1200" dirty="0"/>
                        <a:t>)</a:t>
                      </a:r>
                      <a:endParaRPr lang="en-IN" sz="1500" dirty="0">
                        <a:latin typeface="Times New Roman" panose="02020603050405020304" pitchFamily="18" charset="0"/>
                        <a:cs typeface="Times New Roman" panose="02020603050405020304" pitchFamily="18" charset="0"/>
                      </a:endParaRPr>
                    </a:p>
                  </a:txBody>
                  <a:tcPr marL="45721" marR="45721" marT="22859" marB="22859"/>
                </a:tc>
                <a:extLst>
                  <a:ext uri="{0D108BD9-81ED-4DB2-BD59-A6C34878D82A}">
                    <a16:rowId xmlns:a16="http://schemas.microsoft.com/office/drawing/2014/main" val="1257615662"/>
                  </a:ext>
                </a:extLst>
              </a:tr>
              <a:tr h="1110218">
                <a:tc>
                  <a:txBody>
                    <a:bodyPr/>
                    <a:lstStyle/>
                    <a:p>
                      <a:pPr marL="342900" indent="-342900">
                        <a:lnSpc>
                          <a:spcPct val="100000"/>
                        </a:lnSpc>
                        <a:buFont typeface="Arial" panose="020B0604020202020204" pitchFamily="34" charset="0"/>
                        <a:buChar char="•"/>
                      </a:pPr>
                      <a:r>
                        <a:rPr lang="en-US" sz="1600" dirty="0"/>
                        <a:t>The SOC curve shows a gradual increase, indicating that the battery is being charged. As the converter supplies current to the battery continuously, the stored energy rises steadily with time, leading to  upward slope in the SOC percentage.</a:t>
                      </a:r>
                      <a:endParaRPr lang="en-IN" sz="1500" dirty="0">
                        <a:latin typeface="Times New Roman" panose="02020603050405020304" pitchFamily="18" charset="0"/>
                        <a:cs typeface="Times New Roman" panose="02020603050405020304" pitchFamily="18" charset="0"/>
                      </a:endParaRPr>
                    </a:p>
                  </a:txBody>
                  <a:tcPr marL="45721" marR="45721" marT="22859" marB="22859">
                    <a:solidFill>
                      <a:schemeClr val="bg1">
                        <a:alpha val="40000"/>
                      </a:schemeClr>
                    </a:solidFill>
                  </a:tcPr>
                </a:tc>
                <a:extLst>
                  <a:ext uri="{0D108BD9-81ED-4DB2-BD59-A6C34878D82A}">
                    <a16:rowId xmlns:a16="http://schemas.microsoft.com/office/drawing/2014/main" val="1677469656"/>
                  </a:ext>
                </a:extLst>
              </a:tr>
            </a:tbl>
          </a:graphicData>
        </a:graphic>
      </p:graphicFrame>
      <p:graphicFrame>
        <p:nvGraphicFramePr>
          <p:cNvPr id="22" name="Table 21">
            <a:extLst>
              <a:ext uri="{FF2B5EF4-FFF2-40B4-BE49-F238E27FC236}">
                <a16:creationId xmlns:a16="http://schemas.microsoft.com/office/drawing/2014/main" id="{E7761041-FD6F-AA15-48C1-449BDAD54B27}"/>
              </a:ext>
            </a:extLst>
          </p:cNvPr>
          <p:cNvGraphicFramePr>
            <a:graphicFrameLocks noGrp="1"/>
          </p:cNvGraphicFramePr>
          <p:nvPr>
            <p:extLst>
              <p:ext uri="{D42A27DB-BD31-4B8C-83A1-F6EECF244321}">
                <p14:modId xmlns:p14="http://schemas.microsoft.com/office/powerpoint/2010/main" val="4150102570"/>
              </p:ext>
            </p:extLst>
          </p:nvPr>
        </p:nvGraphicFramePr>
        <p:xfrm>
          <a:off x="119741" y="5482229"/>
          <a:ext cx="5333999" cy="1029497"/>
        </p:xfrm>
        <a:graphic>
          <a:graphicData uri="http://schemas.openxmlformats.org/drawingml/2006/table">
            <a:tbl>
              <a:tblPr firstRow="1" bandRow="1">
                <a:tableStyleId>{08FB837D-C827-4EFA-A057-4D05807E0F7C}</a:tableStyleId>
              </a:tblPr>
              <a:tblGrid>
                <a:gridCol w="5333999">
                  <a:extLst>
                    <a:ext uri="{9D8B030D-6E8A-4147-A177-3AD203B41FA5}">
                      <a16:colId xmlns:a16="http://schemas.microsoft.com/office/drawing/2014/main" val="3348750647"/>
                    </a:ext>
                  </a:extLst>
                </a:gridCol>
              </a:tblGrid>
              <a:tr h="303280">
                <a:tc>
                  <a:txBody>
                    <a:bodyPr/>
                    <a:lstStyle/>
                    <a:p>
                      <a:pPr>
                        <a:lnSpc>
                          <a:spcPct val="150000"/>
                        </a:lnSpc>
                      </a:pPr>
                      <a:r>
                        <a:rPr lang="en-IN" sz="1500" dirty="0"/>
                        <a:t>Efficiency (</a:t>
                      </a:r>
                      <a:r>
                        <a:rPr lang="it-IT" sz="1400" dirty="0">
                          <a:latin typeface="Times New Roman" panose="02020603050405020304" pitchFamily="18" charset="0"/>
                          <a:cs typeface="Times New Roman" panose="02020603050405020304" pitchFamily="18" charset="0"/>
                        </a:rPr>
                        <a:t> η</a:t>
                      </a:r>
                      <a:r>
                        <a:rPr lang="en-IN" sz="1600" dirty="0"/>
                        <a:t>)</a:t>
                      </a:r>
                      <a:endParaRPr lang="en-IN" sz="1500" dirty="0">
                        <a:latin typeface="Times New Roman" panose="02020603050405020304" pitchFamily="18" charset="0"/>
                        <a:cs typeface="Times New Roman" panose="02020603050405020304" pitchFamily="18" charset="0"/>
                      </a:endParaRPr>
                    </a:p>
                  </a:txBody>
                  <a:tcPr marL="45721" marR="45721" marT="22859" marB="22859"/>
                </a:tc>
                <a:extLst>
                  <a:ext uri="{0D108BD9-81ED-4DB2-BD59-A6C34878D82A}">
                    <a16:rowId xmlns:a16="http://schemas.microsoft.com/office/drawing/2014/main" val="1257615662"/>
                  </a:ext>
                </a:extLst>
              </a:tr>
              <a:tr h="657135">
                <a:tc>
                  <a:txBody>
                    <a:bodyPr/>
                    <a:lstStyle/>
                    <a:p>
                      <a:pPr marL="342900" indent="-342900">
                        <a:lnSpc>
                          <a:spcPct val="100000"/>
                        </a:lnSpc>
                        <a:buFont typeface="Arial" panose="020B0604020202020204" pitchFamily="34" charset="0"/>
                        <a:buChar char="•"/>
                      </a:pPr>
                      <a:r>
                        <a:rPr lang="en-US" sz="1600" dirty="0"/>
                        <a:t>The efficiency remains almost constant at around </a:t>
                      </a:r>
                      <a:r>
                        <a:rPr lang="en-US" sz="1600" b="1" dirty="0"/>
                        <a:t>96.78 %</a:t>
                      </a:r>
                      <a:r>
                        <a:rPr lang="en-US" sz="1600" dirty="0"/>
                        <a:t>, showing that power losses are minimal. </a:t>
                      </a:r>
                      <a:endParaRPr lang="en-IN" sz="1500" dirty="0">
                        <a:latin typeface="Times New Roman" panose="02020603050405020304" pitchFamily="18" charset="0"/>
                        <a:cs typeface="Times New Roman" panose="02020603050405020304" pitchFamily="18" charset="0"/>
                      </a:endParaRPr>
                    </a:p>
                  </a:txBody>
                  <a:tcPr marL="45721" marR="45721" marT="22859" marB="22859">
                    <a:solidFill>
                      <a:schemeClr val="bg1">
                        <a:lumMod val="95000"/>
                        <a:alpha val="40000"/>
                      </a:schemeClr>
                    </a:solidFill>
                  </a:tcPr>
                </a:tc>
                <a:extLst>
                  <a:ext uri="{0D108BD9-81ED-4DB2-BD59-A6C34878D82A}">
                    <a16:rowId xmlns:a16="http://schemas.microsoft.com/office/drawing/2014/main" val="1677469656"/>
                  </a:ext>
                </a:extLst>
              </a:tr>
            </a:tbl>
          </a:graphicData>
        </a:graphic>
      </p:graphicFrame>
      <p:pic>
        <p:nvPicPr>
          <p:cNvPr id="2" name="Picture 1">
            <a:extLst>
              <a:ext uri="{FF2B5EF4-FFF2-40B4-BE49-F238E27FC236}">
                <a16:creationId xmlns:a16="http://schemas.microsoft.com/office/drawing/2014/main" id="{488EC1B6-F13D-D23E-303C-E012A1D27E25}"/>
              </a:ext>
            </a:extLst>
          </p:cNvPr>
          <p:cNvPicPr>
            <a:picLocks noChangeAspect="1"/>
          </p:cNvPicPr>
          <p:nvPr/>
        </p:nvPicPr>
        <p:blipFill>
          <a:blip r:embed="rId2"/>
          <a:stretch>
            <a:fillRect/>
          </a:stretch>
        </p:blipFill>
        <p:spPr>
          <a:xfrm>
            <a:off x="5595257" y="927648"/>
            <a:ext cx="6561379" cy="4458308"/>
          </a:xfrm>
          <a:prstGeom prst="rect">
            <a:avLst/>
          </a:prstGeom>
        </p:spPr>
      </p:pic>
    </p:spTree>
    <p:extLst>
      <p:ext uri="{BB962C8B-B14F-4D97-AF65-F5344CB8AC3E}">
        <p14:creationId xmlns:p14="http://schemas.microsoft.com/office/powerpoint/2010/main" val="2849067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1527277" y="6584221"/>
            <a:ext cx="629359" cy="323165"/>
          </a:xfrm>
          <a:prstGeom prst="rect">
            <a:avLst/>
          </a:prstGeom>
          <a:noFill/>
        </p:spPr>
        <p:txBody>
          <a:bodyPr wrap="square" rtlCol="0">
            <a:spAutoFit/>
          </a:bodyPr>
          <a:lstStyle/>
          <a:p>
            <a:r>
              <a:rPr lang="en-IN" sz="1500" dirty="0">
                <a:solidFill>
                  <a:schemeClr val="bg1"/>
                </a:solidFill>
                <a:latin typeface="Times New Roman" panose="02020603050405020304" pitchFamily="18" charset="0"/>
                <a:cs typeface="Times New Roman" panose="02020603050405020304" pitchFamily="18" charset="0"/>
              </a:rPr>
              <a:t>10/12</a:t>
            </a:r>
          </a:p>
        </p:txBody>
      </p:sp>
      <p:sp>
        <p:nvSpPr>
          <p:cNvPr id="10" name="TextBox 14"/>
          <p:cNvSpPr txBox="1"/>
          <p:nvPr/>
        </p:nvSpPr>
        <p:spPr>
          <a:xfrm>
            <a:off x="3151762" y="105111"/>
            <a:ext cx="5910092" cy="320601"/>
          </a:xfrm>
          <a:prstGeom prst="rect">
            <a:avLst/>
          </a:prstGeom>
        </p:spPr>
        <p:txBody>
          <a:bodyPr wrap="square" lIns="0" tIns="0" rIns="0" bIns="0" rtlCol="0" anchor="t">
            <a:spAutoFit/>
          </a:bodyPr>
          <a:lstStyle/>
          <a:p>
            <a:pPr algn="ctr">
              <a:lnSpc>
                <a:spcPts val="2451"/>
              </a:lnSpc>
              <a:spcBef>
                <a:spcPct val="0"/>
              </a:spcBef>
            </a:pPr>
            <a:r>
              <a:rPr lang="en-US" sz="2333" dirty="0">
                <a:solidFill>
                  <a:srgbClr val="FFFFFF"/>
                </a:solidFill>
                <a:latin typeface="Book Antiqua" panose="02040602050305030304" pitchFamily="18" charset="0"/>
                <a:ea typeface="League Spartan"/>
                <a:cs typeface="Times New Roman" panose="02020603050405020304" pitchFamily="18" charset="0"/>
                <a:sym typeface="League Spartan"/>
              </a:rPr>
              <a:t>Simulation Results</a:t>
            </a:r>
          </a:p>
        </p:txBody>
      </p:sp>
      <p:pic>
        <p:nvPicPr>
          <p:cNvPr id="5" name="Picture 4">
            <a:extLst>
              <a:ext uri="{FF2B5EF4-FFF2-40B4-BE49-F238E27FC236}">
                <a16:creationId xmlns:a16="http://schemas.microsoft.com/office/drawing/2014/main" id="{353E50F0-8058-DC2F-61D2-32B825BEEC5C}"/>
              </a:ext>
            </a:extLst>
          </p:cNvPr>
          <p:cNvPicPr>
            <a:picLocks noChangeAspect="1"/>
          </p:cNvPicPr>
          <p:nvPr/>
        </p:nvPicPr>
        <p:blipFill>
          <a:blip r:embed="rId2"/>
          <a:stretch>
            <a:fillRect/>
          </a:stretch>
        </p:blipFill>
        <p:spPr>
          <a:xfrm>
            <a:off x="183724" y="672621"/>
            <a:ext cx="11721811" cy="5824927"/>
          </a:xfrm>
          <a:prstGeom prst="rect">
            <a:avLst/>
          </a:prstGeom>
        </p:spPr>
      </p:pic>
    </p:spTree>
    <p:extLst>
      <p:ext uri="{BB962C8B-B14F-4D97-AF65-F5344CB8AC3E}">
        <p14:creationId xmlns:p14="http://schemas.microsoft.com/office/powerpoint/2010/main" val="1139695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37555-E8F7-13F7-56D6-D96530886B64}"/>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6206814B-82B7-1FEA-6BE6-D58FB4A94747}"/>
              </a:ext>
            </a:extLst>
          </p:cNvPr>
          <p:cNvGraphicFramePr>
            <a:graphicFrameLocks noGrp="1"/>
          </p:cNvGraphicFramePr>
          <p:nvPr>
            <p:extLst>
              <p:ext uri="{D42A27DB-BD31-4B8C-83A1-F6EECF244321}">
                <p14:modId xmlns:p14="http://schemas.microsoft.com/office/powerpoint/2010/main" val="943415887"/>
              </p:ext>
            </p:extLst>
          </p:nvPr>
        </p:nvGraphicFramePr>
        <p:xfrm>
          <a:off x="0" y="4451097"/>
          <a:ext cx="12192000" cy="1869981"/>
        </p:xfrm>
        <a:graphic>
          <a:graphicData uri="http://schemas.openxmlformats.org/drawingml/2006/table">
            <a:tbl>
              <a:tblPr firstRow="1" bandRow="1">
                <a:effectLst>
                  <a:outerShdw blurRad="50800" dist="38100" dir="5400000" algn="t" rotWithShape="0">
                    <a:prstClr val="black">
                      <a:alpha val="40000"/>
                    </a:prstClr>
                  </a:outerShdw>
                </a:effectLst>
                <a:tableStyleId>{2D5ABB26-0587-4C30-8999-92F81FD0307C}</a:tableStyleId>
              </a:tblPr>
              <a:tblGrid>
                <a:gridCol w="12192000">
                  <a:extLst>
                    <a:ext uri="{9D8B030D-6E8A-4147-A177-3AD203B41FA5}">
                      <a16:colId xmlns:a16="http://schemas.microsoft.com/office/drawing/2014/main" val="1988344849"/>
                    </a:ext>
                  </a:extLst>
                </a:gridCol>
              </a:tblGrid>
              <a:tr h="493747">
                <a:tc>
                  <a:txBody>
                    <a:bodyPr/>
                    <a:lstStyle/>
                    <a:p>
                      <a:pPr marL="283369" marR="0" lvl="1" indent="0" algn="just" defTabSz="914327" rtl="0" eaLnBrk="1" fontAlgn="auto" latinLnBrk="0" hangingPunct="1">
                        <a:lnSpc>
                          <a:spcPct val="150000"/>
                        </a:lnSpc>
                        <a:spcBef>
                          <a:spcPts val="0"/>
                        </a:spcBef>
                        <a:spcAft>
                          <a:spcPts val="0"/>
                        </a:spcAft>
                        <a:buClrTx/>
                        <a:buSzTx/>
                        <a:buFont typeface="Arial"/>
                        <a:buNone/>
                        <a:tabLst/>
                        <a:defRPr/>
                      </a:pPr>
                      <a:r>
                        <a:rPr kumimoji="0" lang="en-US" sz="1500" b="0" i="0" u="none" strike="noStrike" kern="1200" cap="none" spc="110" normalizeH="0" baseline="0" noProof="0" dirty="0">
                          <a:ln>
                            <a:noFill/>
                          </a:ln>
                          <a:solidFill>
                            <a:srgbClr val="000000"/>
                          </a:solidFill>
                          <a:effectLst/>
                          <a:uLnTx/>
                          <a:uFillTx/>
                          <a:latin typeface="Times New Roman" panose="02020603050405020304" pitchFamily="18" charset="0"/>
                          <a:ea typeface="Times New Roman"/>
                          <a:cs typeface="Times New Roman" panose="02020603050405020304" pitchFamily="18" charset="0"/>
                          <a:sym typeface="Times New Roman"/>
                        </a:rPr>
                        <a:t>Future Plan</a:t>
                      </a: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2072934682"/>
                  </a:ext>
                </a:extLst>
              </a:tr>
              <a:tr h="1375441">
                <a:tc>
                  <a:txBody>
                    <a:bodyPr/>
                    <a:lstStyle/>
                    <a:p>
                      <a:pPr marL="566739" lvl="1" indent="-283370" algn="just">
                        <a:lnSpc>
                          <a:spcPct val="150000"/>
                        </a:lnSpc>
                        <a:buFont typeface="Arial"/>
                        <a:buChar char="•"/>
                      </a:pPr>
                      <a:r>
                        <a:rPr lang="en-US" sz="1500" dirty="0">
                          <a:latin typeface="Times New Roman" panose="02020603050405020304" pitchFamily="18" charset="0"/>
                          <a:cs typeface="Times New Roman" panose="02020603050405020304" pitchFamily="18" charset="0"/>
                        </a:rPr>
                        <a:t>The next phase will involve </a:t>
                      </a:r>
                      <a:r>
                        <a:rPr lang="en-US" sz="1500" b="1" dirty="0">
                          <a:latin typeface="Times New Roman" panose="02020603050405020304" pitchFamily="18" charset="0"/>
                          <a:cs typeface="Times New Roman" panose="02020603050405020304" pitchFamily="18" charset="0"/>
                        </a:rPr>
                        <a:t>hardware testing of the SiC-based DAB converter</a:t>
                      </a:r>
                      <a:r>
                        <a:rPr lang="en-US" sz="1500" dirty="0">
                          <a:latin typeface="Times New Roman" panose="02020603050405020304" pitchFamily="18" charset="0"/>
                          <a:cs typeface="Times New Roman" panose="02020603050405020304" pitchFamily="18" charset="0"/>
                        </a:rPr>
                        <a:t> to experimentally validate its open-loop performance.</a:t>
                      </a:r>
                    </a:p>
                    <a:p>
                      <a:pPr marL="566739" lvl="1" indent="-283370" algn="just">
                        <a:lnSpc>
                          <a:spcPct val="150000"/>
                        </a:lnSpc>
                        <a:buFont typeface="Arial"/>
                        <a:buChar char="•"/>
                      </a:pPr>
                      <a:r>
                        <a:rPr lang="en-US" sz="1500" dirty="0">
                          <a:latin typeface="Times New Roman" panose="02020603050405020304" pitchFamily="18" charset="0"/>
                          <a:cs typeface="Times New Roman" panose="02020603050405020304" pitchFamily="18" charset="0"/>
                        </a:rPr>
                        <a:t>A </a:t>
                      </a:r>
                      <a:r>
                        <a:rPr lang="en-US" sz="1500" b="1" dirty="0">
                          <a:latin typeface="Times New Roman" panose="02020603050405020304" pitchFamily="18" charset="0"/>
                          <a:cs typeface="Times New Roman" panose="02020603050405020304" pitchFamily="18" charset="0"/>
                        </a:rPr>
                        <a:t>CC–CV charging control strategy</a:t>
                      </a:r>
                      <a:r>
                        <a:rPr lang="en-US" sz="1500" dirty="0">
                          <a:latin typeface="Times New Roman" panose="02020603050405020304" pitchFamily="18" charset="0"/>
                          <a:cs typeface="Times New Roman" panose="02020603050405020304" pitchFamily="18" charset="0"/>
                        </a:rPr>
                        <a:t> will be </a:t>
                      </a:r>
                      <a:r>
                        <a:rPr lang="en-US" sz="1500" b="1" dirty="0">
                          <a:latin typeface="Times New Roman" panose="02020603050405020304" pitchFamily="18" charset="0"/>
                          <a:cs typeface="Times New Roman" panose="02020603050405020304" pitchFamily="18" charset="0"/>
                        </a:rPr>
                        <a:t>developed and simulated in MATLAB/Simulink</a:t>
                      </a:r>
                      <a:r>
                        <a:rPr lang="en-US" sz="1500" dirty="0">
                          <a:latin typeface="Times New Roman" panose="02020603050405020304" pitchFamily="18" charset="0"/>
                          <a:cs typeface="Times New Roman" panose="02020603050405020304" pitchFamily="18" charset="0"/>
                        </a:rPr>
                        <a:t> to enhance regulation accuracy and efficiency.</a:t>
                      </a:r>
                    </a:p>
                    <a:p>
                      <a:pPr marL="566739" lvl="1" indent="-283370" algn="just">
                        <a:lnSpc>
                          <a:spcPct val="150000"/>
                        </a:lnSpc>
                        <a:buFont typeface="Arial"/>
                        <a:buChar char="•"/>
                      </a:pPr>
                      <a:r>
                        <a:rPr lang="en-US" sz="1500" dirty="0">
                          <a:latin typeface="Times New Roman" panose="02020603050405020304" pitchFamily="18" charset="0"/>
                          <a:cs typeface="Times New Roman" panose="02020603050405020304" pitchFamily="18" charset="0"/>
                        </a:rPr>
                        <a:t>The converter will be </a:t>
                      </a:r>
                      <a:r>
                        <a:rPr lang="en-US" sz="1500" b="1" dirty="0">
                          <a:latin typeface="Times New Roman" panose="02020603050405020304" pitchFamily="18" charset="0"/>
                          <a:cs typeface="Times New Roman" panose="02020603050405020304" pitchFamily="18" charset="0"/>
                        </a:rPr>
                        <a:t>implemented with a closed-loop control</a:t>
                      </a:r>
                      <a:r>
                        <a:rPr lang="en-US" sz="1500" dirty="0">
                          <a:latin typeface="Times New Roman" panose="02020603050405020304" pitchFamily="18" charset="0"/>
                          <a:cs typeface="Times New Roman" panose="02020603050405020304" pitchFamily="18" charset="0"/>
                        </a:rPr>
                        <a:t> and tested on a </a:t>
                      </a:r>
                      <a:r>
                        <a:rPr lang="en-US" sz="1500" b="1" dirty="0">
                          <a:latin typeface="Times New Roman" panose="02020603050405020304" pitchFamily="18" charset="0"/>
                          <a:cs typeface="Times New Roman" panose="02020603050405020304" pitchFamily="18" charset="0"/>
                        </a:rPr>
                        <a:t>battery load setup</a:t>
                      </a:r>
                      <a:r>
                        <a:rPr lang="en-US" sz="1500" dirty="0">
                          <a:latin typeface="Times New Roman" panose="02020603050405020304" pitchFamily="18" charset="0"/>
                          <a:cs typeface="Times New Roman" panose="02020603050405020304" pitchFamily="18" charset="0"/>
                        </a:rPr>
                        <a:t> for performance verification.</a:t>
                      </a:r>
                    </a:p>
                    <a:p>
                      <a:pPr marL="566739" lvl="1" indent="-283370" algn="just">
                        <a:lnSpc>
                          <a:spcPct val="150000"/>
                        </a:lnSpc>
                        <a:buFont typeface="Arial"/>
                        <a:buChar char="•"/>
                      </a:pPr>
                      <a:endParaRPr lang="en-IN" sz="1500" spc="11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8605795"/>
                  </a:ext>
                </a:extLst>
              </a:tr>
            </a:tbl>
          </a:graphicData>
        </a:graphic>
      </p:graphicFrame>
      <p:graphicFrame>
        <p:nvGraphicFramePr>
          <p:cNvPr id="8" name="Table 7">
            <a:extLst>
              <a:ext uri="{FF2B5EF4-FFF2-40B4-BE49-F238E27FC236}">
                <a16:creationId xmlns:a16="http://schemas.microsoft.com/office/drawing/2014/main" id="{3F78F9CD-21E2-D5B5-3E78-026F63BD1DC8}"/>
              </a:ext>
            </a:extLst>
          </p:cNvPr>
          <p:cNvGraphicFramePr>
            <a:graphicFrameLocks noGrp="1"/>
          </p:cNvGraphicFramePr>
          <p:nvPr>
            <p:extLst>
              <p:ext uri="{D42A27DB-BD31-4B8C-83A1-F6EECF244321}">
                <p14:modId xmlns:p14="http://schemas.microsoft.com/office/powerpoint/2010/main" val="1946610013"/>
              </p:ext>
            </p:extLst>
          </p:nvPr>
        </p:nvGraphicFramePr>
        <p:xfrm>
          <a:off x="0" y="480893"/>
          <a:ext cx="12156636" cy="3559982"/>
        </p:xfrm>
        <a:graphic>
          <a:graphicData uri="http://schemas.openxmlformats.org/drawingml/2006/table">
            <a:tbl>
              <a:tblPr firstRow="1" bandRow="1">
                <a:effectLst>
                  <a:outerShdw blurRad="50800" dist="38100" dir="5400000" algn="t" rotWithShape="0">
                    <a:prstClr val="black">
                      <a:alpha val="40000"/>
                    </a:prstClr>
                  </a:outerShdw>
                </a:effectLst>
                <a:tableStyleId>{2D5ABB26-0587-4C30-8999-92F81FD0307C}</a:tableStyleId>
              </a:tblPr>
              <a:tblGrid>
                <a:gridCol w="12156636">
                  <a:extLst>
                    <a:ext uri="{9D8B030D-6E8A-4147-A177-3AD203B41FA5}">
                      <a16:colId xmlns:a16="http://schemas.microsoft.com/office/drawing/2014/main" val="1988344849"/>
                    </a:ext>
                  </a:extLst>
                </a:gridCol>
              </a:tblGrid>
              <a:tr h="469248">
                <a:tc>
                  <a:txBody>
                    <a:bodyPr/>
                    <a:lstStyle/>
                    <a:p>
                      <a:pPr marL="283369" marR="0" lvl="1" indent="0" algn="just" defTabSz="914327" rtl="0" eaLnBrk="1" fontAlgn="auto" latinLnBrk="0" hangingPunct="1">
                        <a:lnSpc>
                          <a:spcPct val="150000"/>
                        </a:lnSpc>
                        <a:spcBef>
                          <a:spcPts val="0"/>
                        </a:spcBef>
                        <a:spcAft>
                          <a:spcPts val="0"/>
                        </a:spcAft>
                        <a:buClrTx/>
                        <a:buSzTx/>
                        <a:buFont typeface="Arial"/>
                        <a:buNone/>
                        <a:tabLst/>
                        <a:defRPr/>
                      </a:pPr>
                      <a:r>
                        <a:rPr kumimoji="0" lang="en-US" sz="1500" b="0" i="0" u="none" strike="noStrike" kern="1200" cap="none" spc="110" normalizeH="0" baseline="0" noProof="0" dirty="0">
                          <a:ln>
                            <a:noFill/>
                          </a:ln>
                          <a:solidFill>
                            <a:srgbClr val="000000"/>
                          </a:solidFill>
                          <a:effectLst/>
                          <a:uLnTx/>
                          <a:uFillTx/>
                          <a:latin typeface="Times New Roman" panose="02020603050405020304" pitchFamily="18" charset="0"/>
                          <a:ea typeface="Times New Roman"/>
                          <a:cs typeface="Times New Roman" panose="02020603050405020304" pitchFamily="18" charset="0"/>
                          <a:sym typeface="Times New Roman"/>
                        </a:rPr>
                        <a:t>Conclusion</a:t>
                      </a: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2072934682"/>
                  </a:ext>
                </a:extLst>
              </a:tr>
              <a:tr h="2656455">
                <a:tc>
                  <a:txBody>
                    <a:bodyPr/>
                    <a:lstStyle/>
                    <a:p>
                      <a:pPr marL="569119" lvl="1" indent="-285750" algn="just">
                        <a:lnSpc>
                          <a:spcPct val="150000"/>
                        </a:lnSpc>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The </a:t>
                      </a:r>
                      <a:r>
                        <a:rPr lang="en-US" sz="1500" dirty="0" err="1">
                          <a:latin typeface="Times New Roman" panose="02020603050405020304" pitchFamily="18" charset="0"/>
                          <a:cs typeface="Times New Roman" panose="02020603050405020304" pitchFamily="18" charset="0"/>
                        </a:rPr>
                        <a:t>SiC</a:t>
                      </a:r>
                      <a:r>
                        <a:rPr lang="en-US" sz="1500" dirty="0">
                          <a:latin typeface="Times New Roman" panose="02020603050405020304" pitchFamily="18" charset="0"/>
                          <a:cs typeface="Times New Roman" panose="02020603050405020304" pitchFamily="18" charset="0"/>
                        </a:rPr>
                        <a:t>-based DAB converter achieved </a:t>
                      </a:r>
                      <a:r>
                        <a:rPr lang="en-US" sz="1500" b="1" dirty="0">
                          <a:latin typeface="Times New Roman" panose="02020603050405020304" pitchFamily="18" charset="0"/>
                          <a:cs typeface="Times New Roman" panose="02020603050405020304" pitchFamily="18" charset="0"/>
                        </a:rPr>
                        <a:t>high efficiency (≈96.8%)</a:t>
                      </a:r>
                      <a:r>
                        <a:rPr lang="en-US" sz="1500" dirty="0">
                          <a:latin typeface="Times New Roman" panose="02020603050405020304" pitchFamily="18" charset="0"/>
                          <a:cs typeface="Times New Roman" panose="02020603050405020304" pitchFamily="18" charset="0"/>
                        </a:rPr>
                        <a:t> with optimized parameters of </a:t>
                      </a:r>
                      <a:r>
                        <a:rPr lang="en-US" sz="1500" b="1" dirty="0">
                          <a:latin typeface="Times New Roman" panose="02020603050405020304" pitchFamily="18" charset="0"/>
                          <a:cs typeface="Times New Roman" panose="02020603050405020304" pitchFamily="18" charset="0"/>
                        </a:rPr>
                        <a:t>Llk = 95 µH</a:t>
                      </a:r>
                      <a:r>
                        <a:rPr lang="en-US" sz="1500" dirty="0">
                          <a:latin typeface="Times New Roman" panose="02020603050405020304" pitchFamily="18" charset="0"/>
                          <a:cs typeface="Times New Roman" panose="02020603050405020304" pitchFamily="18" charset="0"/>
                        </a:rPr>
                        <a:t> and a </a:t>
                      </a:r>
                      <a:r>
                        <a:rPr lang="en-US" sz="1500" b="1" dirty="0">
                          <a:latin typeface="Times New Roman" panose="02020603050405020304" pitchFamily="18" charset="0"/>
                          <a:cs typeface="Times New Roman" panose="02020603050405020304" pitchFamily="18" charset="0"/>
                        </a:rPr>
                        <a:t>phase shift of 63°</a:t>
                      </a:r>
                      <a:r>
                        <a:rPr lang="en-US" sz="1500" dirty="0">
                          <a:latin typeface="Times New Roman" panose="02020603050405020304" pitchFamily="18" charset="0"/>
                          <a:cs typeface="Times New Roman" panose="02020603050405020304" pitchFamily="18" charset="0"/>
                        </a:rPr>
                        <a:t>, confirming its suitability for EV battery charging applications.</a:t>
                      </a:r>
                    </a:p>
                    <a:p>
                      <a:pPr marL="566739" lvl="1" indent="-283370" algn="just">
                        <a:lnSpc>
                          <a:spcPct val="150000"/>
                        </a:lnSpc>
                        <a:buFont typeface="Arial"/>
                        <a:buChar char="•"/>
                      </a:pPr>
                      <a:r>
                        <a:rPr lang="en-US" sz="1500" b="1" dirty="0">
                          <a:latin typeface="Times New Roman" panose="02020603050405020304" pitchFamily="18" charset="0"/>
                          <a:cs typeface="Times New Roman" panose="02020603050405020304" pitchFamily="18" charset="0"/>
                        </a:rPr>
                        <a:t>All results presented were captured at steady-state</a:t>
                      </a:r>
                      <a:r>
                        <a:rPr lang="en-US" sz="1500" dirty="0">
                          <a:latin typeface="Times New Roman" panose="02020603050405020304" pitchFamily="18" charset="0"/>
                          <a:cs typeface="Times New Roman" panose="02020603050405020304" pitchFamily="18" charset="0"/>
                        </a:rPr>
                        <a:t>. Lower inductance values (80 µH) allow for higher power output (4.84 kW), while higher values (120µH) restrict the power flow (3.2 kW). </a:t>
                      </a:r>
                    </a:p>
                    <a:p>
                      <a:pPr marL="566739" lvl="1" indent="-283370" algn="just">
                        <a:lnSpc>
                          <a:spcPct val="150000"/>
                        </a:lnSpc>
                        <a:buFont typeface="Arial"/>
                        <a:buChar char="•"/>
                      </a:pPr>
                      <a:r>
                        <a:rPr lang="en-US" sz="1500" dirty="0">
                          <a:latin typeface="Times New Roman" panose="02020603050405020304" pitchFamily="18" charset="0"/>
                          <a:cs typeface="Times New Roman" panose="02020603050405020304" pitchFamily="18" charset="0"/>
                        </a:rPr>
                        <a:t>The analysis shows that an inductance of 95 µH provides a near-optimal efficiency of 96.78%. Although a slightly higher efficiency of 97.02% is observed at 120 µH, this comes at the cost of a significant reduction in power output. </a:t>
                      </a:r>
                    </a:p>
                    <a:p>
                      <a:pPr marL="566739" lvl="1" indent="-283370" algn="just">
                        <a:lnSpc>
                          <a:spcPct val="150000"/>
                        </a:lnSpc>
                        <a:buFont typeface="Arial"/>
                        <a:buChar char="•"/>
                      </a:pPr>
                      <a:r>
                        <a:rPr lang="en-US" sz="1500" dirty="0">
                          <a:latin typeface="Times New Roman" panose="02020603050405020304" pitchFamily="18" charset="0"/>
                          <a:cs typeface="Times New Roman" panose="02020603050405020304" pitchFamily="18" charset="0"/>
                        </a:rPr>
                        <a:t>Under open-loop SPS control with the optimized parameters, the maximum achievable power is 4.12 kW, resulting in shortfall of 0.879 kW.</a:t>
                      </a:r>
                    </a:p>
                    <a:p>
                      <a:pPr marL="566739" lvl="1" indent="-283370" algn="just">
                        <a:lnSpc>
                          <a:spcPct val="150000"/>
                        </a:lnSpc>
                        <a:buFont typeface="Arial"/>
                        <a:buChar char="•"/>
                      </a:pPr>
                      <a:r>
                        <a:rPr lang="en-US" sz="1500" dirty="0">
                          <a:latin typeface="Times New Roman" panose="02020603050405020304" pitchFamily="18" charset="0"/>
                          <a:cs typeface="Times New Roman" panose="02020603050405020304" pitchFamily="18" charset="0"/>
                        </a:rPr>
                        <a:t>To address this limitation and achieve precise and efficient battery charging, a transition from an open-loop to a closed-loop control strategy is required.</a:t>
                      </a:r>
                      <a:endParaRPr lang="en-US" sz="1500" spc="11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txBody>
                  <a:tcPr marL="45721" marR="45721" marT="22859" marB="22859">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8605795"/>
                  </a:ext>
                </a:extLst>
              </a:tr>
            </a:tbl>
          </a:graphicData>
        </a:graphic>
      </p:graphicFrame>
      <p:sp>
        <p:nvSpPr>
          <p:cNvPr id="9" name="TextBox 8">
            <a:extLst>
              <a:ext uri="{FF2B5EF4-FFF2-40B4-BE49-F238E27FC236}">
                <a16:creationId xmlns:a16="http://schemas.microsoft.com/office/drawing/2014/main" id="{53F54BB8-8554-4007-58BF-05BE1F0A4815}"/>
              </a:ext>
            </a:extLst>
          </p:cNvPr>
          <p:cNvSpPr txBox="1"/>
          <p:nvPr/>
        </p:nvSpPr>
        <p:spPr>
          <a:xfrm>
            <a:off x="11527277" y="6584221"/>
            <a:ext cx="629359" cy="323165"/>
          </a:xfrm>
          <a:prstGeom prst="rect">
            <a:avLst/>
          </a:prstGeom>
          <a:noFill/>
        </p:spPr>
        <p:txBody>
          <a:bodyPr wrap="square" rtlCol="0">
            <a:spAutoFit/>
          </a:bodyPr>
          <a:lstStyle/>
          <a:p>
            <a:r>
              <a:rPr lang="en-IN" sz="1500" dirty="0">
                <a:solidFill>
                  <a:schemeClr val="bg1"/>
                </a:solidFill>
                <a:latin typeface="Times New Roman" panose="02020603050405020304" pitchFamily="18" charset="0"/>
                <a:cs typeface="Times New Roman" panose="02020603050405020304" pitchFamily="18" charset="0"/>
              </a:rPr>
              <a:t>11/12</a:t>
            </a:r>
          </a:p>
        </p:txBody>
      </p:sp>
      <p:sp>
        <p:nvSpPr>
          <p:cNvPr id="10" name="TextBox 14">
            <a:extLst>
              <a:ext uri="{FF2B5EF4-FFF2-40B4-BE49-F238E27FC236}">
                <a16:creationId xmlns:a16="http://schemas.microsoft.com/office/drawing/2014/main" id="{567F96B4-87ED-CDF8-5D55-EC4FCF439999}"/>
              </a:ext>
            </a:extLst>
          </p:cNvPr>
          <p:cNvSpPr txBox="1"/>
          <p:nvPr/>
        </p:nvSpPr>
        <p:spPr>
          <a:xfrm>
            <a:off x="3151762" y="105111"/>
            <a:ext cx="5910092" cy="320601"/>
          </a:xfrm>
          <a:prstGeom prst="rect">
            <a:avLst/>
          </a:prstGeom>
        </p:spPr>
        <p:txBody>
          <a:bodyPr wrap="square" lIns="0" tIns="0" rIns="0" bIns="0" rtlCol="0" anchor="t">
            <a:spAutoFit/>
          </a:bodyPr>
          <a:lstStyle/>
          <a:p>
            <a:pPr algn="ctr">
              <a:lnSpc>
                <a:spcPts val="2451"/>
              </a:lnSpc>
              <a:spcBef>
                <a:spcPct val="0"/>
              </a:spcBef>
            </a:pPr>
            <a:r>
              <a:rPr lang="en-US" sz="2333" dirty="0">
                <a:solidFill>
                  <a:srgbClr val="FFFFFF"/>
                </a:solidFill>
                <a:latin typeface="Book Antiqua" panose="02040602050305030304" pitchFamily="18" charset="0"/>
                <a:ea typeface="League Spartan"/>
                <a:cs typeface="Times New Roman" panose="02020603050405020304" pitchFamily="18" charset="0"/>
                <a:sym typeface="League Spartan"/>
              </a:rPr>
              <a:t>Conclusion and Future Plan</a:t>
            </a:r>
          </a:p>
        </p:txBody>
      </p:sp>
    </p:spTree>
    <p:extLst>
      <p:ext uri="{BB962C8B-B14F-4D97-AF65-F5344CB8AC3E}">
        <p14:creationId xmlns:p14="http://schemas.microsoft.com/office/powerpoint/2010/main" val="761988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9102499"/>
              </p:ext>
            </p:extLst>
          </p:nvPr>
        </p:nvGraphicFramePr>
        <p:xfrm>
          <a:off x="122931" y="1447800"/>
          <a:ext cx="11862736" cy="3740954"/>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537422">
                  <a:extLst>
                    <a:ext uri="{9D8B030D-6E8A-4147-A177-3AD203B41FA5}">
                      <a16:colId xmlns:a16="http://schemas.microsoft.com/office/drawing/2014/main" val="4072257415"/>
                    </a:ext>
                  </a:extLst>
                </a:gridCol>
                <a:gridCol w="11325314">
                  <a:extLst>
                    <a:ext uri="{9D8B030D-6E8A-4147-A177-3AD203B41FA5}">
                      <a16:colId xmlns:a16="http://schemas.microsoft.com/office/drawing/2014/main" val="3779935592"/>
                    </a:ext>
                  </a:extLst>
                </a:gridCol>
              </a:tblGrid>
              <a:tr h="520091">
                <a:tc>
                  <a:txBody>
                    <a:bodyPr/>
                    <a:lstStyle/>
                    <a:p>
                      <a:r>
                        <a:rPr lang="en-IN" sz="1600" b="0" dirty="0">
                          <a:solidFill>
                            <a:schemeClr val="bg2">
                              <a:lumMod val="25000"/>
                            </a:schemeClr>
                          </a:solidFill>
                          <a:latin typeface="Times New Roman" panose="02020603050405020304" pitchFamily="18" charset="0"/>
                          <a:cs typeface="Times New Roman" panose="02020603050405020304" pitchFamily="18" charset="0"/>
                        </a:rPr>
                        <a:t>[1]</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b="0" dirty="0">
                          <a:solidFill>
                            <a:schemeClr val="bg2">
                              <a:lumMod val="25000"/>
                            </a:schemeClr>
                          </a:solidFill>
                          <a:latin typeface="Times New Roman" panose="02020603050405020304" pitchFamily="18" charset="0"/>
                          <a:cs typeface="Times New Roman" panose="02020603050405020304" pitchFamily="18" charset="0"/>
                        </a:rPr>
                        <a:t>M. </a:t>
                      </a:r>
                      <a:r>
                        <a:rPr lang="en-US" sz="1800" b="0" dirty="0" err="1">
                          <a:solidFill>
                            <a:schemeClr val="bg2">
                              <a:lumMod val="25000"/>
                            </a:schemeClr>
                          </a:solidFill>
                          <a:latin typeface="Times New Roman" panose="02020603050405020304" pitchFamily="18" charset="0"/>
                          <a:cs typeface="Times New Roman" panose="02020603050405020304" pitchFamily="18" charset="0"/>
                        </a:rPr>
                        <a:t>Kheraluwala</a:t>
                      </a:r>
                      <a:r>
                        <a:rPr lang="en-US" sz="1800" b="0" dirty="0">
                          <a:solidFill>
                            <a:schemeClr val="bg2">
                              <a:lumMod val="25000"/>
                            </a:schemeClr>
                          </a:solidFill>
                          <a:latin typeface="Times New Roman" panose="02020603050405020304" pitchFamily="18" charset="0"/>
                          <a:cs typeface="Times New Roman" panose="02020603050405020304" pitchFamily="18" charset="0"/>
                        </a:rPr>
                        <a:t>, R. Gascoigne, D. Divan, and E. Baumann, “Performance characterization of a high-power dual active bridge dc-to-dc converter,” IEEE Transactions on Industry Applications, vol. 28, no. 6, pp. 1294–1301, 1992.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001243864"/>
                  </a:ext>
                </a:extLst>
              </a:tr>
              <a:tr h="523981">
                <a:tc>
                  <a:txBody>
                    <a:bodyPr/>
                    <a:lstStyle/>
                    <a:p>
                      <a:r>
                        <a:rPr lang="en-IN" sz="1600" b="0" dirty="0">
                          <a:solidFill>
                            <a:schemeClr val="bg2">
                              <a:lumMod val="25000"/>
                            </a:schemeClr>
                          </a:solidFill>
                          <a:latin typeface="Times New Roman" panose="02020603050405020304" pitchFamily="18" charset="0"/>
                          <a:cs typeface="Times New Roman" panose="02020603050405020304" pitchFamily="18" charset="0"/>
                        </a:rPr>
                        <a:t>[2]</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anose="02020603050405020304" pitchFamily="18" charset="0"/>
                          <a:cs typeface="Times New Roman" panose="02020603050405020304" pitchFamily="18" charset="0"/>
                        </a:rPr>
                        <a:t>X. Chen, G. Xu, H. Han, D. Liu, Y. Sun, and M. Su, “Light-load efficiency enhancement of high-frequency dual-active-bridge converter under </a:t>
                      </a:r>
                      <a:r>
                        <a:rPr lang="en-IN" sz="1800" b="0" dirty="0" err="1">
                          <a:latin typeface="Times New Roman" panose="02020603050405020304" pitchFamily="18" charset="0"/>
                          <a:cs typeface="Times New Roman" panose="02020603050405020304" pitchFamily="18" charset="0"/>
                        </a:rPr>
                        <a:t>sps</a:t>
                      </a:r>
                      <a:r>
                        <a:rPr lang="en-IN" sz="1800" b="0" dirty="0">
                          <a:latin typeface="Times New Roman" panose="02020603050405020304" pitchFamily="18" charset="0"/>
                          <a:cs typeface="Times New Roman" panose="02020603050405020304" pitchFamily="18" charset="0"/>
                        </a:rPr>
                        <a:t> control,” IEEE Transactions on Industrial Electronics, vol. 68, no. 12, pp. 12941–12946, 2021.</a:t>
                      </a:r>
                      <a:endParaRPr kumimoji="0" lang="en-US" sz="1800" b="0" i="0" u="none" strike="noStrike" kern="1200" cap="none" spc="110" normalizeH="0" baseline="0" noProof="0" dirty="0">
                        <a:ln>
                          <a:noFill/>
                        </a:ln>
                        <a:solidFill>
                          <a:schemeClr val="bg2">
                            <a:lumMod val="25000"/>
                          </a:schemeClr>
                        </a:solidFill>
                        <a:effectLst/>
                        <a:uLnTx/>
                        <a:uFillTx/>
                        <a:latin typeface="Times New Roman" panose="02020603050405020304" pitchFamily="18" charset="0"/>
                        <a:ea typeface="Times New Roman"/>
                        <a:cs typeface="Times New Roman" panose="02020603050405020304" pitchFamily="18" charset="0"/>
                        <a:sym typeface="Times New Roman"/>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865899904"/>
                  </a:ext>
                </a:extLst>
              </a:tr>
              <a:tr h="520091">
                <a:tc>
                  <a:txBody>
                    <a:bodyPr/>
                    <a:lstStyle/>
                    <a:p>
                      <a:r>
                        <a:rPr lang="en-IN" sz="1600" b="0" dirty="0">
                          <a:solidFill>
                            <a:schemeClr val="bg2">
                              <a:lumMod val="25000"/>
                            </a:schemeClr>
                          </a:solidFill>
                          <a:latin typeface="Times New Roman" panose="02020603050405020304" pitchFamily="18" charset="0"/>
                          <a:cs typeface="Times New Roman" panose="02020603050405020304" pitchFamily="18" charset="0"/>
                        </a:rPr>
                        <a:t>[3]</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B. Zhao, Q. Song, W. Liu, and Y. Sun, “Overview of dual-active-bridge isolated bidirectional dc–dc converter for high-frequency-link power-conversion system,” IEEE Transactions on Power Electronics, vol. 29, no. 8, pp. 4091–4106, 2014.</a:t>
                      </a:r>
                      <a:endParaRPr kumimoji="0" lang="en-US" sz="1800" b="0" i="0" u="none" strike="noStrike" kern="1200" cap="none" spc="110" normalizeH="0" baseline="0" noProof="0" dirty="0">
                        <a:ln>
                          <a:noFill/>
                        </a:ln>
                        <a:solidFill>
                          <a:schemeClr val="bg2">
                            <a:lumMod val="25000"/>
                          </a:schemeClr>
                        </a:solidFill>
                        <a:effectLst/>
                        <a:uLnTx/>
                        <a:uFillTx/>
                        <a:latin typeface="Times New Roman" panose="02020603050405020304" pitchFamily="18" charset="0"/>
                        <a:ea typeface="Times New Roman"/>
                        <a:cs typeface="Times New Roman" panose="02020603050405020304" pitchFamily="18" charset="0"/>
                        <a:sym typeface="Times New Roman"/>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894382249"/>
                  </a:ext>
                </a:extLst>
              </a:tr>
              <a:tr h="742987">
                <a:tc>
                  <a:txBody>
                    <a:bodyPr/>
                    <a:lstStyle/>
                    <a:p>
                      <a:r>
                        <a:rPr lang="en-IN" sz="1600" b="0" dirty="0">
                          <a:solidFill>
                            <a:schemeClr val="bg2">
                              <a:lumMod val="25000"/>
                            </a:schemeClr>
                          </a:solidFill>
                          <a:latin typeface="Times New Roman" panose="02020603050405020304" pitchFamily="18" charset="0"/>
                          <a:cs typeface="Times New Roman" panose="02020603050405020304" pitchFamily="18" charset="0"/>
                        </a:rPr>
                        <a:t>[4]</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I. </a:t>
                      </a:r>
                      <a:r>
                        <a:rPr lang="en-IN" sz="1800" dirty="0" err="1">
                          <a:latin typeface="Times New Roman" panose="02020603050405020304" pitchFamily="18" charset="0"/>
                          <a:cs typeface="Times New Roman" panose="02020603050405020304" pitchFamily="18" charset="0"/>
                        </a:rPr>
                        <a:t>Kayaalp</a:t>
                      </a:r>
                      <a:r>
                        <a:rPr lang="en-IN" sz="1800" dirty="0">
                          <a:latin typeface="Times New Roman" panose="02020603050405020304" pitchFamily="18" charset="0"/>
                          <a:cs typeface="Times New Roman" panose="02020603050405020304" pitchFamily="18" charset="0"/>
                        </a:rPr>
                        <a:t>, T. </a:t>
                      </a:r>
                      <a:r>
                        <a:rPr lang="en-IN" sz="1800" dirty="0" err="1">
                          <a:latin typeface="Times New Roman" panose="02020603050405020304" pitchFamily="18" charset="0"/>
                          <a:cs typeface="Times New Roman" panose="02020603050405020304" pitchFamily="18" charset="0"/>
                        </a:rPr>
                        <a:t>Demirdelen</a:t>
                      </a:r>
                      <a:r>
                        <a:rPr lang="en-IN" sz="1800" dirty="0">
                          <a:latin typeface="Times New Roman" panose="02020603050405020304" pitchFamily="18" charset="0"/>
                          <a:cs typeface="Times New Roman" panose="02020603050405020304" pitchFamily="18" charset="0"/>
                        </a:rPr>
                        <a:t>, T. </a:t>
                      </a:r>
                      <a:r>
                        <a:rPr lang="en-IN" sz="1800" dirty="0" err="1">
                          <a:latin typeface="Times New Roman" panose="02020603050405020304" pitchFamily="18" charset="0"/>
                          <a:cs typeface="Times New Roman" panose="02020603050405020304" pitchFamily="18" charset="0"/>
                        </a:rPr>
                        <a:t>Koroglu</a:t>
                      </a:r>
                      <a:r>
                        <a:rPr lang="en-IN" sz="1800" dirty="0">
                          <a:latin typeface="Times New Roman" panose="02020603050405020304" pitchFamily="18" charset="0"/>
                          <a:cs typeface="Times New Roman" panose="02020603050405020304" pitchFamily="18" charset="0"/>
                        </a:rPr>
                        <a:t>, M. U. Cuma, K. C. </a:t>
                      </a:r>
                      <a:r>
                        <a:rPr lang="en-IN" sz="1800" dirty="0" err="1">
                          <a:latin typeface="Times New Roman" panose="02020603050405020304" pitchFamily="18" charset="0"/>
                          <a:cs typeface="Times New Roman" panose="02020603050405020304" pitchFamily="18" charset="0"/>
                        </a:rPr>
                        <a:t>Bayindir</a:t>
                      </a:r>
                      <a:r>
                        <a:rPr lang="en-IN" sz="1800" dirty="0">
                          <a:latin typeface="Times New Roman" panose="02020603050405020304" pitchFamily="18" charset="0"/>
                          <a:cs typeface="Times New Roman" panose="02020603050405020304" pitchFamily="18" charset="0"/>
                        </a:rPr>
                        <a:t>, and M. </a:t>
                      </a:r>
                      <a:r>
                        <a:rPr lang="en-IN" sz="1800" dirty="0" err="1">
                          <a:latin typeface="Times New Roman" panose="02020603050405020304" pitchFamily="18" charset="0"/>
                          <a:cs typeface="Times New Roman" panose="02020603050405020304" pitchFamily="18" charset="0"/>
                        </a:rPr>
                        <a:t>Tumay</a:t>
                      </a:r>
                      <a:r>
                        <a:rPr lang="en-IN" sz="1800" dirty="0">
                          <a:latin typeface="Times New Roman" panose="02020603050405020304" pitchFamily="18" charset="0"/>
                          <a:cs typeface="Times New Roman" panose="02020603050405020304" pitchFamily="18" charset="0"/>
                        </a:rPr>
                        <a:t>, “Comparison of different phase-shift control methods at isolated bidirectional dc-dc converter,” International Journal of Applied Methods in Electronics and Computers, vol. 4, pp. 68–73, Aug. 2016.</a:t>
                      </a:r>
                      <a:endParaRPr kumimoji="0" lang="en-US" sz="1800" b="0" i="0" u="none" strike="noStrike" kern="1200" cap="none" spc="110" normalizeH="0" baseline="0" noProof="0" dirty="0">
                        <a:ln>
                          <a:noFill/>
                        </a:ln>
                        <a:solidFill>
                          <a:schemeClr val="bg2">
                            <a:lumMod val="25000"/>
                          </a:schemeClr>
                        </a:solidFill>
                        <a:effectLst/>
                        <a:uLnTx/>
                        <a:uFillTx/>
                        <a:latin typeface="Times New Roman" panose="02020603050405020304" pitchFamily="18" charset="0"/>
                        <a:ea typeface="Times New Roman"/>
                        <a:cs typeface="Times New Roman" panose="02020603050405020304" pitchFamily="18" charset="0"/>
                        <a:sym typeface="Times New Roman"/>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631899198"/>
                  </a:ext>
                </a:extLst>
              </a:tr>
              <a:tr h="631994">
                <a:tc gridSpan="2">
                  <a:txBody>
                    <a:bodyPr/>
                    <a:lstStyle/>
                    <a:p>
                      <a:endParaRPr lang="en-IN" sz="1600" b="0" dirty="0">
                        <a:solidFill>
                          <a:schemeClr val="bg2">
                            <a:lumMod val="25000"/>
                          </a:schemeClr>
                        </a:solidFill>
                        <a:latin typeface="Times New Roman" panose="02020603050405020304" pitchFamily="18" charset="0"/>
                        <a:cs typeface="Times New Roman" panose="02020603050405020304" pitchFamily="18"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hMerge="1">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110" normalizeH="0" baseline="0" noProof="0" dirty="0">
                        <a:ln>
                          <a:noFill/>
                        </a:ln>
                        <a:solidFill>
                          <a:srgbClr val="000000"/>
                        </a:solidFill>
                        <a:effectLst/>
                        <a:uLnTx/>
                        <a:uFillTx/>
                        <a:latin typeface="Times New Roman"/>
                        <a:ea typeface="Times New Roman"/>
                        <a:cs typeface="Times New Roman"/>
                        <a:sym typeface="Times New Roman"/>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768251856"/>
                  </a:ext>
                </a:extLst>
              </a:tr>
            </a:tbl>
          </a:graphicData>
        </a:graphic>
      </p:graphicFrame>
      <p:sp>
        <p:nvSpPr>
          <p:cNvPr id="4" name="TextBox 14"/>
          <p:cNvSpPr txBox="1"/>
          <p:nvPr/>
        </p:nvSpPr>
        <p:spPr>
          <a:xfrm>
            <a:off x="3151762" y="105111"/>
            <a:ext cx="5910092" cy="320601"/>
          </a:xfrm>
          <a:prstGeom prst="rect">
            <a:avLst/>
          </a:prstGeom>
        </p:spPr>
        <p:txBody>
          <a:bodyPr wrap="square" lIns="0" tIns="0" rIns="0" bIns="0" rtlCol="0" anchor="t">
            <a:spAutoFit/>
          </a:bodyPr>
          <a:lstStyle/>
          <a:p>
            <a:pPr algn="ctr">
              <a:lnSpc>
                <a:spcPts val="2451"/>
              </a:lnSpc>
              <a:spcBef>
                <a:spcPct val="0"/>
              </a:spcBef>
            </a:pPr>
            <a:r>
              <a:rPr lang="en-US" sz="2333" dirty="0">
                <a:solidFill>
                  <a:srgbClr val="FFFFFF"/>
                </a:solidFill>
                <a:latin typeface="Book Antiqua" panose="02040602050305030304" pitchFamily="18" charset="0"/>
                <a:ea typeface="League Spartan"/>
                <a:cs typeface="Times New Roman" panose="02020603050405020304" pitchFamily="18" charset="0"/>
                <a:sym typeface="League Spartan"/>
              </a:rPr>
              <a:t>References</a:t>
            </a:r>
          </a:p>
        </p:txBody>
      </p:sp>
    </p:spTree>
    <p:extLst>
      <p:ext uri="{BB962C8B-B14F-4D97-AF65-F5344CB8AC3E}">
        <p14:creationId xmlns:p14="http://schemas.microsoft.com/office/powerpoint/2010/main" val="2340837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3625729" y="2432495"/>
            <a:ext cx="5832453" cy="1698947"/>
            <a:chOff x="3124986" y="3059529"/>
            <a:chExt cx="5832453" cy="1698947"/>
          </a:xfrm>
        </p:grpSpPr>
        <p:sp>
          <p:nvSpPr>
            <p:cNvPr id="6" name="TextBox 4"/>
            <p:cNvSpPr txBox="1"/>
            <p:nvPr/>
          </p:nvSpPr>
          <p:spPr>
            <a:xfrm>
              <a:off x="3124986" y="3059529"/>
              <a:ext cx="5265722" cy="884858"/>
            </a:xfrm>
            <a:prstGeom prst="rect">
              <a:avLst/>
            </a:prstGeom>
          </p:spPr>
          <p:txBody>
            <a:bodyPr wrap="square" lIns="0" tIns="0" rIns="0" bIns="0" rtlCol="0" anchor="t">
              <a:spAutoFit/>
            </a:bodyPr>
            <a:lstStyle/>
            <a:p>
              <a:pPr>
                <a:lnSpc>
                  <a:spcPts val="6914"/>
                </a:lnSpc>
                <a:spcBef>
                  <a:spcPct val="0"/>
                </a:spcBef>
              </a:pPr>
              <a:r>
                <a:rPr lang="en-US" sz="3500" b="1" dirty="0">
                  <a:solidFill>
                    <a:srgbClr val="000000"/>
                  </a:solidFill>
                  <a:latin typeface="Lato Bold"/>
                  <a:ea typeface="Lato Bold"/>
                  <a:cs typeface="Lato Bold"/>
                  <a:sym typeface="Lato Bold"/>
                </a:rPr>
                <a:t>END OF PRESENTATION</a:t>
              </a:r>
            </a:p>
          </p:txBody>
        </p:sp>
        <p:sp>
          <p:nvSpPr>
            <p:cNvPr id="7" name="TextBox 5"/>
            <p:cNvSpPr txBox="1"/>
            <p:nvPr/>
          </p:nvSpPr>
          <p:spPr>
            <a:xfrm>
              <a:off x="3505986" y="3636630"/>
              <a:ext cx="5451453" cy="1121846"/>
            </a:xfrm>
            <a:prstGeom prst="rect">
              <a:avLst/>
            </a:prstGeom>
          </p:spPr>
          <p:txBody>
            <a:bodyPr lIns="0" tIns="0" rIns="0" bIns="0" rtlCol="0" anchor="t">
              <a:spAutoFit/>
            </a:bodyPr>
            <a:lstStyle/>
            <a:p>
              <a:pPr>
                <a:lnSpc>
                  <a:spcPts val="9218"/>
                </a:lnSpc>
                <a:spcBef>
                  <a:spcPct val="0"/>
                </a:spcBef>
              </a:pPr>
              <a:r>
                <a:rPr lang="en-US" sz="7000" dirty="0">
                  <a:solidFill>
                    <a:srgbClr val="00B0F0"/>
                  </a:solidFill>
                  <a:latin typeface="League Spartan"/>
                  <a:ea typeface="League Spartan"/>
                  <a:cs typeface="League Spartan"/>
                  <a:sym typeface="League Spartan"/>
                </a:rPr>
                <a:t>THANK YOU</a:t>
              </a:r>
            </a:p>
          </p:txBody>
        </p:sp>
      </p:grpSp>
    </p:spTree>
    <p:extLst>
      <p:ext uri="{BB962C8B-B14F-4D97-AF65-F5344CB8AC3E}">
        <p14:creationId xmlns:p14="http://schemas.microsoft.com/office/powerpoint/2010/main" val="29086605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1818</TotalTime>
  <Words>2235</Words>
  <Application>Microsoft Office PowerPoint</Application>
  <PresentationFormat>Widescreen</PresentationFormat>
  <Paragraphs>204</Paragraphs>
  <Slides>15</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Book Antiqua</vt:lpstr>
      <vt:lpstr>Calibri</vt:lpstr>
      <vt:lpstr>Calibri Light</vt:lpstr>
      <vt:lpstr>Cambria Math</vt:lpstr>
      <vt:lpstr>Lato Bold</vt:lpstr>
      <vt:lpstr>League Spartan</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Medipally Saivivek</cp:lastModifiedBy>
  <cp:revision>73</cp:revision>
  <cp:lastPrinted>2025-09-24T03:47:12Z</cp:lastPrinted>
  <dcterms:created xsi:type="dcterms:W3CDTF">2025-09-23T10:09:43Z</dcterms:created>
  <dcterms:modified xsi:type="dcterms:W3CDTF">2025-10-14T02:35:26Z</dcterms:modified>
</cp:coreProperties>
</file>